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Poppins Bold" charset="1" panose="00000800000000000000"/>
      <p:regular r:id="rId22"/>
    </p:embeddedFont>
    <p:embeddedFont>
      <p:font typeface="Poppins" charset="1" panose="00000500000000000000"/>
      <p:regular r:id="rId23"/>
    </p:embeddedFont>
    <p:embeddedFont>
      <p:font typeface="Poppins Italics" charset="1" panose="00000500000000000000"/>
      <p:regular r:id="rId27"/>
    </p:embeddedFont>
    <p:embeddedFont>
      <p:font typeface="TT Chocolates" charset="1" panose="02000503020000020003"/>
      <p:regular r:id="rId28"/>
    </p:embeddedFont>
    <p:embeddedFont>
      <p:font typeface="Open Sans" charset="1" panose="020B0606030504020204"/>
      <p:regular r:id="rId29"/>
    </p:embeddedFont>
    <p:embeddedFont>
      <p:font typeface="TT Chocolates Bold Italics" charset="1" panose="02000803030000090003"/>
      <p:regular r:id="rId30"/>
    </p:embeddedFont>
    <p:embeddedFont>
      <p:font typeface="TT Chocolates Bold" charset="1" panose="02000803020000020003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Masters/notesMaster1.xml" Type="http://schemas.openxmlformats.org/officeDocument/2006/relationships/notesMaster"/><Relationship Id="rId25" Target="theme/theme2.xml" Type="http://schemas.openxmlformats.org/officeDocument/2006/relationships/theme"/><Relationship Id="rId26" Target="notesSlides/notesSlide1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jpeg" Type="http://schemas.openxmlformats.org/officeDocument/2006/relationships/image"/><Relationship Id="rId5" Target="../media/image1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svg" Type="http://schemas.openxmlformats.org/officeDocument/2006/relationships/image"/><Relationship Id="rId11" Target="../media/image41.png" Type="http://schemas.openxmlformats.org/officeDocument/2006/relationships/image"/><Relationship Id="rId12" Target="../media/image42.svg" Type="http://schemas.openxmlformats.org/officeDocument/2006/relationships/image"/><Relationship Id="rId13" Target="../media/image43.png" Type="http://schemas.openxmlformats.org/officeDocument/2006/relationships/image"/><Relationship Id="rId14" Target="../media/image44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12" Target="../media/image51.png" Type="http://schemas.openxmlformats.org/officeDocument/2006/relationships/image"/><Relationship Id="rId13" Target="../media/image52.png" Type="http://schemas.openxmlformats.org/officeDocument/2006/relationships/image"/><Relationship Id="rId14" Target="../media/image53.svg" Type="http://schemas.openxmlformats.org/officeDocument/2006/relationships/image"/><Relationship Id="rId15" Target="../media/image54.png" Type="http://schemas.openxmlformats.org/officeDocument/2006/relationships/image"/><Relationship Id="rId16" Target="../media/image55.svg" Type="http://schemas.openxmlformats.org/officeDocument/2006/relationships/image"/><Relationship Id="rId17" Target="../media/image56.png" Type="http://schemas.openxmlformats.org/officeDocument/2006/relationships/image"/><Relationship Id="rId18" Target="../media/image57.svg" Type="http://schemas.openxmlformats.org/officeDocument/2006/relationships/image"/><Relationship Id="rId19" Target="../media/image58.png" Type="http://schemas.openxmlformats.org/officeDocument/2006/relationships/image"/><Relationship Id="rId2" Target="../media/image33.png" Type="http://schemas.openxmlformats.org/officeDocument/2006/relationships/image"/><Relationship Id="rId20" Target="../media/image59.svg" Type="http://schemas.openxmlformats.org/officeDocument/2006/relationships/image"/><Relationship Id="rId3" Target="../media/image34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47.sv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media/image61.svg" Type="http://schemas.openxmlformats.org/officeDocument/2006/relationships/image"/><Relationship Id="rId4" Target="../media/image62.png" Type="http://schemas.openxmlformats.org/officeDocument/2006/relationships/image"/><Relationship Id="rId5" Target="../media/image63.svg" Type="http://schemas.openxmlformats.org/officeDocument/2006/relationships/image"/><Relationship Id="rId6" Target="../media/image64.png" Type="http://schemas.openxmlformats.org/officeDocument/2006/relationships/image"/><Relationship Id="rId7" Target="../media/image65.svg" Type="http://schemas.openxmlformats.org/officeDocument/2006/relationships/image"/><Relationship Id="rId8" Target="../media/image66.png" Type="http://schemas.openxmlformats.org/officeDocument/2006/relationships/image"/><Relationship Id="rId9" Target="../media/image6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Relationship Id="rId3" Target="../media/image69.svg" Type="http://schemas.openxmlformats.org/officeDocument/2006/relationships/image"/><Relationship Id="rId4" Target="../media/image70.png" Type="http://schemas.openxmlformats.org/officeDocument/2006/relationships/image"/><Relationship Id="rId5" Target="../embeddings/oleObject1.bin" Type="http://schemas.openxmlformats.org/officeDocument/2006/relationships/oleObject"/><Relationship Id="rId6" Target="../media/image71.png" Type="http://schemas.openxmlformats.org/officeDocument/2006/relationships/image"/><Relationship Id="rId7" Target="../embeddings/oleObject2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8.svg" Type="http://schemas.openxmlformats.org/officeDocument/2006/relationships/image"/><Relationship Id="rId2" Target="../media/image68.png" Type="http://schemas.openxmlformats.org/officeDocument/2006/relationships/image"/><Relationship Id="rId3" Target="../media/image69.svg" Type="http://schemas.openxmlformats.org/officeDocument/2006/relationships/image"/><Relationship Id="rId4" Target="../media/image72.png" Type="http://schemas.openxmlformats.org/officeDocument/2006/relationships/image"/><Relationship Id="rId5" Target="../media/image73.png" Type="http://schemas.openxmlformats.org/officeDocument/2006/relationships/image"/><Relationship Id="rId6" Target="../media/image74.png" Type="http://schemas.openxmlformats.org/officeDocument/2006/relationships/image"/><Relationship Id="rId7" Target="../media/image75.svg" Type="http://schemas.openxmlformats.org/officeDocument/2006/relationships/image"/><Relationship Id="rId8" Target="../media/image76.png" Type="http://schemas.openxmlformats.org/officeDocument/2006/relationships/image"/><Relationship Id="rId9" Target="../media/image7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79.png" Type="http://schemas.openxmlformats.org/officeDocument/2006/relationships/image"/><Relationship Id="rId7" Target="../media/image8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1.jpeg" Type="http://schemas.openxmlformats.org/officeDocument/2006/relationships/image"/><Relationship Id="rId3" Target="../media/VAG6CfZdwMU.mp4" Type="http://schemas.openxmlformats.org/officeDocument/2006/relationships/video"/><Relationship Id="rId4" Target="../media/VAG6CfZdwMU.mp4" Type="http://schemas.microsoft.com/office/2007/relationships/media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82.png" Type="http://schemas.openxmlformats.org/officeDocument/2006/relationships/image"/><Relationship Id="rId5" Target="../media/image83.svg" Type="http://schemas.openxmlformats.org/officeDocument/2006/relationships/image"/><Relationship Id="rId6" Target="../media/image84.png" Type="http://schemas.openxmlformats.org/officeDocument/2006/relationships/image"/><Relationship Id="rId7" Target="../media/image85.svg" Type="http://schemas.openxmlformats.org/officeDocument/2006/relationships/image"/><Relationship Id="rId8" Target="../media/image86.png" Type="http://schemas.openxmlformats.org/officeDocument/2006/relationships/image"/><Relationship Id="rId9" Target="../media/image87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Relationship Id="rId3" Target="../media/image6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195957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517340" y="3876675"/>
            <a:ext cx="11253320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b="true" sz="1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NEUROVOICE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155132" y="5913479"/>
            <a:ext cx="9977737" cy="47625"/>
            <a:chOff x="0" y="0"/>
            <a:chExt cx="2627881" cy="125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27881" cy="12543"/>
            </a:xfrm>
            <a:custGeom>
              <a:avLst/>
              <a:gdLst/>
              <a:ahLst/>
              <a:cxnLst/>
              <a:rect r="r" b="b" t="t" l="l"/>
              <a:pathLst>
                <a:path h="12543" w="2627881">
                  <a:moveTo>
                    <a:pt x="0" y="0"/>
                  </a:moveTo>
                  <a:lnTo>
                    <a:pt x="2627881" y="0"/>
                  </a:lnTo>
                  <a:lnTo>
                    <a:pt x="262788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627881" cy="69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4159903" cy="909614"/>
          </a:xfrm>
          <a:custGeom>
            <a:avLst/>
            <a:gdLst/>
            <a:ahLst/>
            <a:cxnLst/>
            <a:rect r="r" b="b" t="t" l="l"/>
            <a:pathLst>
              <a:path h="909614" w="4159903">
                <a:moveTo>
                  <a:pt x="0" y="0"/>
                </a:moveTo>
                <a:lnTo>
                  <a:pt x="4159903" y="0"/>
                </a:lnTo>
                <a:lnTo>
                  <a:pt x="4159903" y="909614"/>
                </a:lnTo>
                <a:lnTo>
                  <a:pt x="0" y="909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387" r="0" b="-137845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869019" y="6018341"/>
            <a:ext cx="6549961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CAPSTONE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499848" y="2243347"/>
            <a:ext cx="9313510" cy="1868626"/>
            <a:chOff x="0" y="0"/>
            <a:chExt cx="12418013" cy="2491501"/>
          </a:xfrm>
        </p:grpSpPr>
        <p:sp>
          <p:nvSpPr>
            <p:cNvPr name="Freeform 12" id="12"/>
            <p:cNvSpPr/>
            <p:nvPr/>
          </p:nvSpPr>
          <p:spPr>
            <a:xfrm flipH="false" flipV="false" rot="-91777">
              <a:off x="25776" y="474226"/>
              <a:ext cx="1968281" cy="1957544"/>
            </a:xfrm>
            <a:custGeom>
              <a:avLst/>
              <a:gdLst/>
              <a:ahLst/>
              <a:cxnLst/>
              <a:rect r="r" b="b" t="t" l="l"/>
              <a:pathLst>
                <a:path h="1957544" w="1968281">
                  <a:moveTo>
                    <a:pt x="0" y="0"/>
                  </a:moveTo>
                  <a:lnTo>
                    <a:pt x="1968281" y="0"/>
                  </a:lnTo>
                  <a:lnTo>
                    <a:pt x="1968281" y="1957545"/>
                  </a:lnTo>
                  <a:lnTo>
                    <a:pt x="0" y="195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463880">
              <a:off x="5209187" y="123497"/>
              <a:ext cx="1968281" cy="1957544"/>
            </a:xfrm>
            <a:custGeom>
              <a:avLst/>
              <a:gdLst/>
              <a:ahLst/>
              <a:cxnLst/>
              <a:rect r="r" b="b" t="t" l="l"/>
              <a:pathLst>
                <a:path h="1957544" w="1968281">
                  <a:moveTo>
                    <a:pt x="0" y="0"/>
                  </a:moveTo>
                  <a:lnTo>
                    <a:pt x="1968281" y="0"/>
                  </a:lnTo>
                  <a:lnTo>
                    <a:pt x="1968281" y="1957545"/>
                  </a:lnTo>
                  <a:lnTo>
                    <a:pt x="0" y="195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161681">
              <a:off x="7799768" y="123497"/>
              <a:ext cx="1968281" cy="1957544"/>
            </a:xfrm>
            <a:custGeom>
              <a:avLst/>
              <a:gdLst/>
              <a:ahLst/>
              <a:cxnLst/>
              <a:rect r="r" b="b" t="t" l="l"/>
              <a:pathLst>
                <a:path h="1957544" w="1968281">
                  <a:moveTo>
                    <a:pt x="0" y="0"/>
                  </a:moveTo>
                  <a:lnTo>
                    <a:pt x="1968280" y="0"/>
                  </a:lnTo>
                  <a:lnTo>
                    <a:pt x="1968280" y="1957545"/>
                  </a:lnTo>
                  <a:lnTo>
                    <a:pt x="0" y="195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215505">
              <a:off x="10390348" y="474226"/>
              <a:ext cx="1968281" cy="1957544"/>
            </a:xfrm>
            <a:custGeom>
              <a:avLst/>
              <a:gdLst/>
              <a:ahLst/>
              <a:cxnLst/>
              <a:rect r="r" b="b" t="t" l="l"/>
              <a:pathLst>
                <a:path h="1957544" w="1968281">
                  <a:moveTo>
                    <a:pt x="0" y="0"/>
                  </a:moveTo>
                  <a:lnTo>
                    <a:pt x="1968281" y="0"/>
                  </a:lnTo>
                  <a:lnTo>
                    <a:pt x="1968281" y="1957545"/>
                  </a:lnTo>
                  <a:lnTo>
                    <a:pt x="0" y="195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618607" y="123497"/>
              <a:ext cx="1968281" cy="1957544"/>
            </a:xfrm>
            <a:custGeom>
              <a:avLst/>
              <a:gdLst/>
              <a:ahLst/>
              <a:cxnLst/>
              <a:rect r="r" b="b" t="t" l="l"/>
              <a:pathLst>
                <a:path h="1957544" w="1968281">
                  <a:moveTo>
                    <a:pt x="0" y="0"/>
                  </a:moveTo>
                  <a:lnTo>
                    <a:pt x="1968280" y="0"/>
                  </a:lnTo>
                  <a:lnTo>
                    <a:pt x="1968280" y="1957545"/>
                  </a:lnTo>
                  <a:lnTo>
                    <a:pt x="0" y="195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77060"/>
            <a:ext cx="3086100" cy="85998"/>
            <a:chOff x="0" y="0"/>
            <a:chExt cx="812800" cy="22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2650"/>
            </a:xfrm>
            <a:custGeom>
              <a:avLst/>
              <a:gdLst/>
              <a:ahLst/>
              <a:cxnLst/>
              <a:rect r="r" b="b" t="t" l="l"/>
              <a:pathLst>
                <a:path h="2265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297340" y="6172200"/>
            <a:ext cx="3019235" cy="4114800"/>
          </a:xfrm>
          <a:custGeom>
            <a:avLst/>
            <a:gdLst/>
            <a:ahLst/>
            <a:cxnLst/>
            <a:rect r="r" b="b" t="t" l="l"/>
            <a:pathLst>
              <a:path h="4114800" w="3019235">
                <a:moveTo>
                  <a:pt x="0" y="0"/>
                </a:moveTo>
                <a:lnTo>
                  <a:pt x="3019235" y="0"/>
                </a:lnTo>
                <a:lnTo>
                  <a:pt x="30192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18598" y="2304069"/>
            <a:ext cx="3439230" cy="3439230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55320" y="655320"/>
              <a:ext cx="5039360" cy="5039360"/>
            </a:xfrm>
            <a:custGeom>
              <a:avLst/>
              <a:gdLst/>
              <a:ahLst/>
              <a:cxnLst/>
              <a:rect r="r" b="b" t="t" l="l"/>
              <a:pathLst>
                <a:path h="5039360" w="5039360">
                  <a:moveTo>
                    <a:pt x="2519680" y="0"/>
                  </a:moveTo>
                  <a:cubicBezTo>
                    <a:pt x="1127760" y="0"/>
                    <a:pt x="0" y="1127760"/>
                    <a:pt x="0" y="2519680"/>
                  </a:cubicBezTo>
                  <a:cubicBezTo>
                    <a:pt x="0" y="3911600"/>
                    <a:pt x="1127760" y="5039360"/>
                    <a:pt x="2519680" y="5039360"/>
                  </a:cubicBezTo>
                  <a:cubicBezTo>
                    <a:pt x="3911600" y="5039360"/>
                    <a:pt x="5039360" y="3911600"/>
                    <a:pt x="5039360" y="2519680"/>
                  </a:cubicBezTo>
                  <a:cubicBezTo>
                    <a:pt x="5039360" y="1127760"/>
                    <a:pt x="3911600" y="0"/>
                    <a:pt x="251968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6666" r="0" b="-16666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3670" y="0"/>
                    <a:pt x="0" y="1424940"/>
                    <a:pt x="0" y="3175000"/>
                  </a:cubicBezTo>
                  <a:cubicBezTo>
                    <a:pt x="0" y="4925060"/>
                    <a:pt x="1423670" y="6350000"/>
                    <a:pt x="3175000" y="6350000"/>
                  </a:cubicBezTo>
                  <a:cubicBezTo>
                    <a:pt x="4925060" y="6350000"/>
                    <a:pt x="6350000" y="4926330"/>
                    <a:pt x="6350000" y="3175000"/>
                  </a:cubicBezTo>
                  <a:cubicBezTo>
                    <a:pt x="6350000" y="1424940"/>
                    <a:pt x="4926330" y="0"/>
                    <a:pt x="3175000" y="0"/>
                  </a:cubicBezTo>
                  <a:close/>
                  <a:moveTo>
                    <a:pt x="3175000" y="5833110"/>
                  </a:moveTo>
                  <a:cubicBezTo>
                    <a:pt x="1709420" y="5833110"/>
                    <a:pt x="516890" y="4640580"/>
                    <a:pt x="516890" y="3175000"/>
                  </a:cubicBezTo>
                  <a:cubicBezTo>
                    <a:pt x="516890" y="1709420"/>
                    <a:pt x="1709420" y="516890"/>
                    <a:pt x="3175000" y="516890"/>
                  </a:cubicBezTo>
                  <a:cubicBezTo>
                    <a:pt x="4640580" y="516890"/>
                    <a:pt x="5833110" y="1709420"/>
                    <a:pt x="5833110" y="3175000"/>
                  </a:cubicBezTo>
                  <a:cubicBezTo>
                    <a:pt x="5833110" y="4640580"/>
                    <a:pt x="4640580" y="5833110"/>
                    <a:pt x="3175000" y="5833110"/>
                  </a:cubicBezTo>
                  <a:close/>
                </a:path>
              </a:pathLst>
            </a:custGeom>
            <a:solidFill>
              <a:srgbClr val="ACA18F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633211" y="6437165"/>
            <a:ext cx="3439230" cy="3439230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55320" y="655320"/>
              <a:ext cx="5039360" cy="5039360"/>
            </a:xfrm>
            <a:custGeom>
              <a:avLst/>
              <a:gdLst/>
              <a:ahLst/>
              <a:cxnLst/>
              <a:rect r="r" b="b" t="t" l="l"/>
              <a:pathLst>
                <a:path h="5039360" w="5039360">
                  <a:moveTo>
                    <a:pt x="2519680" y="0"/>
                  </a:moveTo>
                  <a:cubicBezTo>
                    <a:pt x="1127760" y="0"/>
                    <a:pt x="0" y="1127760"/>
                    <a:pt x="0" y="2519680"/>
                  </a:cubicBezTo>
                  <a:cubicBezTo>
                    <a:pt x="0" y="3911600"/>
                    <a:pt x="1127760" y="5039360"/>
                    <a:pt x="2519680" y="5039360"/>
                  </a:cubicBezTo>
                  <a:cubicBezTo>
                    <a:pt x="3911600" y="5039360"/>
                    <a:pt x="5039360" y="3911600"/>
                    <a:pt x="5039360" y="2519680"/>
                  </a:cubicBezTo>
                  <a:cubicBezTo>
                    <a:pt x="5039360" y="1127760"/>
                    <a:pt x="3911600" y="0"/>
                    <a:pt x="251968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6777" r="0" b="-16777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3670" y="0"/>
                    <a:pt x="0" y="1424940"/>
                    <a:pt x="0" y="3175000"/>
                  </a:cubicBezTo>
                  <a:cubicBezTo>
                    <a:pt x="0" y="4925060"/>
                    <a:pt x="1423670" y="6350000"/>
                    <a:pt x="3175000" y="6350000"/>
                  </a:cubicBezTo>
                  <a:cubicBezTo>
                    <a:pt x="4925060" y="6350000"/>
                    <a:pt x="6350000" y="4926330"/>
                    <a:pt x="6350000" y="3175000"/>
                  </a:cubicBezTo>
                  <a:cubicBezTo>
                    <a:pt x="6350000" y="1424940"/>
                    <a:pt x="4926330" y="0"/>
                    <a:pt x="3175000" y="0"/>
                  </a:cubicBezTo>
                  <a:close/>
                  <a:moveTo>
                    <a:pt x="3175000" y="5833110"/>
                  </a:moveTo>
                  <a:cubicBezTo>
                    <a:pt x="1709420" y="5833110"/>
                    <a:pt x="516890" y="4640580"/>
                    <a:pt x="516890" y="3175000"/>
                  </a:cubicBezTo>
                  <a:cubicBezTo>
                    <a:pt x="516890" y="1709420"/>
                    <a:pt x="1709420" y="516890"/>
                    <a:pt x="3175000" y="516890"/>
                  </a:cubicBezTo>
                  <a:cubicBezTo>
                    <a:pt x="4640580" y="516890"/>
                    <a:pt x="5833110" y="1709420"/>
                    <a:pt x="5833110" y="3175000"/>
                  </a:cubicBezTo>
                  <a:cubicBezTo>
                    <a:pt x="5833110" y="4640580"/>
                    <a:pt x="4640580" y="5833110"/>
                    <a:pt x="3175000" y="5833110"/>
                  </a:cubicBezTo>
                  <a:close/>
                </a:path>
              </a:pathLst>
            </a:custGeom>
            <a:solidFill>
              <a:srgbClr val="ACA18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866775"/>
            <a:ext cx="4648252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INTEGRANTES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76952" y="2552371"/>
            <a:ext cx="9926469" cy="2860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ESTEBAN FIERRO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argo: Líder / Desarrollador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Funciones: </a:t>
            </a:r>
          </a:p>
          <a:p>
            <a:pPr algn="l" marL="1122675" indent="-374225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Coordinar el proyecto</a:t>
            </a:r>
          </a:p>
          <a:p>
            <a:pPr algn="l" marL="1122675" indent="-374225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Priorizar tareas y objetivos</a:t>
            </a:r>
          </a:p>
          <a:p>
            <a:pPr algn="l" marL="1122675" indent="-374225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Mantener documentación técnica básica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76952" y="6455297"/>
            <a:ext cx="9591813" cy="3317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FRANCISCA HERRERA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argo: Coordinadora / Desarrolladora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Funciones:  </a:t>
            </a:r>
          </a:p>
          <a:p>
            <a:pPr algn="l" marL="1122675" indent="-374225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Facilitar el trabajo del equipo</a:t>
            </a:r>
          </a:p>
          <a:p>
            <a:pPr algn="l" marL="1122675" indent="-374225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Gestionar obstáculos</a:t>
            </a:r>
          </a:p>
          <a:p>
            <a:pPr algn="l" marL="1122675" indent="-374225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Apoyar al equipo</a:t>
            </a:r>
          </a:p>
          <a:p>
            <a:pPr algn="l" marL="1122675" indent="-374225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Desarrollar funcionalidades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947543" y="448726"/>
            <a:ext cx="331175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NeuroVoice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66775"/>
            <a:ext cx="4648252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CONTEXTO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304348" y="9519861"/>
            <a:ext cx="331175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NeuroVoice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17356" y="2285487"/>
            <a:ext cx="15453287" cy="225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Las tarjetas de comunicación son representaciones visuales utilizadas para apoyar a personas con dificultades para expresarse verbalmente. Permiten transmitir mensajes mediante imágenes que representan objetos, actividades o ideas, facilitando la interacción y la comunicación diaria.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2546606" y="9075714"/>
            <a:ext cx="5899432" cy="2823977"/>
            <a:chOff x="0" y="0"/>
            <a:chExt cx="1553760" cy="7437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3760" cy="743763"/>
            </a:xfrm>
            <a:custGeom>
              <a:avLst/>
              <a:gdLst/>
              <a:ahLst/>
              <a:cxnLst/>
              <a:rect r="r" b="b" t="t" l="l"/>
              <a:pathLst>
                <a:path h="743763" w="1553760">
                  <a:moveTo>
                    <a:pt x="0" y="0"/>
                  </a:moveTo>
                  <a:lnTo>
                    <a:pt x="1553760" y="0"/>
                  </a:lnTo>
                  <a:lnTo>
                    <a:pt x="1553760" y="743763"/>
                  </a:lnTo>
                  <a:lnTo>
                    <a:pt x="0" y="743763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53760" cy="781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338284" y="-1795277"/>
            <a:ext cx="5899432" cy="2823977"/>
            <a:chOff x="0" y="0"/>
            <a:chExt cx="1553760" cy="7437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3760" cy="743763"/>
            </a:xfrm>
            <a:custGeom>
              <a:avLst/>
              <a:gdLst/>
              <a:ahLst/>
              <a:cxnLst/>
              <a:rect r="r" b="b" t="t" l="l"/>
              <a:pathLst>
                <a:path h="743763" w="1553760">
                  <a:moveTo>
                    <a:pt x="0" y="0"/>
                  </a:moveTo>
                  <a:lnTo>
                    <a:pt x="1553760" y="0"/>
                  </a:lnTo>
                  <a:lnTo>
                    <a:pt x="1553760" y="743763"/>
                  </a:lnTo>
                  <a:lnTo>
                    <a:pt x="0" y="743763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53760" cy="781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10377" y="4880559"/>
            <a:ext cx="11067246" cy="4114800"/>
            <a:chOff x="0" y="0"/>
            <a:chExt cx="14756328" cy="54864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4756328" cy="5486400"/>
              <a:chOff x="0" y="0"/>
              <a:chExt cx="5239331" cy="194798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39331" cy="1947982"/>
              </a:xfrm>
              <a:custGeom>
                <a:avLst/>
                <a:gdLst/>
                <a:ahLst/>
                <a:cxnLst/>
                <a:rect r="r" b="b" t="t" l="l"/>
                <a:pathLst>
                  <a:path h="1947982" w="5239331">
                    <a:moveTo>
                      <a:pt x="0" y="0"/>
                    </a:moveTo>
                    <a:lnTo>
                      <a:pt x="5239331" y="0"/>
                    </a:lnTo>
                    <a:lnTo>
                      <a:pt x="5239331" y="1947982"/>
                    </a:lnTo>
                    <a:lnTo>
                      <a:pt x="0" y="194798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85725" cap="sq">
                <a:solidFill>
                  <a:srgbClr val="ACA18F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5239331" cy="1995607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1588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123129" y="409100"/>
              <a:ext cx="14510071" cy="4668199"/>
            </a:xfrm>
            <a:custGeom>
              <a:avLst/>
              <a:gdLst/>
              <a:ahLst/>
              <a:cxnLst/>
              <a:rect r="r" b="b" t="t" l="l"/>
              <a:pathLst>
                <a:path h="4668199" w="14510071">
                  <a:moveTo>
                    <a:pt x="0" y="0"/>
                  </a:moveTo>
                  <a:lnTo>
                    <a:pt x="14510071" y="0"/>
                  </a:lnTo>
                  <a:lnTo>
                    <a:pt x="14510071" y="4668200"/>
                  </a:lnTo>
                  <a:lnTo>
                    <a:pt x="0" y="466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692" t="-13181" r="-3479" b="-19225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28700" y="1847058"/>
            <a:ext cx="3085413" cy="181427"/>
            <a:chOff x="0" y="0"/>
            <a:chExt cx="812619" cy="4778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619" cy="47783"/>
            </a:xfrm>
            <a:custGeom>
              <a:avLst/>
              <a:gdLst/>
              <a:ahLst/>
              <a:cxnLst/>
              <a:rect r="r" b="b" t="t" l="l"/>
              <a:pathLst>
                <a:path h="47783" w="812619">
                  <a:moveTo>
                    <a:pt x="0" y="0"/>
                  </a:moveTo>
                  <a:lnTo>
                    <a:pt x="812619" y="0"/>
                  </a:lnTo>
                  <a:lnTo>
                    <a:pt x="812619" y="47783"/>
                  </a:lnTo>
                  <a:lnTo>
                    <a:pt x="0" y="47783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12619" cy="85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-10800000">
            <a:off x="-92261" y="-553242"/>
            <a:ext cx="1509617" cy="2057400"/>
          </a:xfrm>
          <a:custGeom>
            <a:avLst/>
            <a:gdLst/>
            <a:ahLst/>
            <a:cxnLst/>
            <a:rect r="r" b="b" t="t" l="l"/>
            <a:pathLst>
              <a:path h="2057400" w="1509617">
                <a:moveTo>
                  <a:pt x="0" y="0"/>
                </a:moveTo>
                <a:lnTo>
                  <a:pt x="1509617" y="0"/>
                </a:lnTo>
                <a:lnTo>
                  <a:pt x="15096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2402" y="2660582"/>
            <a:ext cx="243225" cy="261738"/>
            <a:chOff x="0" y="0"/>
            <a:chExt cx="64059" cy="689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059" cy="68935"/>
            </a:xfrm>
            <a:custGeom>
              <a:avLst/>
              <a:gdLst/>
              <a:ahLst/>
              <a:cxnLst/>
              <a:rect r="r" b="b" t="t" l="l"/>
              <a:pathLst>
                <a:path h="68935" w="64059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4059" cy="116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22402" y="5768494"/>
            <a:ext cx="243225" cy="261738"/>
            <a:chOff x="0" y="0"/>
            <a:chExt cx="64059" cy="689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059" cy="68935"/>
            </a:xfrm>
            <a:custGeom>
              <a:avLst/>
              <a:gdLst/>
              <a:ahLst/>
              <a:cxnLst/>
              <a:rect r="r" b="b" t="t" l="l"/>
              <a:pathLst>
                <a:path h="68935" w="64059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4059" cy="116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5400000">
            <a:off x="9730245" y="135345"/>
            <a:ext cx="492984" cy="2279693"/>
          </a:xfrm>
          <a:custGeom>
            <a:avLst/>
            <a:gdLst/>
            <a:ahLst/>
            <a:cxnLst/>
            <a:rect r="r" b="b" t="t" l="l"/>
            <a:pathLst>
              <a:path h="2279693" w="492984">
                <a:moveTo>
                  <a:pt x="0" y="0"/>
                </a:moveTo>
                <a:lnTo>
                  <a:pt x="492984" y="0"/>
                </a:lnTo>
                <a:lnTo>
                  <a:pt x="492984" y="2279693"/>
                </a:lnTo>
                <a:lnTo>
                  <a:pt x="0" y="22796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402333" y="581494"/>
            <a:ext cx="4818719" cy="4722344"/>
          </a:xfrm>
          <a:custGeom>
            <a:avLst/>
            <a:gdLst/>
            <a:ahLst/>
            <a:cxnLst/>
            <a:rect r="r" b="b" t="t" l="l"/>
            <a:pathLst>
              <a:path h="4722344" w="4818719">
                <a:moveTo>
                  <a:pt x="0" y="0"/>
                </a:moveTo>
                <a:lnTo>
                  <a:pt x="4818719" y="0"/>
                </a:lnTo>
                <a:lnTo>
                  <a:pt x="4818719" y="4722345"/>
                </a:lnTo>
                <a:lnTo>
                  <a:pt x="0" y="47223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1410292">
            <a:off x="14713605" y="4458892"/>
            <a:ext cx="2282476" cy="2821037"/>
          </a:xfrm>
          <a:custGeom>
            <a:avLst/>
            <a:gdLst/>
            <a:ahLst/>
            <a:cxnLst/>
            <a:rect r="r" b="b" t="t" l="l"/>
            <a:pathLst>
              <a:path h="2821037" w="2282476">
                <a:moveTo>
                  <a:pt x="2282475" y="0"/>
                </a:moveTo>
                <a:lnTo>
                  <a:pt x="0" y="0"/>
                </a:lnTo>
                <a:lnTo>
                  <a:pt x="0" y="2821037"/>
                </a:lnTo>
                <a:lnTo>
                  <a:pt x="2282475" y="2821037"/>
                </a:lnTo>
                <a:lnTo>
                  <a:pt x="2282475" y="0"/>
                </a:lnTo>
                <a:close/>
              </a:path>
            </a:pathLst>
          </a:custGeom>
          <a:blipFill>
            <a:blip r:embed="rId6">
              <a:alphaModFix amt="4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843171" y="5944257"/>
            <a:ext cx="1825955" cy="3347585"/>
          </a:xfrm>
          <a:custGeom>
            <a:avLst/>
            <a:gdLst/>
            <a:ahLst/>
            <a:cxnLst/>
            <a:rect r="r" b="b" t="t" l="l"/>
            <a:pathLst>
              <a:path h="3347585" w="1825955">
                <a:moveTo>
                  <a:pt x="0" y="0"/>
                </a:moveTo>
                <a:lnTo>
                  <a:pt x="1825955" y="0"/>
                </a:lnTo>
                <a:lnTo>
                  <a:pt x="1825955" y="3347585"/>
                </a:lnTo>
                <a:lnTo>
                  <a:pt x="0" y="33475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76336">
            <a:off x="12778218" y="6266353"/>
            <a:ext cx="1955862" cy="2460566"/>
          </a:xfrm>
          <a:custGeom>
            <a:avLst/>
            <a:gdLst/>
            <a:ahLst/>
            <a:cxnLst/>
            <a:rect r="r" b="b" t="t" l="l"/>
            <a:pathLst>
              <a:path h="2460566" w="1955862">
                <a:moveTo>
                  <a:pt x="0" y="268214"/>
                </a:moveTo>
                <a:lnTo>
                  <a:pt x="1584832" y="0"/>
                </a:lnTo>
                <a:lnTo>
                  <a:pt x="1955862" y="2192352"/>
                </a:lnTo>
                <a:lnTo>
                  <a:pt x="371029" y="2460566"/>
                </a:lnTo>
                <a:lnTo>
                  <a:pt x="0" y="268214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3559" t="-72625" r="-110425" b="-9644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952465" y="8045346"/>
            <a:ext cx="1314407" cy="1980699"/>
          </a:xfrm>
          <a:custGeom>
            <a:avLst/>
            <a:gdLst/>
            <a:ahLst/>
            <a:cxnLst/>
            <a:rect r="r" b="b" t="t" l="l"/>
            <a:pathLst>
              <a:path h="1980699" w="1314407">
                <a:moveTo>
                  <a:pt x="0" y="0"/>
                </a:moveTo>
                <a:lnTo>
                  <a:pt x="1314406" y="0"/>
                </a:lnTo>
                <a:lnTo>
                  <a:pt x="1314406" y="1980699"/>
                </a:lnTo>
                <a:lnTo>
                  <a:pt x="0" y="19806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50498" y="3255319"/>
            <a:ext cx="8726239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Las tarjetas físicas de comunicación no verbal son poco portables, difíciles de personalizar y poco atractivas para niños con neurodivergencia, lo que dificulta su comunicación y puede generar frustración.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0498" y="2349491"/>
            <a:ext cx="3025859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PROBLEMA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0498" y="6363231"/>
            <a:ext cx="8726239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NeuroVoice digitaliza estas tarjetas en una app con imágenes, categorías y audio, ofreciendo una herramienta inclusiva, práctica y adaptada a los tiempos actuales para mejorar la comunicación diaria.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0498" y="5457403"/>
            <a:ext cx="3025859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SOLUCIÓN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5649" y="9201150"/>
            <a:ext cx="331175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NeuroVoice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435612"/>
            <a:ext cx="7488617" cy="7522444"/>
            <a:chOff x="0" y="0"/>
            <a:chExt cx="3545177" cy="35611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45177" cy="3561191"/>
            </a:xfrm>
            <a:custGeom>
              <a:avLst/>
              <a:gdLst/>
              <a:ahLst/>
              <a:cxnLst/>
              <a:rect r="r" b="b" t="t" l="l"/>
              <a:pathLst>
                <a:path h="3561191" w="3545177">
                  <a:moveTo>
                    <a:pt x="0" y="0"/>
                  </a:moveTo>
                  <a:lnTo>
                    <a:pt x="3545177" y="0"/>
                  </a:lnTo>
                  <a:lnTo>
                    <a:pt x="3545177" y="3561191"/>
                  </a:lnTo>
                  <a:lnTo>
                    <a:pt x="0" y="35611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545177" cy="3608816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70683" y="2435612"/>
            <a:ext cx="7488617" cy="7522444"/>
            <a:chOff x="0" y="0"/>
            <a:chExt cx="3545177" cy="35611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45177" cy="3561191"/>
            </a:xfrm>
            <a:custGeom>
              <a:avLst/>
              <a:gdLst/>
              <a:ahLst/>
              <a:cxnLst/>
              <a:rect r="r" b="b" t="t" l="l"/>
              <a:pathLst>
                <a:path h="3561191" w="3545177">
                  <a:moveTo>
                    <a:pt x="0" y="0"/>
                  </a:moveTo>
                  <a:lnTo>
                    <a:pt x="3545177" y="0"/>
                  </a:lnTo>
                  <a:lnTo>
                    <a:pt x="3545177" y="3561191"/>
                  </a:lnTo>
                  <a:lnTo>
                    <a:pt x="0" y="35611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545177" cy="3608816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125252" y="8244389"/>
            <a:ext cx="3295513" cy="1713667"/>
          </a:xfrm>
          <a:custGeom>
            <a:avLst/>
            <a:gdLst/>
            <a:ahLst/>
            <a:cxnLst/>
            <a:rect r="r" b="b" t="t" l="l"/>
            <a:pathLst>
              <a:path h="1713667" w="3295513">
                <a:moveTo>
                  <a:pt x="0" y="0"/>
                </a:moveTo>
                <a:lnTo>
                  <a:pt x="3295513" y="0"/>
                </a:lnTo>
                <a:lnTo>
                  <a:pt x="3295513" y="1713667"/>
                </a:lnTo>
                <a:lnTo>
                  <a:pt x="0" y="1713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073539" y="7282748"/>
            <a:ext cx="2156373" cy="2263909"/>
          </a:xfrm>
          <a:custGeom>
            <a:avLst/>
            <a:gdLst/>
            <a:ahLst/>
            <a:cxnLst/>
            <a:rect r="r" b="b" t="t" l="l"/>
            <a:pathLst>
              <a:path h="2263909" w="2156373">
                <a:moveTo>
                  <a:pt x="0" y="0"/>
                </a:moveTo>
                <a:lnTo>
                  <a:pt x="2156374" y="0"/>
                </a:lnTo>
                <a:lnTo>
                  <a:pt x="2156374" y="2263909"/>
                </a:lnTo>
                <a:lnTo>
                  <a:pt x="0" y="22639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550229" y="7422198"/>
            <a:ext cx="2681445" cy="2057400"/>
          </a:xfrm>
          <a:custGeom>
            <a:avLst/>
            <a:gdLst/>
            <a:ahLst/>
            <a:cxnLst/>
            <a:rect r="r" b="b" t="t" l="l"/>
            <a:pathLst>
              <a:path h="2057400" w="2681445">
                <a:moveTo>
                  <a:pt x="0" y="0"/>
                </a:moveTo>
                <a:lnTo>
                  <a:pt x="2681446" y="0"/>
                </a:lnTo>
                <a:lnTo>
                  <a:pt x="2681446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897555" y="866775"/>
            <a:ext cx="6492891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PÚBLICO OBJETIVO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0498" y="2713673"/>
            <a:ext cx="6989180" cy="573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Principal</a:t>
            </a:r>
          </a:p>
          <a:p>
            <a:pPr algn="just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Niños de kínder y primero básico que aún están desarrollando la identificación y regulación de sus emociones.</a:t>
            </a:r>
          </a:p>
          <a:p>
            <a:pPr algn="just">
              <a:lnSpc>
                <a:spcPts val="3640"/>
              </a:lnSpc>
            </a:pPr>
          </a:p>
          <a:p>
            <a:pPr algn="just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Para apoyar el reconocimiento y gestión emocional temprana, especialmente considerando posibles necesidades vinculadas a neurodivergencias.</a:t>
            </a:r>
          </a:p>
          <a:p>
            <a:pPr algn="just">
              <a:lnSpc>
                <a:spcPts val="420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082591" y="2704148"/>
            <a:ext cx="6864802" cy="4681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Secundarios</a:t>
            </a:r>
          </a:p>
          <a:p>
            <a:pPr algn="just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Personas neurodivergentes que requieran apoyo para comunicar emociones.</a:t>
            </a:r>
          </a:p>
          <a:p>
            <a:pPr algn="just">
              <a:lnSpc>
                <a:spcPts val="3640"/>
              </a:lnSpc>
            </a:pPr>
          </a:p>
          <a:p>
            <a:pPr algn="just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Educadores, profesionales de psicología y asistentes de aula que acompañan procesos socioemocionales.</a:t>
            </a:r>
          </a:p>
          <a:p>
            <a:pPr algn="just">
              <a:lnSpc>
                <a:spcPts val="294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653415"/>
            <a:ext cx="331175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NeuroVoice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58988" y="-2115185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8" y="0"/>
                </a:lnTo>
                <a:lnTo>
                  <a:pt x="4129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91468" y="8782199"/>
            <a:ext cx="3382937" cy="3370635"/>
          </a:xfrm>
          <a:custGeom>
            <a:avLst/>
            <a:gdLst/>
            <a:ahLst/>
            <a:cxnLst/>
            <a:rect r="r" b="b" t="t" l="l"/>
            <a:pathLst>
              <a:path h="3370635" w="3382937">
                <a:moveTo>
                  <a:pt x="0" y="0"/>
                </a:moveTo>
                <a:lnTo>
                  <a:pt x="3382936" y="0"/>
                </a:lnTo>
                <a:lnTo>
                  <a:pt x="3382936" y="3370635"/>
                </a:lnTo>
                <a:lnTo>
                  <a:pt x="0" y="33706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377557" y="5143500"/>
            <a:ext cx="3039133" cy="4114800"/>
            <a:chOff x="0" y="0"/>
            <a:chExt cx="1438752" cy="194798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38752" cy="1947982"/>
            </a:xfrm>
            <a:custGeom>
              <a:avLst/>
              <a:gdLst/>
              <a:ahLst/>
              <a:cxnLst/>
              <a:rect r="r" b="b" t="t" l="l"/>
              <a:pathLst>
                <a:path h="1947982" w="1438752">
                  <a:moveTo>
                    <a:pt x="0" y="0"/>
                  </a:moveTo>
                  <a:lnTo>
                    <a:pt x="1438752" y="0"/>
                  </a:lnTo>
                  <a:lnTo>
                    <a:pt x="1438752" y="1947982"/>
                  </a:lnTo>
                  <a:lnTo>
                    <a:pt x="0" y="1947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438752" cy="199560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70738" y="5143500"/>
            <a:ext cx="3039133" cy="4114800"/>
            <a:chOff x="0" y="0"/>
            <a:chExt cx="1438752" cy="19479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38752" cy="1947982"/>
            </a:xfrm>
            <a:custGeom>
              <a:avLst/>
              <a:gdLst/>
              <a:ahLst/>
              <a:cxnLst/>
              <a:rect r="r" b="b" t="t" l="l"/>
              <a:pathLst>
                <a:path h="1947982" w="1438752">
                  <a:moveTo>
                    <a:pt x="0" y="0"/>
                  </a:moveTo>
                  <a:lnTo>
                    <a:pt x="1438752" y="0"/>
                  </a:lnTo>
                  <a:lnTo>
                    <a:pt x="1438752" y="1947982"/>
                  </a:lnTo>
                  <a:lnTo>
                    <a:pt x="0" y="1947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438752" cy="199560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209921" y="5143500"/>
            <a:ext cx="3039133" cy="4114800"/>
            <a:chOff x="0" y="0"/>
            <a:chExt cx="1438752" cy="194798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38752" cy="1947982"/>
            </a:xfrm>
            <a:custGeom>
              <a:avLst/>
              <a:gdLst/>
              <a:ahLst/>
              <a:cxnLst/>
              <a:rect r="r" b="b" t="t" l="l"/>
              <a:pathLst>
                <a:path h="1947982" w="1438752">
                  <a:moveTo>
                    <a:pt x="0" y="0"/>
                  </a:moveTo>
                  <a:lnTo>
                    <a:pt x="1438752" y="0"/>
                  </a:lnTo>
                  <a:lnTo>
                    <a:pt x="1438752" y="1947982"/>
                  </a:lnTo>
                  <a:lnTo>
                    <a:pt x="0" y="1947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438752" cy="199560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649104" y="5143500"/>
            <a:ext cx="3039133" cy="4114800"/>
            <a:chOff x="0" y="0"/>
            <a:chExt cx="1438752" cy="194798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38752" cy="1947982"/>
            </a:xfrm>
            <a:custGeom>
              <a:avLst/>
              <a:gdLst/>
              <a:ahLst/>
              <a:cxnLst/>
              <a:rect r="r" b="b" t="t" l="l"/>
              <a:pathLst>
                <a:path h="1947982" w="1438752">
                  <a:moveTo>
                    <a:pt x="0" y="0"/>
                  </a:moveTo>
                  <a:lnTo>
                    <a:pt x="1438752" y="0"/>
                  </a:lnTo>
                  <a:lnTo>
                    <a:pt x="1438752" y="1947982"/>
                  </a:lnTo>
                  <a:lnTo>
                    <a:pt x="0" y="1947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438752" cy="199560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088287" y="5143500"/>
            <a:ext cx="3039133" cy="4114800"/>
            <a:chOff x="0" y="0"/>
            <a:chExt cx="1438752" cy="19479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38752" cy="1947982"/>
            </a:xfrm>
            <a:custGeom>
              <a:avLst/>
              <a:gdLst/>
              <a:ahLst/>
              <a:cxnLst/>
              <a:rect r="r" b="b" t="t" l="l"/>
              <a:pathLst>
                <a:path h="1947982" w="1438752">
                  <a:moveTo>
                    <a:pt x="0" y="0"/>
                  </a:moveTo>
                  <a:lnTo>
                    <a:pt x="1438752" y="0"/>
                  </a:lnTo>
                  <a:lnTo>
                    <a:pt x="1438752" y="1947982"/>
                  </a:lnTo>
                  <a:lnTo>
                    <a:pt x="0" y="1947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438752" cy="199560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227096" y="7255034"/>
            <a:ext cx="1884715" cy="1724514"/>
          </a:xfrm>
          <a:custGeom>
            <a:avLst/>
            <a:gdLst/>
            <a:ahLst/>
            <a:cxnLst/>
            <a:rect r="r" b="b" t="t" l="l"/>
            <a:pathLst>
              <a:path h="1724514" w="1884715">
                <a:moveTo>
                  <a:pt x="0" y="0"/>
                </a:moveTo>
                <a:lnTo>
                  <a:pt x="1884715" y="0"/>
                </a:lnTo>
                <a:lnTo>
                  <a:pt x="1884715" y="1724514"/>
                </a:lnTo>
                <a:lnTo>
                  <a:pt x="0" y="17245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842792" y="7452383"/>
            <a:ext cx="1530124" cy="1329817"/>
          </a:xfrm>
          <a:custGeom>
            <a:avLst/>
            <a:gdLst/>
            <a:ahLst/>
            <a:cxnLst/>
            <a:rect r="r" b="b" t="t" l="l"/>
            <a:pathLst>
              <a:path h="1329817" w="1530124">
                <a:moveTo>
                  <a:pt x="0" y="0"/>
                </a:moveTo>
                <a:lnTo>
                  <a:pt x="1530123" y="0"/>
                </a:lnTo>
                <a:lnTo>
                  <a:pt x="1530123" y="1329816"/>
                </a:lnTo>
                <a:lnTo>
                  <a:pt x="0" y="13298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52654" y="7272316"/>
            <a:ext cx="1676192" cy="1707233"/>
          </a:xfrm>
          <a:custGeom>
            <a:avLst/>
            <a:gdLst/>
            <a:ahLst/>
            <a:cxnLst/>
            <a:rect r="r" b="b" t="t" l="l"/>
            <a:pathLst>
              <a:path h="1707233" w="1676192">
                <a:moveTo>
                  <a:pt x="0" y="0"/>
                </a:moveTo>
                <a:lnTo>
                  <a:pt x="1676192" y="0"/>
                </a:lnTo>
                <a:lnTo>
                  <a:pt x="1676192" y="1707232"/>
                </a:lnTo>
                <a:lnTo>
                  <a:pt x="0" y="170723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142182" y="7272316"/>
            <a:ext cx="1509884" cy="1509884"/>
          </a:xfrm>
          <a:custGeom>
            <a:avLst/>
            <a:gdLst/>
            <a:ahLst/>
            <a:cxnLst/>
            <a:rect r="r" b="b" t="t" l="l"/>
            <a:pathLst>
              <a:path h="1509884" w="1509884">
                <a:moveTo>
                  <a:pt x="0" y="0"/>
                </a:moveTo>
                <a:lnTo>
                  <a:pt x="1509884" y="0"/>
                </a:lnTo>
                <a:lnTo>
                  <a:pt x="1509884" y="1509883"/>
                </a:lnTo>
                <a:lnTo>
                  <a:pt x="0" y="150988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961253" y="7353708"/>
            <a:ext cx="1527165" cy="1527165"/>
          </a:xfrm>
          <a:custGeom>
            <a:avLst/>
            <a:gdLst/>
            <a:ahLst/>
            <a:cxnLst/>
            <a:rect r="r" b="b" t="t" l="l"/>
            <a:pathLst>
              <a:path h="1527165" w="1527165">
                <a:moveTo>
                  <a:pt x="0" y="0"/>
                </a:moveTo>
                <a:lnTo>
                  <a:pt x="1527165" y="0"/>
                </a:lnTo>
                <a:lnTo>
                  <a:pt x="1527165" y="1527166"/>
                </a:lnTo>
                <a:lnTo>
                  <a:pt x="0" y="152716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28700" y="847725"/>
            <a:ext cx="10059587" cy="1151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 GENERAL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2370773"/>
            <a:ext cx="9759667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Desarrollar una aplicación móvil que facilite la comunicación de personas con neurodivergencia mediante el uso de tarjetas digitales accesibles y personalizables.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64310" y="3713829"/>
            <a:ext cx="10059587" cy="1151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ESPECÍFICOS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947543" y="9519861"/>
            <a:ext cx="331175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NeuroVoice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589754" y="5301139"/>
            <a:ext cx="2610287" cy="117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.Realizar pruebas en dispositivos móviles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0033" y="5301139"/>
            <a:ext cx="2610287" cy="117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Diseñar una interfaz accesible y fácil de usar.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419692" y="5301139"/>
            <a:ext cx="2610287" cy="156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Implementar tarjetas digitales con categorías, imágenes y audio.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864310" y="5301139"/>
            <a:ext cx="2610287" cy="195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Permitir personalización visual según las necesidades del usuario.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302710" y="5301139"/>
            <a:ext cx="2610287" cy="117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Integrar audio TTS para mejorar la comunicación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980940" y="3894804"/>
            <a:ext cx="6261743" cy="62782"/>
            <a:chOff x="0" y="0"/>
            <a:chExt cx="1649183" cy="1653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49183" cy="16535"/>
            </a:xfrm>
            <a:custGeom>
              <a:avLst/>
              <a:gdLst/>
              <a:ahLst/>
              <a:cxnLst/>
              <a:rect r="r" b="b" t="t" l="l"/>
              <a:pathLst>
                <a:path h="16535" w="1649183">
                  <a:moveTo>
                    <a:pt x="0" y="0"/>
                  </a:moveTo>
                  <a:lnTo>
                    <a:pt x="1649183" y="0"/>
                  </a:lnTo>
                  <a:lnTo>
                    <a:pt x="1649183" y="16535"/>
                  </a:lnTo>
                  <a:lnTo>
                    <a:pt x="0" y="16535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649183" cy="54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50963" y="8875012"/>
            <a:ext cx="5899432" cy="2823977"/>
            <a:chOff x="0" y="0"/>
            <a:chExt cx="1553760" cy="7437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53760" cy="743763"/>
            </a:xfrm>
            <a:custGeom>
              <a:avLst/>
              <a:gdLst/>
              <a:ahLst/>
              <a:cxnLst/>
              <a:rect r="r" b="b" t="t" l="l"/>
              <a:pathLst>
                <a:path h="743763" w="1553760">
                  <a:moveTo>
                    <a:pt x="0" y="0"/>
                  </a:moveTo>
                  <a:lnTo>
                    <a:pt x="1553760" y="0"/>
                  </a:lnTo>
                  <a:lnTo>
                    <a:pt x="1553760" y="743763"/>
                  </a:lnTo>
                  <a:lnTo>
                    <a:pt x="0" y="743763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53760" cy="781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223091" y="-2166620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8" y="0"/>
                </a:lnTo>
                <a:lnTo>
                  <a:pt x="4129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591108" y="947738"/>
            <a:ext cx="4439539" cy="161925"/>
            <a:chOff x="0" y="0"/>
            <a:chExt cx="1169261" cy="426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69261" cy="42647"/>
            </a:xfrm>
            <a:custGeom>
              <a:avLst/>
              <a:gdLst/>
              <a:ahLst/>
              <a:cxnLst/>
              <a:rect r="r" b="b" t="t" l="l"/>
              <a:pathLst>
                <a:path h="42647" w="1169261">
                  <a:moveTo>
                    <a:pt x="0" y="0"/>
                  </a:moveTo>
                  <a:lnTo>
                    <a:pt x="1169261" y="0"/>
                  </a:lnTo>
                  <a:lnTo>
                    <a:pt x="1169261" y="42647"/>
                  </a:lnTo>
                  <a:lnTo>
                    <a:pt x="0" y="42647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69261" cy="80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14556788" y="-537401"/>
            <a:ext cx="492984" cy="2279693"/>
          </a:xfrm>
          <a:custGeom>
            <a:avLst/>
            <a:gdLst/>
            <a:ahLst/>
            <a:cxnLst/>
            <a:rect r="r" b="b" t="t" l="l"/>
            <a:pathLst>
              <a:path h="2279693" w="492984">
                <a:moveTo>
                  <a:pt x="0" y="0"/>
                </a:moveTo>
                <a:lnTo>
                  <a:pt x="492983" y="0"/>
                </a:lnTo>
                <a:lnTo>
                  <a:pt x="492983" y="2279693"/>
                </a:lnTo>
                <a:lnTo>
                  <a:pt x="0" y="22796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98753" y="1464878"/>
            <a:ext cx="2319882" cy="3140978"/>
            <a:chOff x="0" y="0"/>
            <a:chExt cx="1438752" cy="194798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38752" cy="1947982"/>
            </a:xfrm>
            <a:custGeom>
              <a:avLst/>
              <a:gdLst/>
              <a:ahLst/>
              <a:cxnLst/>
              <a:rect r="r" b="b" t="t" l="l"/>
              <a:pathLst>
                <a:path h="1947982" w="1438752">
                  <a:moveTo>
                    <a:pt x="0" y="0"/>
                  </a:moveTo>
                  <a:lnTo>
                    <a:pt x="1438752" y="0"/>
                  </a:lnTo>
                  <a:lnTo>
                    <a:pt x="1438752" y="1947982"/>
                  </a:lnTo>
                  <a:lnTo>
                    <a:pt x="0" y="1947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438752" cy="199560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924008" y="1464878"/>
            <a:ext cx="2319882" cy="3140978"/>
            <a:chOff x="0" y="0"/>
            <a:chExt cx="1438752" cy="194798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38752" cy="1947982"/>
            </a:xfrm>
            <a:custGeom>
              <a:avLst/>
              <a:gdLst/>
              <a:ahLst/>
              <a:cxnLst/>
              <a:rect r="r" b="b" t="t" l="l"/>
              <a:pathLst>
                <a:path h="1947982" w="1438752">
                  <a:moveTo>
                    <a:pt x="0" y="0"/>
                  </a:moveTo>
                  <a:lnTo>
                    <a:pt x="1438752" y="0"/>
                  </a:lnTo>
                  <a:lnTo>
                    <a:pt x="1438752" y="1947982"/>
                  </a:lnTo>
                  <a:lnTo>
                    <a:pt x="0" y="1947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438752" cy="199560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872540" y="1464878"/>
            <a:ext cx="2319882" cy="3140978"/>
            <a:chOff x="0" y="0"/>
            <a:chExt cx="1438752" cy="19479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38752" cy="1947982"/>
            </a:xfrm>
            <a:custGeom>
              <a:avLst/>
              <a:gdLst/>
              <a:ahLst/>
              <a:cxnLst/>
              <a:rect r="r" b="b" t="t" l="l"/>
              <a:pathLst>
                <a:path h="1947982" w="1438752">
                  <a:moveTo>
                    <a:pt x="0" y="0"/>
                  </a:moveTo>
                  <a:lnTo>
                    <a:pt x="1438752" y="0"/>
                  </a:lnTo>
                  <a:lnTo>
                    <a:pt x="1438752" y="1947982"/>
                  </a:lnTo>
                  <a:lnTo>
                    <a:pt x="0" y="1947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438752" cy="199560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497795" y="1464878"/>
            <a:ext cx="2319882" cy="3140978"/>
            <a:chOff x="0" y="0"/>
            <a:chExt cx="1438752" cy="194798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38752" cy="1947982"/>
            </a:xfrm>
            <a:custGeom>
              <a:avLst/>
              <a:gdLst/>
              <a:ahLst/>
              <a:cxnLst/>
              <a:rect r="r" b="b" t="t" l="l"/>
              <a:pathLst>
                <a:path h="1947982" w="1438752">
                  <a:moveTo>
                    <a:pt x="0" y="0"/>
                  </a:moveTo>
                  <a:lnTo>
                    <a:pt x="1438752" y="0"/>
                  </a:lnTo>
                  <a:lnTo>
                    <a:pt x="1438752" y="1947982"/>
                  </a:lnTo>
                  <a:lnTo>
                    <a:pt x="0" y="1947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438752" cy="199560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284401" y="1464878"/>
            <a:ext cx="2319882" cy="3140978"/>
            <a:chOff x="0" y="0"/>
            <a:chExt cx="1438752" cy="194798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38752" cy="1947982"/>
            </a:xfrm>
            <a:custGeom>
              <a:avLst/>
              <a:gdLst/>
              <a:ahLst/>
              <a:cxnLst/>
              <a:rect r="r" b="b" t="t" l="l"/>
              <a:pathLst>
                <a:path h="1947982" w="1438752">
                  <a:moveTo>
                    <a:pt x="0" y="0"/>
                  </a:moveTo>
                  <a:lnTo>
                    <a:pt x="1438752" y="0"/>
                  </a:lnTo>
                  <a:lnTo>
                    <a:pt x="1438752" y="1947982"/>
                  </a:lnTo>
                  <a:lnTo>
                    <a:pt x="0" y="1947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438752" cy="199560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99351" y="4958281"/>
            <a:ext cx="2319882" cy="3140978"/>
            <a:chOff x="0" y="0"/>
            <a:chExt cx="1438752" cy="194798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38752" cy="1947982"/>
            </a:xfrm>
            <a:custGeom>
              <a:avLst/>
              <a:gdLst/>
              <a:ahLst/>
              <a:cxnLst/>
              <a:rect r="r" b="b" t="t" l="l"/>
              <a:pathLst>
                <a:path h="1947982" w="1438752">
                  <a:moveTo>
                    <a:pt x="0" y="0"/>
                  </a:moveTo>
                  <a:lnTo>
                    <a:pt x="1438752" y="0"/>
                  </a:lnTo>
                  <a:lnTo>
                    <a:pt x="1438752" y="1947982"/>
                  </a:lnTo>
                  <a:lnTo>
                    <a:pt x="0" y="1947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438752" cy="199560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924008" y="4901131"/>
            <a:ext cx="2319882" cy="3140978"/>
            <a:chOff x="0" y="0"/>
            <a:chExt cx="1438752" cy="194798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38752" cy="1947982"/>
            </a:xfrm>
            <a:custGeom>
              <a:avLst/>
              <a:gdLst/>
              <a:ahLst/>
              <a:cxnLst/>
              <a:rect r="r" b="b" t="t" l="l"/>
              <a:pathLst>
                <a:path h="1947982" w="1438752">
                  <a:moveTo>
                    <a:pt x="0" y="0"/>
                  </a:moveTo>
                  <a:lnTo>
                    <a:pt x="1438752" y="0"/>
                  </a:lnTo>
                  <a:lnTo>
                    <a:pt x="1438752" y="1947982"/>
                  </a:lnTo>
                  <a:lnTo>
                    <a:pt x="0" y="1947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438752" cy="199560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872540" y="4901131"/>
            <a:ext cx="2319882" cy="3140978"/>
            <a:chOff x="0" y="0"/>
            <a:chExt cx="1438752" cy="194798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38752" cy="1947982"/>
            </a:xfrm>
            <a:custGeom>
              <a:avLst/>
              <a:gdLst/>
              <a:ahLst/>
              <a:cxnLst/>
              <a:rect r="r" b="b" t="t" l="l"/>
              <a:pathLst>
                <a:path h="1947982" w="1438752">
                  <a:moveTo>
                    <a:pt x="0" y="0"/>
                  </a:moveTo>
                  <a:lnTo>
                    <a:pt x="1438752" y="0"/>
                  </a:lnTo>
                  <a:lnTo>
                    <a:pt x="1438752" y="1947982"/>
                  </a:lnTo>
                  <a:lnTo>
                    <a:pt x="0" y="1947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438752" cy="199560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982997" y="6075965"/>
            <a:ext cx="8934624" cy="3855080"/>
            <a:chOff x="0" y="0"/>
            <a:chExt cx="11912832" cy="5140107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11912832" cy="5140107"/>
              <a:chOff x="0" y="0"/>
              <a:chExt cx="4229729" cy="1825029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4229729" cy="1825029"/>
              </a:xfrm>
              <a:custGeom>
                <a:avLst/>
                <a:gdLst/>
                <a:ahLst/>
                <a:cxnLst/>
                <a:rect r="r" b="b" t="t" l="l"/>
                <a:pathLst>
                  <a:path h="1825029" w="4229729">
                    <a:moveTo>
                      <a:pt x="0" y="0"/>
                    </a:moveTo>
                    <a:lnTo>
                      <a:pt x="4229729" y="0"/>
                    </a:lnTo>
                    <a:lnTo>
                      <a:pt x="4229729" y="1825029"/>
                    </a:lnTo>
                    <a:lnTo>
                      <a:pt x="0" y="1825029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85725" cap="sq">
                <a:solidFill>
                  <a:srgbClr val="ACA18F"/>
                </a:soli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47625"/>
                <a:ext cx="4229729" cy="187265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1588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555207" y="415361"/>
              <a:ext cx="10758072" cy="42417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47716" indent="-323858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Funciona únicamente con acceso a internet.</a:t>
              </a:r>
            </a:p>
            <a:p>
              <a:pPr algn="just" marL="647716" indent="-323858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Tiempo de desarrollo limitado a 3 meses.</a:t>
              </a:r>
            </a:p>
            <a:p>
              <a:pPr algn="just" marL="647716" indent="-323858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No existe interacción entre usuarios dentro del sistema.</a:t>
              </a:r>
            </a:p>
            <a:p>
              <a:pPr algn="just" marL="647716" indent="-323858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No hay sincronización de datos con servidores externos.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6298586" y="2916495"/>
            <a:ext cx="1605225" cy="1605225"/>
          </a:xfrm>
          <a:custGeom>
            <a:avLst/>
            <a:gdLst/>
            <a:ahLst/>
            <a:cxnLst/>
            <a:rect r="r" b="b" t="t" l="l"/>
            <a:pathLst>
              <a:path h="1605225" w="1605225">
                <a:moveTo>
                  <a:pt x="0" y="0"/>
                </a:moveTo>
                <a:lnTo>
                  <a:pt x="1605225" y="0"/>
                </a:lnTo>
                <a:lnTo>
                  <a:pt x="1605225" y="1605224"/>
                </a:lnTo>
                <a:lnTo>
                  <a:pt x="0" y="16052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8993022" y="2996592"/>
            <a:ext cx="1329428" cy="1445030"/>
          </a:xfrm>
          <a:custGeom>
            <a:avLst/>
            <a:gdLst/>
            <a:ahLst/>
            <a:cxnLst/>
            <a:rect r="r" b="b" t="t" l="l"/>
            <a:pathLst>
              <a:path h="1445030" w="1329428">
                <a:moveTo>
                  <a:pt x="0" y="0"/>
                </a:moveTo>
                <a:lnTo>
                  <a:pt x="1329427" y="0"/>
                </a:lnTo>
                <a:lnTo>
                  <a:pt x="1329427" y="1445030"/>
                </a:lnTo>
                <a:lnTo>
                  <a:pt x="0" y="14450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714114" y="6333876"/>
            <a:ext cx="1490357" cy="1490357"/>
          </a:xfrm>
          <a:custGeom>
            <a:avLst/>
            <a:gdLst/>
            <a:ahLst/>
            <a:cxnLst/>
            <a:rect r="r" b="b" t="t" l="l"/>
            <a:pathLst>
              <a:path h="1490357" w="1490357">
                <a:moveTo>
                  <a:pt x="0" y="0"/>
                </a:moveTo>
                <a:lnTo>
                  <a:pt x="1490357" y="0"/>
                </a:lnTo>
                <a:lnTo>
                  <a:pt x="1490357" y="1490357"/>
                </a:lnTo>
                <a:lnTo>
                  <a:pt x="0" y="149035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3435622" y="2948045"/>
            <a:ext cx="1296653" cy="1296653"/>
          </a:xfrm>
          <a:custGeom>
            <a:avLst/>
            <a:gdLst/>
            <a:ahLst/>
            <a:cxnLst/>
            <a:rect r="r" b="b" t="t" l="l"/>
            <a:pathLst>
              <a:path h="1296653" w="1296653">
                <a:moveTo>
                  <a:pt x="0" y="0"/>
                </a:moveTo>
                <a:lnTo>
                  <a:pt x="1296654" y="0"/>
                </a:lnTo>
                <a:lnTo>
                  <a:pt x="1296654" y="1296653"/>
                </a:lnTo>
                <a:lnTo>
                  <a:pt x="0" y="129665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863183" y="3095043"/>
            <a:ext cx="1192219" cy="1151033"/>
          </a:xfrm>
          <a:custGeom>
            <a:avLst/>
            <a:gdLst/>
            <a:ahLst/>
            <a:cxnLst/>
            <a:rect r="r" b="b" t="t" l="l"/>
            <a:pathLst>
              <a:path h="1151033" w="1192219">
                <a:moveTo>
                  <a:pt x="0" y="0"/>
                </a:moveTo>
                <a:lnTo>
                  <a:pt x="1192219" y="0"/>
                </a:lnTo>
                <a:lnTo>
                  <a:pt x="1192219" y="1151033"/>
                </a:lnTo>
                <a:lnTo>
                  <a:pt x="0" y="115103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1914750" y="3007936"/>
            <a:ext cx="1059184" cy="1176871"/>
          </a:xfrm>
          <a:custGeom>
            <a:avLst/>
            <a:gdLst/>
            <a:ahLst/>
            <a:cxnLst/>
            <a:rect r="r" b="b" t="t" l="l"/>
            <a:pathLst>
              <a:path h="1176871" w="1059184">
                <a:moveTo>
                  <a:pt x="0" y="0"/>
                </a:moveTo>
                <a:lnTo>
                  <a:pt x="1059184" y="0"/>
                </a:lnTo>
                <a:lnTo>
                  <a:pt x="1059184" y="1176871"/>
                </a:lnTo>
                <a:lnTo>
                  <a:pt x="0" y="117687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6446630" y="6471620"/>
            <a:ext cx="1171701" cy="1352613"/>
          </a:xfrm>
          <a:custGeom>
            <a:avLst/>
            <a:gdLst/>
            <a:ahLst/>
            <a:cxnLst/>
            <a:rect r="r" b="b" t="t" l="l"/>
            <a:pathLst>
              <a:path h="1352613" w="1171701">
                <a:moveTo>
                  <a:pt x="0" y="0"/>
                </a:moveTo>
                <a:lnTo>
                  <a:pt x="1171701" y="0"/>
                </a:lnTo>
                <a:lnTo>
                  <a:pt x="1171701" y="1352613"/>
                </a:lnTo>
                <a:lnTo>
                  <a:pt x="0" y="135261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3184112" y="6418226"/>
            <a:ext cx="1799673" cy="1406007"/>
            <a:chOff x="0" y="0"/>
            <a:chExt cx="2399564" cy="187467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999862" y="125048"/>
              <a:ext cx="1399703" cy="1749628"/>
            </a:xfrm>
            <a:custGeom>
              <a:avLst/>
              <a:gdLst/>
              <a:ahLst/>
              <a:cxnLst/>
              <a:rect r="r" b="b" t="t" l="l"/>
              <a:pathLst>
                <a:path h="1749628" w="1399703">
                  <a:moveTo>
                    <a:pt x="0" y="0"/>
                  </a:moveTo>
                  <a:lnTo>
                    <a:pt x="1399702" y="0"/>
                  </a:lnTo>
                  <a:lnTo>
                    <a:pt x="1399702" y="1749628"/>
                  </a:lnTo>
                  <a:lnTo>
                    <a:pt x="0" y="1749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99862" cy="999862"/>
            </a:xfrm>
            <a:custGeom>
              <a:avLst/>
              <a:gdLst/>
              <a:ahLst/>
              <a:cxnLst/>
              <a:rect r="r" b="b" t="t" l="l"/>
              <a:pathLst>
                <a:path h="999862" w="999862">
                  <a:moveTo>
                    <a:pt x="0" y="0"/>
                  </a:moveTo>
                  <a:lnTo>
                    <a:pt x="999862" y="0"/>
                  </a:lnTo>
                  <a:lnTo>
                    <a:pt x="999862" y="999862"/>
                  </a:lnTo>
                  <a:lnTo>
                    <a:pt x="0" y="999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65512" y="18415"/>
            <a:ext cx="9296766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ALCANCES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36674" y="9466282"/>
            <a:ext cx="331175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NeuroVoice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63028" y="1571684"/>
            <a:ext cx="1992528" cy="90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51"/>
              </a:lnSpc>
            </a:pPr>
            <a:r>
              <a:rPr lang="en-US" sz="16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Personalización del color general de la App.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087685" y="1571684"/>
            <a:ext cx="1992528" cy="90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51"/>
              </a:lnSpc>
            </a:pPr>
            <a:r>
              <a:rPr lang="en-US" sz="16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Reproducción de audio mediante TTS 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036815" y="1571684"/>
            <a:ext cx="1992528" cy="61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51"/>
              </a:lnSpc>
            </a:pPr>
            <a:r>
              <a:rPr lang="en-US" sz="16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Sistema con servicio de login.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661471" y="1571684"/>
            <a:ext cx="1992528" cy="120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51"/>
              </a:lnSpc>
            </a:pPr>
            <a:r>
              <a:rPr lang="en-US" sz="16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Backend implementado con Flask y base de datos SQLite.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448676" y="1571684"/>
            <a:ext cx="1992528" cy="90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51"/>
              </a:lnSpc>
            </a:pPr>
            <a:r>
              <a:rPr lang="en-US" sz="16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Creación de una API REST dentro del sistema.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63028" y="5065087"/>
            <a:ext cx="1992528" cy="90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51"/>
              </a:lnSpc>
            </a:pPr>
            <a:r>
              <a:rPr lang="en-US" sz="16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Posibilidad de crear y eliminar colecciones.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087685" y="5007937"/>
            <a:ext cx="1992528" cy="120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51"/>
              </a:lnSpc>
            </a:pPr>
            <a:r>
              <a:rPr lang="en-US" sz="16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Permite añadir y eliminar tarjetas dentro de las colecciones.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036815" y="5007937"/>
            <a:ext cx="1992528" cy="120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51"/>
              </a:lnSpc>
            </a:pPr>
            <a:r>
              <a:rPr lang="en-US" sz="16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Implementación de buscador con filtros para las tarjetas.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955900" y="5110681"/>
            <a:ext cx="9296766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LIMITACIONES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9435" y="-239354"/>
            <a:ext cx="1248135" cy="1829265"/>
            <a:chOff x="0" y="0"/>
            <a:chExt cx="328727" cy="4817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8727" cy="481782"/>
            </a:xfrm>
            <a:custGeom>
              <a:avLst/>
              <a:gdLst/>
              <a:ahLst/>
              <a:cxnLst/>
              <a:rect r="r" b="b" t="t" l="l"/>
              <a:pathLst>
                <a:path h="481782" w="328727">
                  <a:moveTo>
                    <a:pt x="0" y="0"/>
                  </a:moveTo>
                  <a:lnTo>
                    <a:pt x="328727" y="0"/>
                  </a:lnTo>
                  <a:lnTo>
                    <a:pt x="328727" y="481782"/>
                  </a:lnTo>
                  <a:lnTo>
                    <a:pt x="0" y="481782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28727" cy="519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071547" y="1794140"/>
            <a:ext cx="5920864" cy="228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METODOLOGÍA AGÍL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031979" y="971550"/>
            <a:ext cx="331175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NeuroVoice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6326" y="4959087"/>
            <a:ext cx="9446449" cy="3733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Se trabaja con sprints cortos, integrando funciones como nuevas tarjetas, mejoras de UI, audio y personalización. Se aplica integración continua y pruebas en dispositivos reales, con flexibilidad para ajustar según recomendaciones de especialistas. Las entregas incrementales permiten validar accesibilidad y usabilidad desde temprano.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04632" y="1975115"/>
            <a:ext cx="9589835" cy="2679172"/>
            <a:chOff x="0" y="0"/>
            <a:chExt cx="12786447" cy="357222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2786447" cy="3572229"/>
              <a:chOff x="0" y="0"/>
              <a:chExt cx="4539912" cy="126834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539912" cy="1268343"/>
              </a:xfrm>
              <a:custGeom>
                <a:avLst/>
                <a:gdLst/>
                <a:ahLst/>
                <a:cxnLst/>
                <a:rect r="r" b="b" t="t" l="l"/>
                <a:pathLst>
                  <a:path h="1268343" w="4539912">
                    <a:moveTo>
                      <a:pt x="0" y="0"/>
                    </a:moveTo>
                    <a:lnTo>
                      <a:pt x="4539912" y="0"/>
                    </a:lnTo>
                    <a:lnTo>
                      <a:pt x="4539912" y="1268343"/>
                    </a:lnTo>
                    <a:lnTo>
                      <a:pt x="0" y="126834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85725" cap="sq">
                <a:solidFill>
                  <a:srgbClr val="ACA18F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4539912" cy="1315968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1588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3823252" y="2695459"/>
              <a:ext cx="1044810" cy="316055"/>
            </a:xfrm>
            <a:custGeom>
              <a:avLst/>
              <a:gdLst/>
              <a:ahLst/>
              <a:cxnLst/>
              <a:rect r="r" b="b" t="t" l="l"/>
              <a:pathLst>
                <a:path h="316055" w="1044810">
                  <a:moveTo>
                    <a:pt x="0" y="0"/>
                  </a:moveTo>
                  <a:lnTo>
                    <a:pt x="1044810" y="0"/>
                  </a:lnTo>
                  <a:lnTo>
                    <a:pt x="1044810" y="316056"/>
                  </a:lnTo>
                  <a:lnTo>
                    <a:pt x="0" y="316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4667684" y="2535564"/>
              <a:ext cx="364226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Scrum Master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8703645" y="2535564"/>
              <a:ext cx="3928015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Scrum Team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8181240" y="2695459"/>
              <a:ext cx="1044810" cy="316055"/>
            </a:xfrm>
            <a:custGeom>
              <a:avLst/>
              <a:gdLst/>
              <a:ahLst/>
              <a:cxnLst/>
              <a:rect r="r" b="b" t="t" l="l"/>
              <a:pathLst>
                <a:path h="316055" w="1044810">
                  <a:moveTo>
                    <a:pt x="0" y="0"/>
                  </a:moveTo>
                  <a:lnTo>
                    <a:pt x="1044810" y="0"/>
                  </a:lnTo>
                  <a:lnTo>
                    <a:pt x="1044810" y="316056"/>
                  </a:lnTo>
                  <a:lnTo>
                    <a:pt x="0" y="316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5216958" y="815304"/>
              <a:ext cx="2352530" cy="1440925"/>
            </a:xfrm>
            <a:custGeom>
              <a:avLst/>
              <a:gdLst/>
              <a:ahLst/>
              <a:cxnLst/>
              <a:rect r="r" b="b" t="t" l="l"/>
              <a:pathLst>
                <a:path h="1440925" w="2352530">
                  <a:moveTo>
                    <a:pt x="0" y="0"/>
                  </a:moveTo>
                  <a:lnTo>
                    <a:pt x="2352531" y="0"/>
                  </a:lnTo>
                  <a:lnTo>
                    <a:pt x="2352531" y="1440924"/>
                  </a:lnTo>
                  <a:lnTo>
                    <a:pt x="0" y="1440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625733" y="815304"/>
              <a:ext cx="1210377" cy="1440925"/>
            </a:xfrm>
            <a:custGeom>
              <a:avLst/>
              <a:gdLst/>
              <a:ahLst/>
              <a:cxnLst/>
              <a:rect r="r" b="b" t="t" l="l"/>
              <a:pathLst>
                <a:path h="1440925" w="1210377">
                  <a:moveTo>
                    <a:pt x="0" y="0"/>
                  </a:moveTo>
                  <a:lnTo>
                    <a:pt x="1210376" y="0"/>
                  </a:lnTo>
                  <a:lnTo>
                    <a:pt x="1210376" y="1440924"/>
                  </a:lnTo>
                  <a:lnTo>
                    <a:pt x="0" y="1440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9864151" y="649227"/>
              <a:ext cx="1607001" cy="1607001"/>
            </a:xfrm>
            <a:custGeom>
              <a:avLst/>
              <a:gdLst/>
              <a:ahLst/>
              <a:cxnLst/>
              <a:rect r="r" b="b" t="t" l="l"/>
              <a:pathLst>
                <a:path h="1607001" w="1607001">
                  <a:moveTo>
                    <a:pt x="0" y="0"/>
                  </a:moveTo>
                  <a:lnTo>
                    <a:pt x="1607002" y="0"/>
                  </a:lnTo>
                  <a:lnTo>
                    <a:pt x="1607002" y="1607001"/>
                  </a:lnTo>
                  <a:lnTo>
                    <a:pt x="0" y="1607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91182" y="268228"/>
              <a:ext cx="8308950" cy="6857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00"/>
                </a:lnSpc>
              </a:pPr>
              <a:r>
                <a:rPr lang="en-US" b="true" sz="3000" i="true">
                  <a:solidFill>
                    <a:srgbClr val="242424"/>
                  </a:solidFill>
                  <a:latin typeface="TT Chocolates Bold Italics"/>
                  <a:ea typeface="TT Chocolates Bold Italics"/>
                  <a:cs typeface="TT Chocolates Bold Italics"/>
                  <a:sym typeface="TT Chocolates Bold Italics"/>
                </a:rPr>
                <a:t>Roles: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55561" y="2535564"/>
              <a:ext cx="4114508" cy="578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Product Owner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705183" y="4308609"/>
            <a:ext cx="6638553" cy="4388480"/>
            <a:chOff x="0" y="0"/>
            <a:chExt cx="8851404" cy="5851307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8851404" cy="5851307"/>
              <a:chOff x="0" y="0"/>
              <a:chExt cx="3142749" cy="2077545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142749" cy="2077545"/>
              </a:xfrm>
              <a:custGeom>
                <a:avLst/>
                <a:gdLst/>
                <a:ahLst/>
                <a:cxnLst/>
                <a:rect r="r" b="b" t="t" l="l"/>
                <a:pathLst>
                  <a:path h="2077545" w="3142749">
                    <a:moveTo>
                      <a:pt x="0" y="0"/>
                    </a:moveTo>
                    <a:lnTo>
                      <a:pt x="3142749" y="0"/>
                    </a:lnTo>
                    <a:lnTo>
                      <a:pt x="3142749" y="2077545"/>
                    </a:lnTo>
                    <a:lnTo>
                      <a:pt x="0" y="2077545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85725" cap="sq">
                <a:solidFill>
                  <a:srgbClr val="ACA18F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3142749" cy="2125170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1588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12527" y="415361"/>
              <a:ext cx="7993401" cy="49529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00"/>
                </a:lnSpc>
              </a:pPr>
              <a:r>
                <a:rPr lang="en-US" sz="3000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Las épicas se enfocan en:</a:t>
              </a:r>
            </a:p>
            <a:p>
              <a:pPr algn="just" marL="647716" indent="-323858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Interfaz accesible</a:t>
              </a:r>
            </a:p>
            <a:p>
              <a:pPr algn="just" marL="647716" indent="-323858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Tarjetas digitales</a:t>
              </a:r>
            </a:p>
            <a:p>
              <a:pPr algn="just" marL="647716" indent="-323858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Comunicación asistida</a:t>
              </a:r>
            </a:p>
            <a:p>
              <a:pPr algn="just" marL="647716" indent="-323858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Personalización</a:t>
              </a:r>
            </a:p>
            <a:p>
              <a:pPr algn="just">
                <a:lnSpc>
                  <a:spcPts val="4200"/>
                </a:lnSpc>
              </a:pPr>
              <a:r>
                <a:rPr lang="en-US" sz="3000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Cada épica se descompone en historias de usuario claras y medibles.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5989" y="1188950"/>
            <a:ext cx="2866248" cy="120678"/>
            <a:chOff x="0" y="0"/>
            <a:chExt cx="1462009" cy="615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2009" cy="61555"/>
            </a:xfrm>
            <a:custGeom>
              <a:avLst/>
              <a:gdLst/>
              <a:ahLst/>
              <a:cxnLst/>
              <a:rect r="r" b="b" t="t" l="l"/>
              <a:pathLst>
                <a:path h="61555" w="1462009">
                  <a:moveTo>
                    <a:pt x="0" y="0"/>
                  </a:moveTo>
                  <a:lnTo>
                    <a:pt x="1462009" y="0"/>
                  </a:lnTo>
                  <a:lnTo>
                    <a:pt x="1462009" y="61555"/>
                  </a:lnTo>
                  <a:lnTo>
                    <a:pt x="0" y="61555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2009" cy="99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11384" y="1188950"/>
            <a:ext cx="2866248" cy="120678"/>
            <a:chOff x="0" y="0"/>
            <a:chExt cx="1462009" cy="615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2009" cy="61555"/>
            </a:xfrm>
            <a:custGeom>
              <a:avLst/>
              <a:gdLst/>
              <a:ahLst/>
              <a:cxnLst/>
              <a:rect r="r" b="b" t="t" l="l"/>
              <a:pathLst>
                <a:path h="61555" w="1462009">
                  <a:moveTo>
                    <a:pt x="0" y="0"/>
                  </a:moveTo>
                  <a:lnTo>
                    <a:pt x="1462009" y="0"/>
                  </a:lnTo>
                  <a:lnTo>
                    <a:pt x="1462009" y="61555"/>
                  </a:lnTo>
                  <a:lnTo>
                    <a:pt x="0" y="61555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62009" cy="99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7998935">
            <a:off x="16979822" y="-1839365"/>
            <a:ext cx="2093405" cy="4114800"/>
          </a:xfrm>
          <a:custGeom>
            <a:avLst/>
            <a:gdLst/>
            <a:ahLst/>
            <a:cxnLst/>
            <a:rect r="r" b="b" t="t" l="l"/>
            <a:pathLst>
              <a:path h="4114800" w="2093405">
                <a:moveTo>
                  <a:pt x="0" y="0"/>
                </a:moveTo>
                <a:lnTo>
                  <a:pt x="2093405" y="0"/>
                </a:lnTo>
                <a:lnTo>
                  <a:pt x="20934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9" id="9"/>
          <p:cNvGraphicFramePr/>
          <p:nvPr/>
        </p:nvGraphicFramePr>
        <p:xfrm>
          <a:off x="9411384" y="187866"/>
          <a:ext cx="10560796" cy="2154205"/>
        </p:xfrm>
        <a:graphic>
          <a:graphicData uri="http://schemas.openxmlformats.org/presentationml/2006/ole">
            <p:oleObj imgW="12661900" imgH="4267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10" id="10"/>
          <p:cNvSpPr/>
          <p:nvPr/>
        </p:nvSpPr>
        <p:spPr>
          <a:xfrm flipH="false" flipV="false" rot="-8100000">
            <a:off x="16979822" y="8063572"/>
            <a:ext cx="2093405" cy="4114800"/>
          </a:xfrm>
          <a:custGeom>
            <a:avLst/>
            <a:gdLst/>
            <a:ahLst/>
            <a:cxnLst/>
            <a:rect r="r" b="b" t="t" l="l"/>
            <a:pathLst>
              <a:path h="4114800" w="2093405">
                <a:moveTo>
                  <a:pt x="0" y="0"/>
                </a:moveTo>
                <a:lnTo>
                  <a:pt x="2093405" y="0"/>
                </a:lnTo>
                <a:lnTo>
                  <a:pt x="20934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11" id="11"/>
          <p:cNvGraphicFramePr/>
          <p:nvPr/>
        </p:nvGraphicFramePr>
        <p:xfrm>
          <a:off x="525529" y="1625871"/>
          <a:ext cx="23888700" cy="2933700"/>
        </p:xfrm>
        <a:graphic>
          <a:graphicData uri="http://schemas.openxmlformats.org/presentationml/2006/ole">
            <p:oleObj imgW="28663900" imgH="77089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245989" y="37060"/>
            <a:ext cx="6050075" cy="1151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CRONOGRAMA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408589" y="7284532"/>
            <a:ext cx="7632786" cy="1451578"/>
            <a:chOff x="0" y="0"/>
            <a:chExt cx="10177048" cy="1935438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95305" y="51643"/>
              <a:ext cx="7468509" cy="17972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67"/>
                </a:lnSpc>
              </a:pPr>
              <a:r>
                <a:rPr lang="en-US" sz="2619" b="true">
                  <a:solidFill>
                    <a:srgbClr val="242424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Fase 1:</a:t>
              </a:r>
              <a:r>
                <a:rPr lang="en-US" sz="2619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      Definición de la idea principal</a:t>
              </a:r>
            </a:p>
            <a:p>
              <a:pPr algn="l">
                <a:lnSpc>
                  <a:spcPts val="3667"/>
                </a:lnSpc>
              </a:pPr>
              <a:r>
                <a:rPr lang="en-US" sz="2619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                  Asignación de roles</a:t>
              </a:r>
            </a:p>
            <a:p>
              <a:pPr algn="l">
                <a:lnSpc>
                  <a:spcPts val="3667"/>
                </a:lnSpc>
              </a:pPr>
              <a:r>
                <a:rPr lang="en-US" sz="2619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                  Selección de la metodología</a:t>
              </a: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1363850" y="108793"/>
              <a:ext cx="509760" cy="446040"/>
              <a:chOff x="0" y="0"/>
              <a:chExt cx="812800" cy="7112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77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363850" y="726614"/>
              <a:ext cx="509760" cy="446040"/>
              <a:chOff x="0" y="0"/>
              <a:chExt cx="812800" cy="7112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77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363850" y="1348728"/>
              <a:ext cx="509760" cy="446040"/>
              <a:chOff x="0" y="0"/>
              <a:chExt cx="812800" cy="7112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77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0"/>
              <a:ext cx="10177048" cy="1935438"/>
              <a:chOff x="0" y="0"/>
              <a:chExt cx="3613428" cy="68719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3613428" cy="687190"/>
              </a:xfrm>
              <a:custGeom>
                <a:avLst/>
                <a:gdLst/>
                <a:ahLst/>
                <a:cxnLst/>
                <a:rect r="r" b="b" t="t" l="l"/>
                <a:pathLst>
                  <a:path h="687190" w="3613428">
                    <a:moveTo>
                      <a:pt x="0" y="0"/>
                    </a:moveTo>
                    <a:lnTo>
                      <a:pt x="3613428" y="0"/>
                    </a:lnTo>
                    <a:lnTo>
                      <a:pt x="3613428" y="687190"/>
                    </a:lnTo>
                    <a:lnTo>
                      <a:pt x="0" y="6871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>
                <a:solidFill>
                  <a:srgbClr val="ACA18F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47625"/>
                <a:ext cx="3613428" cy="734815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1588"/>
                  </a:lnSpc>
                </a:pP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0">
            <a:off x="1408589" y="8840885"/>
            <a:ext cx="8592274" cy="1446115"/>
            <a:chOff x="0" y="0"/>
            <a:chExt cx="11456366" cy="1928153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95305" y="66675"/>
              <a:ext cx="11361061" cy="18614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67"/>
                </a:lnSpc>
              </a:pPr>
              <a:r>
                <a:rPr lang="en-US" sz="2691" b="true">
                  <a:solidFill>
                    <a:srgbClr val="242424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Fase 2:</a:t>
              </a:r>
              <a:r>
                <a:rPr lang="en-US" sz="2691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      Documentación base</a:t>
              </a:r>
            </a:p>
            <a:p>
              <a:pPr algn="l">
                <a:lnSpc>
                  <a:spcPts val="3767"/>
                </a:lnSpc>
              </a:pPr>
              <a:r>
                <a:rPr lang="en-US" sz="2691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                   Programación y construcción del proyecto</a:t>
              </a:r>
            </a:p>
            <a:p>
              <a:pPr algn="l">
                <a:lnSpc>
                  <a:spcPts val="3767"/>
                </a:lnSpc>
              </a:pPr>
              <a:r>
                <a:rPr lang="en-US" sz="2691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                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0">
              <a:off x="1550479" y="116242"/>
              <a:ext cx="509760" cy="446040"/>
              <a:chOff x="0" y="0"/>
              <a:chExt cx="812800" cy="7112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77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1550479" y="734064"/>
              <a:ext cx="509760" cy="446040"/>
              <a:chOff x="0" y="0"/>
              <a:chExt cx="812800" cy="7112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77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0"/>
              <a:ext cx="10450713" cy="1611298"/>
              <a:chOff x="0" y="0"/>
              <a:chExt cx="3710594" cy="572102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3710594" cy="572102"/>
              </a:xfrm>
              <a:custGeom>
                <a:avLst/>
                <a:gdLst/>
                <a:ahLst/>
                <a:cxnLst/>
                <a:rect r="r" b="b" t="t" l="l"/>
                <a:pathLst>
                  <a:path h="572102" w="3710594">
                    <a:moveTo>
                      <a:pt x="0" y="0"/>
                    </a:moveTo>
                    <a:lnTo>
                      <a:pt x="3710594" y="0"/>
                    </a:lnTo>
                    <a:lnTo>
                      <a:pt x="3710594" y="572102"/>
                    </a:lnTo>
                    <a:lnTo>
                      <a:pt x="0" y="57210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>
                <a:solidFill>
                  <a:srgbClr val="ACA18F"/>
                </a:soli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47625"/>
                <a:ext cx="3710594" cy="619727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1588"/>
                  </a:lnSpc>
                </a:pPr>
              </a:p>
            </p:txBody>
          </p:sp>
        </p:grpSp>
      </p:grpSp>
      <p:grpSp>
        <p:nvGrpSpPr>
          <p:cNvPr name="Group 38" id="38"/>
          <p:cNvGrpSpPr/>
          <p:nvPr/>
        </p:nvGrpSpPr>
        <p:grpSpPr>
          <a:xfrm rot="0">
            <a:off x="9246624" y="7279523"/>
            <a:ext cx="7632786" cy="1451578"/>
            <a:chOff x="0" y="0"/>
            <a:chExt cx="10177048" cy="1935438"/>
          </a:xfrm>
        </p:grpSpPr>
        <p:sp>
          <p:nvSpPr>
            <p:cNvPr name="TextBox 39" id="39"/>
            <p:cNvSpPr txBox="true"/>
            <p:nvPr/>
          </p:nvSpPr>
          <p:spPr>
            <a:xfrm rot="0">
              <a:off x="252361" y="58321"/>
              <a:ext cx="8771000" cy="1761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3"/>
                </a:lnSpc>
              </a:pPr>
              <a:r>
                <a:rPr lang="en-US" sz="2545" b="true">
                  <a:solidFill>
                    <a:srgbClr val="242424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Fase 3:</a:t>
              </a:r>
              <a:r>
                <a:rPr lang="en-US" sz="2545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       Reunión  con clientes final</a:t>
              </a:r>
            </a:p>
            <a:p>
              <a:pPr algn="l">
                <a:lnSpc>
                  <a:spcPts val="3563"/>
                </a:lnSpc>
              </a:pPr>
              <a:r>
                <a:rPr lang="en-US" sz="2545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                    Ajustes y mejoras finales</a:t>
              </a:r>
            </a:p>
            <a:p>
              <a:pPr algn="l">
                <a:lnSpc>
                  <a:spcPts val="3563"/>
                </a:lnSpc>
              </a:pPr>
              <a:r>
                <a:rPr lang="en-US" sz="2545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                    Entrega de documentación Final</a:t>
              </a:r>
            </a:p>
          </p:txBody>
        </p:sp>
        <p:grpSp>
          <p:nvGrpSpPr>
            <p:cNvPr name="Group 40" id="40"/>
            <p:cNvGrpSpPr/>
            <p:nvPr/>
          </p:nvGrpSpPr>
          <p:grpSpPr>
            <a:xfrm rot="0">
              <a:off x="1610679" y="115471"/>
              <a:ext cx="509760" cy="446040"/>
              <a:chOff x="0" y="0"/>
              <a:chExt cx="812800" cy="7112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77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1610679" y="737584"/>
              <a:ext cx="509760" cy="446040"/>
              <a:chOff x="0" y="0"/>
              <a:chExt cx="812800" cy="7112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77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1610679" y="1359698"/>
              <a:ext cx="509760" cy="446040"/>
              <a:chOff x="0" y="0"/>
              <a:chExt cx="812800" cy="7112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77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0" y="0"/>
              <a:ext cx="10177048" cy="1935438"/>
              <a:chOff x="0" y="0"/>
              <a:chExt cx="3613428" cy="68719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3613428" cy="687190"/>
              </a:xfrm>
              <a:custGeom>
                <a:avLst/>
                <a:gdLst/>
                <a:ahLst/>
                <a:cxnLst/>
                <a:rect r="r" b="b" t="t" l="l"/>
                <a:pathLst>
                  <a:path h="687190" w="3613428">
                    <a:moveTo>
                      <a:pt x="0" y="0"/>
                    </a:moveTo>
                    <a:lnTo>
                      <a:pt x="3613428" y="0"/>
                    </a:lnTo>
                    <a:lnTo>
                      <a:pt x="3613428" y="687190"/>
                    </a:lnTo>
                    <a:lnTo>
                      <a:pt x="0" y="6871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>
                <a:solidFill>
                  <a:srgbClr val="ACA18F"/>
                </a:solidFill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47625"/>
                <a:ext cx="3613428" cy="734815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1588"/>
                  </a:lnSpc>
                </a:pPr>
              </a:p>
            </p:txBody>
          </p:sp>
        </p:grpSp>
      </p:grpSp>
      <p:sp>
        <p:nvSpPr>
          <p:cNvPr name="TextBox 52" id="52"/>
          <p:cNvSpPr txBox="true"/>
          <p:nvPr/>
        </p:nvSpPr>
        <p:spPr>
          <a:xfrm rot="0">
            <a:off x="13567653" y="9347725"/>
            <a:ext cx="331175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NeuroVoice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6883493" y="-2057400"/>
            <a:ext cx="2093405" cy="4114800"/>
          </a:xfrm>
          <a:custGeom>
            <a:avLst/>
            <a:gdLst/>
            <a:ahLst/>
            <a:cxnLst/>
            <a:rect r="r" b="b" t="t" l="l"/>
            <a:pathLst>
              <a:path h="4114800" w="2093405">
                <a:moveTo>
                  <a:pt x="0" y="0"/>
                </a:moveTo>
                <a:lnTo>
                  <a:pt x="2093404" y="0"/>
                </a:lnTo>
                <a:lnTo>
                  <a:pt x="20934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10192" y="8229600"/>
            <a:ext cx="2093405" cy="4114800"/>
          </a:xfrm>
          <a:custGeom>
            <a:avLst/>
            <a:gdLst/>
            <a:ahLst/>
            <a:cxnLst/>
            <a:rect r="r" b="b" t="t" l="l"/>
            <a:pathLst>
              <a:path h="4114800" w="2093405">
                <a:moveTo>
                  <a:pt x="0" y="0"/>
                </a:moveTo>
                <a:lnTo>
                  <a:pt x="2093404" y="0"/>
                </a:lnTo>
                <a:lnTo>
                  <a:pt x="20934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80617" y="2157608"/>
            <a:ext cx="3741107" cy="601249"/>
          </a:xfrm>
          <a:custGeom>
            <a:avLst/>
            <a:gdLst/>
            <a:ahLst/>
            <a:cxnLst/>
            <a:rect r="r" b="b" t="t" l="l"/>
            <a:pathLst>
              <a:path h="601249" w="3741107">
                <a:moveTo>
                  <a:pt x="0" y="0"/>
                </a:moveTo>
                <a:lnTo>
                  <a:pt x="3741107" y="0"/>
                </a:lnTo>
                <a:lnTo>
                  <a:pt x="3741107" y="601250"/>
                </a:lnTo>
                <a:lnTo>
                  <a:pt x="0" y="60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8943" t="-542361" r="-131459" b="-60584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04005" y="1028700"/>
            <a:ext cx="13679989" cy="7834431"/>
          </a:xfrm>
          <a:custGeom>
            <a:avLst/>
            <a:gdLst/>
            <a:ahLst/>
            <a:cxnLst/>
            <a:rect r="r" b="b" t="t" l="l"/>
            <a:pathLst>
              <a:path h="7834431" w="13679989">
                <a:moveTo>
                  <a:pt x="0" y="0"/>
                </a:moveTo>
                <a:lnTo>
                  <a:pt x="13679990" y="0"/>
                </a:lnTo>
                <a:lnTo>
                  <a:pt x="13679990" y="7834431"/>
                </a:lnTo>
                <a:lnTo>
                  <a:pt x="0" y="78344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65447" y="7329003"/>
            <a:ext cx="960903" cy="1064239"/>
          </a:xfrm>
          <a:custGeom>
            <a:avLst/>
            <a:gdLst/>
            <a:ahLst/>
            <a:cxnLst/>
            <a:rect r="r" b="b" t="t" l="l"/>
            <a:pathLst>
              <a:path h="1064239" w="960903">
                <a:moveTo>
                  <a:pt x="0" y="0"/>
                </a:moveTo>
                <a:lnTo>
                  <a:pt x="960904" y="0"/>
                </a:lnTo>
                <a:lnTo>
                  <a:pt x="960904" y="1064238"/>
                </a:lnTo>
                <a:lnTo>
                  <a:pt x="0" y="10642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30278" y="3012903"/>
            <a:ext cx="1452976" cy="1112187"/>
          </a:xfrm>
          <a:custGeom>
            <a:avLst/>
            <a:gdLst/>
            <a:ahLst/>
            <a:cxnLst/>
            <a:rect r="r" b="b" t="t" l="l"/>
            <a:pathLst>
              <a:path h="1112187" w="1452976">
                <a:moveTo>
                  <a:pt x="0" y="0"/>
                </a:moveTo>
                <a:lnTo>
                  <a:pt x="1452975" y="0"/>
                </a:lnTo>
                <a:lnTo>
                  <a:pt x="1452975" y="1112187"/>
                </a:lnTo>
                <a:lnTo>
                  <a:pt x="0" y="11121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165035" y="1575801"/>
            <a:ext cx="1227513" cy="1163615"/>
          </a:xfrm>
          <a:custGeom>
            <a:avLst/>
            <a:gdLst/>
            <a:ahLst/>
            <a:cxnLst/>
            <a:rect r="r" b="b" t="t" l="l"/>
            <a:pathLst>
              <a:path h="1163615" w="1227513">
                <a:moveTo>
                  <a:pt x="0" y="0"/>
                </a:moveTo>
                <a:lnTo>
                  <a:pt x="1227514" y="0"/>
                </a:lnTo>
                <a:lnTo>
                  <a:pt x="1227514" y="1163615"/>
                </a:lnTo>
                <a:lnTo>
                  <a:pt x="0" y="11636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6510" y="-123190"/>
            <a:ext cx="6088214" cy="1151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ARQUITECTURA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73681" y="8628808"/>
            <a:ext cx="11140637" cy="1820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La arquitectura se basa en dos repositorios separados.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Ambos se comunican mediante una API, que se encarga de enviar y recibir datos entre la aplicación y la base de datos, la cual está gestionada desde el backend.</a:t>
            </a:r>
          </a:p>
          <a:p>
            <a:pPr algn="just">
              <a:lnSpc>
                <a:spcPts val="3602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4165035" y="9348130"/>
            <a:ext cx="331175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NeuroVoice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5551" y="2734077"/>
            <a:ext cx="243225" cy="261738"/>
            <a:chOff x="0" y="0"/>
            <a:chExt cx="64059" cy="689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059" cy="68935"/>
            </a:xfrm>
            <a:custGeom>
              <a:avLst/>
              <a:gdLst/>
              <a:ahLst/>
              <a:cxnLst/>
              <a:rect r="r" b="b" t="t" l="l"/>
              <a:pathLst>
                <a:path h="68935" w="64059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7310591" y="-357638"/>
            <a:ext cx="492984" cy="2279693"/>
          </a:xfrm>
          <a:custGeom>
            <a:avLst/>
            <a:gdLst/>
            <a:ahLst/>
            <a:cxnLst/>
            <a:rect r="r" b="b" t="t" l="l"/>
            <a:pathLst>
              <a:path h="2279693" w="492984">
                <a:moveTo>
                  <a:pt x="0" y="0"/>
                </a:moveTo>
                <a:lnTo>
                  <a:pt x="492984" y="0"/>
                </a:lnTo>
                <a:lnTo>
                  <a:pt x="492984" y="2279693"/>
                </a:lnTo>
                <a:lnTo>
                  <a:pt x="0" y="22796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17589" y="2180734"/>
            <a:ext cx="8373262" cy="2857991"/>
            <a:chOff x="0" y="0"/>
            <a:chExt cx="3963976" cy="1352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63975" cy="1352998"/>
            </a:xfrm>
            <a:custGeom>
              <a:avLst/>
              <a:gdLst/>
              <a:ahLst/>
              <a:cxnLst/>
              <a:rect r="r" b="b" t="t" l="l"/>
              <a:pathLst>
                <a:path h="1352998" w="3963975">
                  <a:moveTo>
                    <a:pt x="0" y="0"/>
                  </a:moveTo>
                  <a:lnTo>
                    <a:pt x="3963975" y="0"/>
                  </a:lnTo>
                  <a:lnTo>
                    <a:pt x="3963975" y="1352998"/>
                  </a:lnTo>
                  <a:lnTo>
                    <a:pt x="0" y="13529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963976" cy="1400623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75551" y="5626041"/>
            <a:ext cx="243225" cy="261738"/>
            <a:chOff x="0" y="0"/>
            <a:chExt cx="64059" cy="6893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059" cy="68935"/>
            </a:xfrm>
            <a:custGeom>
              <a:avLst/>
              <a:gdLst/>
              <a:ahLst/>
              <a:cxnLst/>
              <a:rect r="r" b="b" t="t" l="l"/>
              <a:pathLst>
                <a:path h="68935" w="64059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03648" y="6230302"/>
            <a:ext cx="7893502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Recursos gráficos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íconos e imágenes de uso libre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Dispositivo objetivo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Android / iOS</a:t>
            </a:r>
          </a:p>
          <a:p>
            <a:pPr algn="l">
              <a:lnSpc>
                <a:spcPts val="294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403648" y="5324475"/>
            <a:ext cx="3946751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HERRAMIENTAS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654833" y="2734077"/>
            <a:ext cx="243225" cy="261738"/>
            <a:chOff x="0" y="0"/>
            <a:chExt cx="64059" cy="689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059" cy="68935"/>
            </a:xfrm>
            <a:custGeom>
              <a:avLst/>
              <a:gdLst/>
              <a:ahLst/>
              <a:cxnLst/>
              <a:rect r="r" b="b" t="t" l="l"/>
              <a:pathLst>
                <a:path h="68935" w="64059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182930" y="3338339"/>
            <a:ext cx="5153938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Framework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Ionic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Lenguaje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TypeScript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Base de datos local: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IndexedDB</a:t>
            </a:r>
          </a:p>
          <a:p>
            <a:pPr algn="l">
              <a:lnSpc>
                <a:spcPts val="294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182930" y="2432511"/>
            <a:ext cx="3025859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FRONTEND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17589" y="5248275"/>
            <a:ext cx="8373262" cy="2857991"/>
            <a:chOff x="0" y="0"/>
            <a:chExt cx="3963976" cy="135299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63975" cy="1352998"/>
            </a:xfrm>
            <a:custGeom>
              <a:avLst/>
              <a:gdLst/>
              <a:ahLst/>
              <a:cxnLst/>
              <a:rect r="r" b="b" t="t" l="l"/>
              <a:pathLst>
                <a:path h="1352998" w="3963975">
                  <a:moveTo>
                    <a:pt x="0" y="0"/>
                  </a:moveTo>
                  <a:lnTo>
                    <a:pt x="3963975" y="0"/>
                  </a:lnTo>
                  <a:lnTo>
                    <a:pt x="3963975" y="1352998"/>
                  </a:lnTo>
                  <a:lnTo>
                    <a:pt x="0" y="13529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3963976" cy="1400623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297149" y="2180734"/>
            <a:ext cx="8373262" cy="2857991"/>
            <a:chOff x="0" y="0"/>
            <a:chExt cx="3963976" cy="135299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963975" cy="1352998"/>
            </a:xfrm>
            <a:custGeom>
              <a:avLst/>
              <a:gdLst/>
              <a:ahLst/>
              <a:cxnLst/>
              <a:rect r="r" b="b" t="t" l="l"/>
              <a:pathLst>
                <a:path h="1352998" w="3963975">
                  <a:moveTo>
                    <a:pt x="0" y="0"/>
                  </a:moveTo>
                  <a:lnTo>
                    <a:pt x="3963975" y="0"/>
                  </a:lnTo>
                  <a:lnTo>
                    <a:pt x="3963975" y="1352998"/>
                  </a:lnTo>
                  <a:lnTo>
                    <a:pt x="0" y="13529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3963976" cy="1400623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7122237" y="2409482"/>
            <a:ext cx="1528504" cy="1661417"/>
          </a:xfrm>
          <a:custGeom>
            <a:avLst/>
            <a:gdLst/>
            <a:ahLst/>
            <a:cxnLst/>
            <a:rect r="r" b="b" t="t" l="l"/>
            <a:pathLst>
              <a:path h="1661417" w="1528504">
                <a:moveTo>
                  <a:pt x="0" y="0"/>
                </a:moveTo>
                <a:lnTo>
                  <a:pt x="1528504" y="0"/>
                </a:lnTo>
                <a:lnTo>
                  <a:pt x="1528504" y="1661416"/>
                </a:lnTo>
                <a:lnTo>
                  <a:pt x="0" y="16614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622618" y="2475087"/>
            <a:ext cx="1636682" cy="1636682"/>
          </a:xfrm>
          <a:custGeom>
            <a:avLst/>
            <a:gdLst/>
            <a:ahLst/>
            <a:cxnLst/>
            <a:rect r="r" b="b" t="t" l="l"/>
            <a:pathLst>
              <a:path h="1636682" w="1636682">
                <a:moveTo>
                  <a:pt x="0" y="0"/>
                </a:moveTo>
                <a:lnTo>
                  <a:pt x="1636682" y="0"/>
                </a:lnTo>
                <a:lnTo>
                  <a:pt x="1636682" y="1636682"/>
                </a:lnTo>
                <a:lnTo>
                  <a:pt x="0" y="16366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1709475" y="6029325"/>
            <a:ext cx="5960936" cy="200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TECNOLOGÍAS USADAS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03648" y="3338339"/>
            <a:ext cx="5432840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Framework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Flask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Lenguaje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Python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Base de datos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SQLite</a:t>
            </a:r>
          </a:p>
          <a:p>
            <a:pPr algn="l">
              <a:lnSpc>
                <a:spcPts val="294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403648" y="2432511"/>
            <a:ext cx="3025859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BACKEND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08310" y="9614247"/>
            <a:ext cx="331175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NeuroVoice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75949" y="5760538"/>
            <a:ext cx="10667520" cy="47625"/>
            <a:chOff x="0" y="0"/>
            <a:chExt cx="2809553" cy="1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09553" cy="12543"/>
            </a:xfrm>
            <a:custGeom>
              <a:avLst/>
              <a:gdLst/>
              <a:ahLst/>
              <a:cxnLst/>
              <a:rect r="r" b="b" t="t" l="l"/>
              <a:pathLst>
                <a:path h="12543" w="2809553">
                  <a:moveTo>
                    <a:pt x="0" y="0"/>
                  </a:moveTo>
                  <a:lnTo>
                    <a:pt x="2809553" y="0"/>
                  </a:lnTo>
                  <a:lnTo>
                    <a:pt x="2809553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09553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15769" y="4557395"/>
            <a:ext cx="12256462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DEMOSTRACIÓN DE LA APLICACIÓN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08049" y="9258300"/>
            <a:ext cx="5899432" cy="2206858"/>
            <a:chOff x="0" y="0"/>
            <a:chExt cx="1553760" cy="5812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53760" cy="581230"/>
            </a:xfrm>
            <a:custGeom>
              <a:avLst/>
              <a:gdLst/>
              <a:ahLst/>
              <a:cxnLst/>
              <a:rect r="r" b="b" t="t" l="l"/>
              <a:pathLst>
                <a:path h="581230" w="1553760">
                  <a:moveTo>
                    <a:pt x="0" y="0"/>
                  </a:moveTo>
                  <a:lnTo>
                    <a:pt x="1553760" y="0"/>
                  </a:lnTo>
                  <a:lnTo>
                    <a:pt x="1553760" y="581230"/>
                  </a:lnTo>
                  <a:lnTo>
                    <a:pt x="0" y="58123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53760" cy="619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6236994" y="-1864147"/>
            <a:ext cx="1028700" cy="4756994"/>
          </a:xfrm>
          <a:custGeom>
            <a:avLst/>
            <a:gdLst/>
            <a:ahLst/>
            <a:cxnLst/>
            <a:rect r="r" b="b" t="t" l="l"/>
            <a:pathLst>
              <a:path h="4756994" w="1028700">
                <a:moveTo>
                  <a:pt x="0" y="0"/>
                </a:moveTo>
                <a:lnTo>
                  <a:pt x="1028700" y="0"/>
                </a:lnTo>
                <a:lnTo>
                  <a:pt x="1028700" y="4756994"/>
                </a:lnTo>
                <a:lnTo>
                  <a:pt x="0" y="47569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9001" y="2910815"/>
            <a:ext cx="5769049" cy="6152851"/>
            <a:chOff x="0" y="0"/>
            <a:chExt cx="3037749" cy="32398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37749" cy="3239844"/>
            </a:xfrm>
            <a:custGeom>
              <a:avLst/>
              <a:gdLst/>
              <a:ahLst/>
              <a:cxnLst/>
              <a:rect r="r" b="b" t="t" l="l"/>
              <a:pathLst>
                <a:path h="3239844" w="3037749">
                  <a:moveTo>
                    <a:pt x="0" y="0"/>
                  </a:moveTo>
                  <a:lnTo>
                    <a:pt x="3037749" y="0"/>
                  </a:lnTo>
                  <a:lnTo>
                    <a:pt x="3037749" y="3239844"/>
                  </a:lnTo>
                  <a:lnTo>
                    <a:pt x="0" y="32398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037749" cy="3287468"/>
            </a:xfrm>
            <a:prstGeom prst="rect">
              <a:avLst/>
            </a:prstGeom>
          </p:spPr>
          <p:txBody>
            <a:bodyPr anchor="ctr" rtlCol="false" tIns="43942" lIns="43942" bIns="43942" rIns="43942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261801" y="2910815"/>
            <a:ext cx="5769049" cy="6152851"/>
            <a:chOff x="0" y="0"/>
            <a:chExt cx="3037749" cy="32398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37749" cy="3239844"/>
            </a:xfrm>
            <a:custGeom>
              <a:avLst/>
              <a:gdLst/>
              <a:ahLst/>
              <a:cxnLst/>
              <a:rect r="r" b="b" t="t" l="l"/>
              <a:pathLst>
                <a:path h="3239844" w="3037749">
                  <a:moveTo>
                    <a:pt x="0" y="0"/>
                  </a:moveTo>
                  <a:lnTo>
                    <a:pt x="3037749" y="0"/>
                  </a:lnTo>
                  <a:lnTo>
                    <a:pt x="3037749" y="3239844"/>
                  </a:lnTo>
                  <a:lnTo>
                    <a:pt x="0" y="32398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3037749" cy="3287468"/>
            </a:xfrm>
            <a:prstGeom prst="rect">
              <a:avLst/>
            </a:prstGeom>
          </p:spPr>
          <p:txBody>
            <a:bodyPr anchor="ctr" rtlCol="false" tIns="43942" lIns="43942" bIns="43942" rIns="43942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449950" y="2910815"/>
            <a:ext cx="5769049" cy="6152851"/>
            <a:chOff x="0" y="0"/>
            <a:chExt cx="3037749" cy="32398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37749" cy="3239844"/>
            </a:xfrm>
            <a:custGeom>
              <a:avLst/>
              <a:gdLst/>
              <a:ahLst/>
              <a:cxnLst/>
              <a:rect r="r" b="b" t="t" l="l"/>
              <a:pathLst>
                <a:path h="3239844" w="3037749">
                  <a:moveTo>
                    <a:pt x="0" y="0"/>
                  </a:moveTo>
                  <a:lnTo>
                    <a:pt x="3037749" y="0"/>
                  </a:lnTo>
                  <a:lnTo>
                    <a:pt x="3037749" y="3239844"/>
                  </a:lnTo>
                  <a:lnTo>
                    <a:pt x="0" y="32398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037749" cy="3287468"/>
            </a:xfrm>
            <a:prstGeom prst="rect">
              <a:avLst/>
            </a:prstGeom>
          </p:spPr>
          <p:txBody>
            <a:bodyPr anchor="ctr" rtlCol="false" tIns="43942" lIns="43942" bIns="43942" rIns="43942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073126" y="6853800"/>
            <a:ext cx="1760799" cy="1830698"/>
          </a:xfrm>
          <a:custGeom>
            <a:avLst/>
            <a:gdLst/>
            <a:ahLst/>
            <a:cxnLst/>
            <a:rect r="r" b="b" t="t" l="l"/>
            <a:pathLst>
              <a:path h="1830698" w="1760799">
                <a:moveTo>
                  <a:pt x="0" y="0"/>
                </a:moveTo>
                <a:lnTo>
                  <a:pt x="1760799" y="0"/>
                </a:lnTo>
                <a:lnTo>
                  <a:pt x="1760799" y="1830699"/>
                </a:lnTo>
                <a:lnTo>
                  <a:pt x="0" y="18306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972837" y="6450873"/>
            <a:ext cx="2346976" cy="2346976"/>
          </a:xfrm>
          <a:custGeom>
            <a:avLst/>
            <a:gdLst/>
            <a:ahLst/>
            <a:cxnLst/>
            <a:rect r="r" b="b" t="t" l="l"/>
            <a:pathLst>
              <a:path h="2346976" w="2346976">
                <a:moveTo>
                  <a:pt x="0" y="0"/>
                </a:moveTo>
                <a:lnTo>
                  <a:pt x="2346976" y="0"/>
                </a:lnTo>
                <a:lnTo>
                  <a:pt x="2346976" y="2346977"/>
                </a:lnTo>
                <a:lnTo>
                  <a:pt x="0" y="2346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333511" y="6784566"/>
            <a:ext cx="2001925" cy="1969167"/>
          </a:xfrm>
          <a:custGeom>
            <a:avLst/>
            <a:gdLst/>
            <a:ahLst/>
            <a:cxnLst/>
            <a:rect r="r" b="b" t="t" l="l"/>
            <a:pathLst>
              <a:path h="1969167" w="2001925">
                <a:moveTo>
                  <a:pt x="0" y="0"/>
                </a:moveTo>
                <a:lnTo>
                  <a:pt x="2001926" y="0"/>
                </a:lnTo>
                <a:lnTo>
                  <a:pt x="2001926" y="1969167"/>
                </a:lnTo>
                <a:lnTo>
                  <a:pt x="0" y="19691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41667" y="194029"/>
            <a:ext cx="12027040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OBSTACULOS EN EL DESARROLLO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2404" y="1494130"/>
            <a:ext cx="9610775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Durante el desarrollo del proyecto, enfrentamos diversas dificultades que afectaron su avance: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41667" y="9536378"/>
            <a:ext cx="331175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NeuroVoice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455187" y="3189536"/>
            <a:ext cx="5378039" cy="252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Coordinación del equipo y planificación de Sprints.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Cambios frecuentes en los requisitos.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Dificultad para priorizar tareas.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2649975" y="3189536"/>
            <a:ext cx="5378039" cy="335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Limitaciones de tiempo.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Dificul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tades en la toma de decisiones en momentos críticos.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Situ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aciones personales que afectaron concentración y disponibilidad.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264637" y="3189536"/>
            <a:ext cx="5378039" cy="377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Errores y bugs en el código.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Integración de distintas tecnologías.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Dependencias externas y librerías.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Limitaciones de infraestructura y recursos.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Falta de documentación o referencias.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02229" y="2386939"/>
            <a:ext cx="212890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Técnicas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660029" y="2386939"/>
            <a:ext cx="279864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Organizativas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13618" y="2386939"/>
            <a:ext cx="247680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Personales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69909" y="2286230"/>
            <a:ext cx="3086100" cy="85998"/>
            <a:chOff x="0" y="0"/>
            <a:chExt cx="812800" cy="22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2650"/>
            </a:xfrm>
            <a:custGeom>
              <a:avLst/>
              <a:gdLst/>
              <a:ahLst/>
              <a:cxnLst/>
              <a:rect r="r" b="b" t="t" l="l"/>
              <a:pathLst>
                <a:path h="2265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275945"/>
            <a:ext cx="9891989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LECCIONES APRENDIDAS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47543" y="438231"/>
            <a:ext cx="331175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NeuroVoice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9447" y="3134462"/>
            <a:ext cx="4681166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Tecnologías y desarrollo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73707" y="3173019"/>
            <a:ext cx="3894169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Metodología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97129" y="3675770"/>
            <a:ext cx="4668852" cy="3118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Adaptación a horarios</a:t>
            </a:r>
          </a:p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Coordinación en equipo</a:t>
            </a:r>
          </a:p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Adaptabilidad al cambio</a:t>
            </a:r>
          </a:p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Manejo de problemas personales</a:t>
            </a:r>
          </a:p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Crecimiento personal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97129" y="3134462"/>
            <a:ext cx="4466392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Personal y profesional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12959" y="3780083"/>
            <a:ext cx="4879116" cy="259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Gestión por épicas</a:t>
            </a:r>
          </a:p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Planific</a:t>
            </a: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ación con Sprints</a:t>
            </a:r>
          </a:p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Metodología ágil</a:t>
            </a:r>
          </a:p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Retroalimentación continua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675770"/>
            <a:ext cx="5532859" cy="363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Manejo de Flask</a:t>
            </a:r>
          </a:p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Creación de API</a:t>
            </a:r>
          </a:p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Uso de SQLite</a:t>
            </a:r>
          </a:p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Personalización de la App</a:t>
            </a:r>
          </a:p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Implementación de TTS</a:t>
            </a:r>
          </a:p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Desarrollo front–back</a:t>
            </a:r>
          </a:p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Proyecto desde cero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8700" y="3003467"/>
            <a:ext cx="4945995" cy="4752949"/>
            <a:chOff x="0" y="0"/>
            <a:chExt cx="2341477" cy="22500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41477" cy="2250087"/>
            </a:xfrm>
            <a:custGeom>
              <a:avLst/>
              <a:gdLst/>
              <a:ahLst/>
              <a:cxnLst/>
              <a:rect r="r" b="b" t="t" l="l"/>
              <a:pathLst>
                <a:path h="2250087" w="2341477">
                  <a:moveTo>
                    <a:pt x="0" y="0"/>
                  </a:moveTo>
                  <a:lnTo>
                    <a:pt x="2341477" y="0"/>
                  </a:lnTo>
                  <a:lnTo>
                    <a:pt x="2341477" y="2250087"/>
                  </a:lnTo>
                  <a:lnTo>
                    <a:pt x="0" y="22500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341477" cy="2297712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997129" y="3003467"/>
            <a:ext cx="4945995" cy="4752949"/>
            <a:chOff x="0" y="0"/>
            <a:chExt cx="2341477" cy="225008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41477" cy="2250087"/>
            </a:xfrm>
            <a:custGeom>
              <a:avLst/>
              <a:gdLst/>
              <a:ahLst/>
              <a:cxnLst/>
              <a:rect r="r" b="b" t="t" l="l"/>
              <a:pathLst>
                <a:path h="2250087" w="2341477">
                  <a:moveTo>
                    <a:pt x="0" y="0"/>
                  </a:moveTo>
                  <a:lnTo>
                    <a:pt x="2341477" y="0"/>
                  </a:lnTo>
                  <a:lnTo>
                    <a:pt x="2341477" y="2250087"/>
                  </a:lnTo>
                  <a:lnTo>
                    <a:pt x="0" y="22500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341477" cy="2297712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412959" y="3003467"/>
            <a:ext cx="4945995" cy="4752949"/>
            <a:chOff x="0" y="0"/>
            <a:chExt cx="2341477" cy="225008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41477" cy="2250087"/>
            </a:xfrm>
            <a:custGeom>
              <a:avLst/>
              <a:gdLst/>
              <a:ahLst/>
              <a:cxnLst/>
              <a:rect r="r" b="b" t="t" l="l"/>
              <a:pathLst>
                <a:path h="2250087" w="2341477">
                  <a:moveTo>
                    <a:pt x="0" y="0"/>
                  </a:moveTo>
                  <a:lnTo>
                    <a:pt x="2341477" y="0"/>
                  </a:lnTo>
                  <a:lnTo>
                    <a:pt x="2341477" y="2250087"/>
                  </a:lnTo>
                  <a:lnTo>
                    <a:pt x="0" y="22500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341477" cy="2297712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65896" y="1028700"/>
            <a:ext cx="2093405" cy="4114800"/>
          </a:xfrm>
          <a:custGeom>
            <a:avLst/>
            <a:gdLst/>
            <a:ahLst/>
            <a:cxnLst/>
            <a:rect r="r" b="b" t="t" l="l"/>
            <a:pathLst>
              <a:path h="4114800" w="2093405">
                <a:moveTo>
                  <a:pt x="0" y="0"/>
                </a:moveTo>
                <a:lnTo>
                  <a:pt x="2093404" y="0"/>
                </a:lnTo>
                <a:lnTo>
                  <a:pt x="20934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143500"/>
            <a:ext cx="2093405" cy="4114800"/>
          </a:xfrm>
          <a:custGeom>
            <a:avLst/>
            <a:gdLst/>
            <a:ahLst/>
            <a:cxnLst/>
            <a:rect r="r" b="b" t="t" l="l"/>
            <a:pathLst>
              <a:path h="4114800" w="2093405">
                <a:moveTo>
                  <a:pt x="0" y="0"/>
                </a:moveTo>
                <a:lnTo>
                  <a:pt x="2093405" y="0"/>
                </a:lnTo>
                <a:lnTo>
                  <a:pt x="20934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505919" y="4170168"/>
            <a:ext cx="9276161" cy="1946664"/>
            <a:chOff x="0" y="0"/>
            <a:chExt cx="12368215" cy="259555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238125"/>
              <a:ext cx="12368215" cy="18594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00"/>
                </a:lnSpc>
              </a:pPr>
              <a:r>
                <a:rPr lang="en-US" sz="8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MUCHAS GRACIAS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981599"/>
              <a:ext cx="12368215" cy="1613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800"/>
                </a:lnSpc>
              </a:pPr>
              <a:r>
                <a:rPr lang="en-US" sz="7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POR SU ATENCIÓN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DAG5VGG6c84</dc:identifier>
  <dcterms:modified xsi:type="dcterms:W3CDTF">2011-08-01T06:04:30Z</dcterms:modified>
  <cp:revision>1</cp:revision>
  <dc:title>Presentación Final del Proyecto</dc:title>
</cp:coreProperties>
</file>