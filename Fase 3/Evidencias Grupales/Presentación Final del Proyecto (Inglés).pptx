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Poppins Bold" charset="1" panose="00000800000000000000"/>
      <p:regular r:id="rId22"/>
    </p:embeddedFont>
    <p:embeddedFont>
      <p:font typeface="Poppins" charset="1" panose="00000500000000000000"/>
      <p:regular r:id="rId23"/>
    </p:embeddedFont>
    <p:embeddedFont>
      <p:font typeface="Poppins Italics" charset="1" panose="00000500000000000000"/>
      <p:regular r:id="rId27"/>
    </p:embeddedFont>
    <p:embeddedFont>
      <p:font typeface="TT Chocolates" charset="1" panose="02000503020000020003"/>
      <p:regular r:id="rId28"/>
    </p:embeddedFont>
    <p:embeddedFont>
      <p:font typeface="Open Sans" charset="1" panose="020B0606030504020204"/>
      <p:regular r:id="rId29"/>
    </p:embeddedFont>
    <p:embeddedFont>
      <p:font typeface="TT Chocolates Bold Italics" charset="1" panose="02000803030000090003"/>
      <p:regular r:id="rId30"/>
    </p:embeddedFont>
    <p:embeddedFont>
      <p:font typeface="TT Chocolates Bold" charset="1" panose="02000803020000020003"/>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notesMasters/notesMaster1.xml" Type="http://schemas.openxmlformats.org/officeDocument/2006/relationships/notesMaster"/><Relationship Id="rId25" Target="theme/theme2.xml" Type="http://schemas.openxmlformats.org/officeDocument/2006/relationships/theme"/><Relationship Id="rId26" Target="notesSlides/notesSlide1.xml" Type="http://schemas.openxmlformats.org/officeDocument/2006/relationships/note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jpeg" Type="http://schemas.openxmlformats.org/officeDocument/2006/relationships/image"/><Relationship Id="rId5" Target="../media/image1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11" Target="../media/image41.png" Type="http://schemas.openxmlformats.org/officeDocument/2006/relationships/image"/><Relationship Id="rId12" Target="../media/image42.svg" Type="http://schemas.openxmlformats.org/officeDocument/2006/relationships/image"/><Relationship Id="rId13" Target="../media/image43.png" Type="http://schemas.openxmlformats.org/officeDocument/2006/relationships/image"/><Relationship Id="rId14" Target="../media/image44.svg" Type="http://schemas.openxmlformats.org/officeDocument/2006/relationships/image"/><Relationship Id="rId2" Target="../notesSlides/notesSlide1.xml" Type="http://schemas.openxmlformats.org/officeDocument/2006/relationships/notesSlid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 Id="rId9" Target="../media/image3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png" Type="http://schemas.openxmlformats.org/officeDocument/2006/relationships/image"/><Relationship Id="rId11" Target="../media/image50.svg" Type="http://schemas.openxmlformats.org/officeDocument/2006/relationships/image"/><Relationship Id="rId12" Target="../media/image51.png" Type="http://schemas.openxmlformats.org/officeDocument/2006/relationships/image"/><Relationship Id="rId13" Target="../media/image52.png" Type="http://schemas.openxmlformats.org/officeDocument/2006/relationships/image"/><Relationship Id="rId14" Target="../media/image53.svg" Type="http://schemas.openxmlformats.org/officeDocument/2006/relationships/image"/><Relationship Id="rId15" Target="../media/image54.png" Type="http://schemas.openxmlformats.org/officeDocument/2006/relationships/image"/><Relationship Id="rId16" Target="../media/image55.svg" Type="http://schemas.openxmlformats.org/officeDocument/2006/relationships/image"/><Relationship Id="rId17" Target="../media/image56.png" Type="http://schemas.openxmlformats.org/officeDocument/2006/relationships/image"/><Relationship Id="rId18" Target="../media/image57.svg" Type="http://schemas.openxmlformats.org/officeDocument/2006/relationships/image"/><Relationship Id="rId19" Target="../media/image58.png" Type="http://schemas.openxmlformats.org/officeDocument/2006/relationships/image"/><Relationship Id="rId2" Target="../media/image33.png" Type="http://schemas.openxmlformats.org/officeDocument/2006/relationships/image"/><Relationship Id="rId20" Target="../media/image59.svg" Type="http://schemas.openxmlformats.org/officeDocument/2006/relationships/image"/><Relationship Id="rId3" Target="../media/image3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5.pn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4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0.png" Type="http://schemas.openxmlformats.org/officeDocument/2006/relationships/image"/><Relationship Id="rId3" Target="../media/image61.svg" Type="http://schemas.openxmlformats.org/officeDocument/2006/relationships/image"/><Relationship Id="rId4" Target="../media/image62.png" Type="http://schemas.openxmlformats.org/officeDocument/2006/relationships/image"/><Relationship Id="rId5" Target="../media/image63.svg" Type="http://schemas.openxmlformats.org/officeDocument/2006/relationships/image"/><Relationship Id="rId6" Target="../media/image64.png" Type="http://schemas.openxmlformats.org/officeDocument/2006/relationships/image"/><Relationship Id="rId7" Target="../media/image65.svg" Type="http://schemas.openxmlformats.org/officeDocument/2006/relationships/image"/><Relationship Id="rId8" Target="../media/image66.png" Type="http://schemas.openxmlformats.org/officeDocument/2006/relationships/image"/><Relationship Id="rId9" Target="../media/image6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 Id="rId3" Target="../media/image69.svg" Type="http://schemas.openxmlformats.org/officeDocument/2006/relationships/image"/><Relationship Id="rId4" Target="../media/image70.png" Type="http://schemas.openxmlformats.org/officeDocument/2006/relationships/image"/><Relationship Id="rId5" Target="../embeddings/oleObject1.bin" Type="http://schemas.openxmlformats.org/officeDocument/2006/relationships/oleObject"/><Relationship Id="rId6" Target="../media/image71.png" Type="http://schemas.openxmlformats.org/officeDocument/2006/relationships/image"/><Relationship Id="rId7" Target="../embeddings/oleObject2.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 Id="rId3" Target="../media/image69.svg" Type="http://schemas.openxmlformats.org/officeDocument/2006/relationships/image"/><Relationship Id="rId4" Target="../media/image72.png" Type="http://schemas.openxmlformats.org/officeDocument/2006/relationships/image"/><Relationship Id="rId5" Target="../media/image73.png" Type="http://schemas.openxmlformats.org/officeDocument/2006/relationships/image"/><Relationship Id="rId6" Target="../media/image74.svg" Type="http://schemas.openxmlformats.org/officeDocument/2006/relationships/image"/><Relationship Id="rId7" Target="../media/image75.png" Type="http://schemas.openxmlformats.org/officeDocument/2006/relationships/image"/><Relationship Id="rId8" Target="../media/image76.png" Type="http://schemas.openxmlformats.org/officeDocument/2006/relationships/image"/><Relationship Id="rId9" Target="../media/image7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78.png" Type="http://schemas.openxmlformats.org/officeDocument/2006/relationships/image"/><Relationship Id="rId7" Target="../media/image7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0.jpeg" Type="http://schemas.openxmlformats.org/officeDocument/2006/relationships/image"/><Relationship Id="rId3" Target="../media/VAG6TdPlLHs.mp4" Type="http://schemas.openxmlformats.org/officeDocument/2006/relationships/video"/><Relationship Id="rId4" Target="../media/VAG6TdPlLHs.mp4" Type="http://schemas.microsoft.com/office/2007/relationships/media"/></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81.png" Type="http://schemas.openxmlformats.org/officeDocument/2006/relationships/image"/><Relationship Id="rId5" Target="../media/image82.svg" Type="http://schemas.openxmlformats.org/officeDocument/2006/relationships/image"/><Relationship Id="rId6" Target="../media/image83.png" Type="http://schemas.openxmlformats.org/officeDocument/2006/relationships/image"/><Relationship Id="rId7" Target="../media/image84.svg" Type="http://schemas.openxmlformats.org/officeDocument/2006/relationships/image"/><Relationship Id="rId8" Target="../media/image85.png" Type="http://schemas.openxmlformats.org/officeDocument/2006/relationships/image"/><Relationship Id="rId9" Target="../media/image8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 Id="rId3" Target="../media/image6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7F6"/>
        </a:solidFill>
      </p:bgPr>
    </p:bg>
    <p:spTree>
      <p:nvGrpSpPr>
        <p:cNvPr id="1" name=""/>
        <p:cNvGrpSpPr/>
        <p:nvPr/>
      </p:nvGrpSpPr>
      <p:grpSpPr>
        <a:xfrm>
          <a:off x="0" y="0"/>
          <a:ext cx="0" cy="0"/>
          <a:chOff x="0" y="0"/>
          <a:chExt cx="0" cy="0"/>
        </a:xfrm>
      </p:grpSpPr>
      <p:grpSp>
        <p:nvGrpSpPr>
          <p:cNvPr name="Group 2" id="2"/>
          <p:cNvGrpSpPr/>
          <p:nvPr/>
        </p:nvGrpSpPr>
        <p:grpSpPr>
          <a:xfrm rot="0">
            <a:off x="1028700" y="1195957"/>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000000">
                <a:alpha val="0"/>
              </a:srgbClr>
            </a:solidFill>
            <a:ln w="19050" cap="sq">
              <a:solidFill>
                <a:srgbClr val="000000"/>
              </a:solidFill>
              <a:prstDash val="solid"/>
              <a:miter/>
            </a:ln>
          </p:spPr>
        </p:sp>
        <p:sp>
          <p:nvSpPr>
            <p:cNvPr name="TextBox 4" id="4"/>
            <p:cNvSpPr txBox="true"/>
            <p:nvPr/>
          </p:nvSpPr>
          <p:spPr>
            <a:xfrm>
              <a:off x="0" y="-57150"/>
              <a:ext cx="4274726" cy="2224617"/>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3517340" y="3876675"/>
            <a:ext cx="11253320" cy="2181225"/>
          </a:xfrm>
          <a:prstGeom prst="rect">
            <a:avLst/>
          </a:prstGeom>
        </p:spPr>
        <p:txBody>
          <a:bodyPr anchor="t" rtlCol="false" tIns="0" lIns="0" bIns="0" rIns="0">
            <a:spAutoFit/>
          </a:bodyPr>
          <a:lstStyle/>
          <a:p>
            <a:pPr algn="ctr">
              <a:lnSpc>
                <a:spcPts val="16800"/>
              </a:lnSpc>
            </a:pPr>
            <a:r>
              <a:rPr lang="en-US" b="true" sz="12000">
                <a:solidFill>
                  <a:srgbClr val="000000"/>
                </a:solidFill>
                <a:latin typeface="Poppins Bold"/>
                <a:ea typeface="Poppins Bold"/>
                <a:cs typeface="Poppins Bold"/>
                <a:sym typeface="Poppins Bold"/>
              </a:rPr>
              <a:t>NEUROVOICE</a:t>
            </a:r>
          </a:p>
        </p:txBody>
      </p:sp>
      <p:grpSp>
        <p:nvGrpSpPr>
          <p:cNvPr name="Group 6" id="6"/>
          <p:cNvGrpSpPr/>
          <p:nvPr/>
        </p:nvGrpSpPr>
        <p:grpSpPr>
          <a:xfrm rot="0">
            <a:off x="4155132" y="5913479"/>
            <a:ext cx="9977737" cy="47625"/>
            <a:chOff x="0" y="0"/>
            <a:chExt cx="2627881" cy="12543"/>
          </a:xfrm>
        </p:grpSpPr>
        <p:sp>
          <p:nvSpPr>
            <p:cNvPr name="Freeform 7" id="7"/>
            <p:cNvSpPr/>
            <p:nvPr/>
          </p:nvSpPr>
          <p:spPr>
            <a:xfrm flipH="false" flipV="false" rot="0">
              <a:off x="0" y="0"/>
              <a:ext cx="2627881" cy="12543"/>
            </a:xfrm>
            <a:custGeom>
              <a:avLst/>
              <a:gdLst/>
              <a:ahLst/>
              <a:cxnLst/>
              <a:rect r="r" b="b" t="t" l="l"/>
              <a:pathLst>
                <a:path h="12543" w="2627881">
                  <a:moveTo>
                    <a:pt x="0" y="0"/>
                  </a:moveTo>
                  <a:lnTo>
                    <a:pt x="2627881" y="0"/>
                  </a:lnTo>
                  <a:lnTo>
                    <a:pt x="2627881" y="12543"/>
                  </a:lnTo>
                  <a:lnTo>
                    <a:pt x="0" y="12543"/>
                  </a:lnTo>
                  <a:close/>
                </a:path>
              </a:pathLst>
            </a:custGeom>
            <a:solidFill>
              <a:srgbClr val="000000"/>
            </a:solidFill>
          </p:spPr>
        </p:sp>
        <p:sp>
          <p:nvSpPr>
            <p:cNvPr name="TextBox 8" id="8"/>
            <p:cNvSpPr txBox="true"/>
            <p:nvPr/>
          </p:nvSpPr>
          <p:spPr>
            <a:xfrm>
              <a:off x="0" y="-57150"/>
              <a:ext cx="2627881" cy="69693"/>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0" y="0"/>
            <a:ext cx="4159903" cy="909614"/>
          </a:xfrm>
          <a:custGeom>
            <a:avLst/>
            <a:gdLst/>
            <a:ahLst/>
            <a:cxnLst/>
            <a:rect r="r" b="b" t="t" l="l"/>
            <a:pathLst>
              <a:path h="909614" w="4159903">
                <a:moveTo>
                  <a:pt x="0" y="0"/>
                </a:moveTo>
                <a:lnTo>
                  <a:pt x="4159903" y="0"/>
                </a:lnTo>
                <a:lnTo>
                  <a:pt x="4159903" y="909614"/>
                </a:lnTo>
                <a:lnTo>
                  <a:pt x="0" y="909614"/>
                </a:lnTo>
                <a:lnTo>
                  <a:pt x="0" y="0"/>
                </a:lnTo>
                <a:close/>
              </a:path>
            </a:pathLst>
          </a:custGeom>
          <a:blipFill>
            <a:blip r:embed="rId2"/>
            <a:stretch>
              <a:fillRect l="0" t="-149387" r="0" b="-137845"/>
            </a:stretch>
          </a:blipFill>
        </p:spPr>
      </p:sp>
      <p:sp>
        <p:nvSpPr>
          <p:cNvPr name="TextBox 10" id="10"/>
          <p:cNvSpPr txBox="true"/>
          <p:nvPr/>
        </p:nvSpPr>
        <p:spPr>
          <a:xfrm rot="0">
            <a:off x="5869019" y="6018341"/>
            <a:ext cx="6549961" cy="651510"/>
          </a:xfrm>
          <a:prstGeom prst="rect">
            <a:avLst/>
          </a:prstGeom>
        </p:spPr>
        <p:txBody>
          <a:bodyPr anchor="t" rtlCol="false" tIns="0" lIns="0" bIns="0" rIns="0">
            <a:spAutoFit/>
          </a:bodyPr>
          <a:lstStyle/>
          <a:p>
            <a:pPr algn="ctr">
              <a:lnSpc>
                <a:spcPts val="5040"/>
              </a:lnSpc>
            </a:pPr>
            <a:r>
              <a:rPr lang="en-US" sz="3600" spc="900">
                <a:solidFill>
                  <a:srgbClr val="000000"/>
                </a:solidFill>
                <a:latin typeface="Poppins"/>
                <a:ea typeface="Poppins"/>
                <a:cs typeface="Poppins"/>
                <a:sym typeface="Poppins"/>
              </a:rPr>
              <a:t>CAPSTONE</a:t>
            </a:r>
          </a:p>
        </p:txBody>
      </p:sp>
      <p:grpSp>
        <p:nvGrpSpPr>
          <p:cNvPr name="Group 11" id="11"/>
          <p:cNvGrpSpPr/>
          <p:nvPr/>
        </p:nvGrpSpPr>
        <p:grpSpPr>
          <a:xfrm rot="0">
            <a:off x="4499848" y="2243347"/>
            <a:ext cx="9313510" cy="1868626"/>
            <a:chOff x="0" y="0"/>
            <a:chExt cx="12418013" cy="2491501"/>
          </a:xfrm>
        </p:grpSpPr>
        <p:sp>
          <p:nvSpPr>
            <p:cNvPr name="Freeform 12" id="12"/>
            <p:cNvSpPr/>
            <p:nvPr/>
          </p:nvSpPr>
          <p:spPr>
            <a:xfrm flipH="false" flipV="false" rot="-91777">
              <a:off x="25776" y="474226"/>
              <a:ext cx="1968281" cy="1957544"/>
            </a:xfrm>
            <a:custGeom>
              <a:avLst/>
              <a:gdLst/>
              <a:ahLst/>
              <a:cxnLst/>
              <a:rect r="r" b="b" t="t" l="l"/>
              <a:pathLst>
                <a:path h="1957544" w="1968281">
                  <a:moveTo>
                    <a:pt x="0" y="0"/>
                  </a:moveTo>
                  <a:lnTo>
                    <a:pt x="1968281" y="0"/>
                  </a:lnTo>
                  <a:lnTo>
                    <a:pt x="1968281" y="1957545"/>
                  </a:lnTo>
                  <a:lnTo>
                    <a:pt x="0" y="19575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463880">
              <a:off x="5209187" y="123497"/>
              <a:ext cx="1968281" cy="1957544"/>
            </a:xfrm>
            <a:custGeom>
              <a:avLst/>
              <a:gdLst/>
              <a:ahLst/>
              <a:cxnLst/>
              <a:rect r="r" b="b" t="t" l="l"/>
              <a:pathLst>
                <a:path h="1957544" w="1968281">
                  <a:moveTo>
                    <a:pt x="0" y="0"/>
                  </a:moveTo>
                  <a:lnTo>
                    <a:pt x="1968281" y="0"/>
                  </a:lnTo>
                  <a:lnTo>
                    <a:pt x="1968281" y="1957545"/>
                  </a:lnTo>
                  <a:lnTo>
                    <a:pt x="0" y="19575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161681">
              <a:off x="7799768" y="123497"/>
              <a:ext cx="1968281" cy="1957544"/>
            </a:xfrm>
            <a:custGeom>
              <a:avLst/>
              <a:gdLst/>
              <a:ahLst/>
              <a:cxnLst/>
              <a:rect r="r" b="b" t="t" l="l"/>
              <a:pathLst>
                <a:path h="1957544" w="1968281">
                  <a:moveTo>
                    <a:pt x="0" y="0"/>
                  </a:moveTo>
                  <a:lnTo>
                    <a:pt x="1968280" y="0"/>
                  </a:lnTo>
                  <a:lnTo>
                    <a:pt x="1968280" y="1957545"/>
                  </a:lnTo>
                  <a:lnTo>
                    <a:pt x="0" y="19575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215505">
              <a:off x="10390348" y="474226"/>
              <a:ext cx="1968281" cy="1957544"/>
            </a:xfrm>
            <a:custGeom>
              <a:avLst/>
              <a:gdLst/>
              <a:ahLst/>
              <a:cxnLst/>
              <a:rect r="r" b="b" t="t" l="l"/>
              <a:pathLst>
                <a:path h="1957544" w="1968281">
                  <a:moveTo>
                    <a:pt x="0" y="0"/>
                  </a:moveTo>
                  <a:lnTo>
                    <a:pt x="1968281" y="0"/>
                  </a:lnTo>
                  <a:lnTo>
                    <a:pt x="1968281" y="1957545"/>
                  </a:lnTo>
                  <a:lnTo>
                    <a:pt x="0" y="195754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2618607" y="123497"/>
              <a:ext cx="1968281" cy="1957544"/>
            </a:xfrm>
            <a:custGeom>
              <a:avLst/>
              <a:gdLst/>
              <a:ahLst/>
              <a:cxnLst/>
              <a:rect r="r" b="b" t="t" l="l"/>
              <a:pathLst>
                <a:path h="1957544" w="1968281">
                  <a:moveTo>
                    <a:pt x="0" y="0"/>
                  </a:moveTo>
                  <a:lnTo>
                    <a:pt x="1968280" y="0"/>
                  </a:lnTo>
                  <a:lnTo>
                    <a:pt x="1968280" y="1957545"/>
                  </a:lnTo>
                  <a:lnTo>
                    <a:pt x="0" y="195754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7F6"/>
        </a:solidFill>
      </p:bgPr>
    </p:bg>
    <p:spTree>
      <p:nvGrpSpPr>
        <p:cNvPr id="1" name=""/>
        <p:cNvGrpSpPr/>
        <p:nvPr/>
      </p:nvGrpSpPr>
      <p:grpSpPr>
        <a:xfrm>
          <a:off x="0" y="0"/>
          <a:ext cx="0" cy="0"/>
          <a:chOff x="0" y="0"/>
          <a:chExt cx="0" cy="0"/>
        </a:xfrm>
      </p:grpSpPr>
      <p:grpSp>
        <p:nvGrpSpPr>
          <p:cNvPr name="Group 2" id="2"/>
          <p:cNvGrpSpPr/>
          <p:nvPr/>
        </p:nvGrpSpPr>
        <p:grpSpPr>
          <a:xfrm rot="0">
            <a:off x="1028700" y="1877060"/>
            <a:ext cx="3086100" cy="85998"/>
            <a:chOff x="0" y="0"/>
            <a:chExt cx="812800" cy="22650"/>
          </a:xfrm>
        </p:grpSpPr>
        <p:sp>
          <p:nvSpPr>
            <p:cNvPr name="Freeform 3" id="3"/>
            <p:cNvSpPr/>
            <p:nvPr/>
          </p:nvSpPr>
          <p:spPr>
            <a:xfrm flipH="false" flipV="false" rot="0">
              <a:off x="0" y="0"/>
              <a:ext cx="812800" cy="22650"/>
            </a:xfrm>
            <a:custGeom>
              <a:avLst/>
              <a:gdLst/>
              <a:ahLst/>
              <a:cxnLst/>
              <a:rect r="r" b="b" t="t" l="l"/>
              <a:pathLst>
                <a:path h="22650" w="812800">
                  <a:moveTo>
                    <a:pt x="0" y="0"/>
                  </a:moveTo>
                  <a:lnTo>
                    <a:pt x="812800" y="0"/>
                  </a:lnTo>
                  <a:lnTo>
                    <a:pt x="812800" y="22650"/>
                  </a:lnTo>
                  <a:lnTo>
                    <a:pt x="0" y="22650"/>
                  </a:lnTo>
                  <a:close/>
                </a:path>
              </a:pathLst>
            </a:custGeom>
            <a:solidFill>
              <a:srgbClr val="ACA18F"/>
            </a:solidFill>
          </p:spPr>
        </p:sp>
        <p:sp>
          <p:nvSpPr>
            <p:cNvPr name="TextBox 4" id="4"/>
            <p:cNvSpPr txBox="true"/>
            <p:nvPr/>
          </p:nvSpPr>
          <p:spPr>
            <a:xfrm>
              <a:off x="0" y="-38100"/>
              <a:ext cx="812800" cy="60750"/>
            </a:xfrm>
            <a:prstGeom prst="rect">
              <a:avLst/>
            </a:prstGeom>
          </p:spPr>
          <p:txBody>
            <a:bodyPr anchor="ctr" rtlCol="false" tIns="50800" lIns="50800" bIns="50800" rIns="50800"/>
            <a:lstStyle/>
            <a:p>
              <a:pPr algn="ctr">
                <a:lnSpc>
                  <a:spcPts val="2277"/>
                </a:lnSpc>
              </a:pPr>
            </a:p>
          </p:txBody>
        </p:sp>
      </p:grpSp>
      <p:sp>
        <p:nvSpPr>
          <p:cNvPr name="Freeform 5" id="5"/>
          <p:cNvSpPr/>
          <p:nvPr/>
        </p:nvSpPr>
        <p:spPr>
          <a:xfrm flipH="false" flipV="false" rot="0">
            <a:off x="15297340" y="6172200"/>
            <a:ext cx="3019235" cy="4114800"/>
          </a:xfrm>
          <a:custGeom>
            <a:avLst/>
            <a:gdLst/>
            <a:ahLst/>
            <a:cxnLst/>
            <a:rect r="r" b="b" t="t" l="l"/>
            <a:pathLst>
              <a:path h="4114800" w="3019235">
                <a:moveTo>
                  <a:pt x="0" y="0"/>
                </a:moveTo>
                <a:lnTo>
                  <a:pt x="3019235" y="0"/>
                </a:lnTo>
                <a:lnTo>
                  <a:pt x="30192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a:grpSpLocks noChangeAspect="true"/>
          </p:cNvGrpSpPr>
          <p:nvPr/>
        </p:nvGrpSpPr>
        <p:grpSpPr>
          <a:xfrm rot="0">
            <a:off x="1618598" y="2304069"/>
            <a:ext cx="3439230" cy="3439230"/>
            <a:chOff x="0" y="0"/>
            <a:chExt cx="6350000" cy="6350000"/>
          </a:xfrm>
        </p:grpSpPr>
        <p:sp>
          <p:nvSpPr>
            <p:cNvPr name="Freeform 7" id="7"/>
            <p:cNvSpPr/>
            <p:nvPr/>
          </p:nvSpPr>
          <p:spPr>
            <a:xfrm flipH="false" flipV="false" rot="0">
              <a:off x="655320" y="655320"/>
              <a:ext cx="5039360" cy="5039360"/>
            </a:xfrm>
            <a:custGeom>
              <a:avLst/>
              <a:gdLst/>
              <a:ahLst/>
              <a:cxnLst/>
              <a:rect r="r" b="b" t="t" l="l"/>
              <a:pathLst>
                <a:path h="5039360" w="5039360">
                  <a:moveTo>
                    <a:pt x="2519680" y="0"/>
                  </a:moveTo>
                  <a:cubicBezTo>
                    <a:pt x="1127760" y="0"/>
                    <a:pt x="0" y="1127760"/>
                    <a:pt x="0" y="2519680"/>
                  </a:cubicBezTo>
                  <a:cubicBezTo>
                    <a:pt x="0" y="3911600"/>
                    <a:pt x="1127760" y="5039360"/>
                    <a:pt x="2519680" y="5039360"/>
                  </a:cubicBezTo>
                  <a:cubicBezTo>
                    <a:pt x="3911600" y="5039360"/>
                    <a:pt x="5039360" y="3911600"/>
                    <a:pt x="5039360" y="2519680"/>
                  </a:cubicBezTo>
                  <a:cubicBezTo>
                    <a:pt x="5039360" y="1127760"/>
                    <a:pt x="3911600" y="0"/>
                    <a:pt x="2519680" y="0"/>
                  </a:cubicBezTo>
                  <a:close/>
                </a:path>
              </a:pathLst>
            </a:custGeom>
            <a:blipFill>
              <a:blip r:embed="rId4"/>
              <a:stretch>
                <a:fillRect l="0" t="-16666" r="0" b="-16666"/>
              </a:stretch>
            </a:blipFill>
          </p:spPr>
        </p:sp>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3670" y="0"/>
                    <a:pt x="0" y="1424940"/>
                    <a:pt x="0" y="3175000"/>
                  </a:cubicBezTo>
                  <a:cubicBezTo>
                    <a:pt x="0" y="4925060"/>
                    <a:pt x="1423670" y="6350000"/>
                    <a:pt x="3175000" y="6350000"/>
                  </a:cubicBezTo>
                  <a:cubicBezTo>
                    <a:pt x="4925060" y="6350000"/>
                    <a:pt x="6350000" y="4926330"/>
                    <a:pt x="6350000" y="3175000"/>
                  </a:cubicBezTo>
                  <a:cubicBezTo>
                    <a:pt x="6350000" y="1424940"/>
                    <a:pt x="4926330" y="0"/>
                    <a:pt x="3175000" y="0"/>
                  </a:cubicBezTo>
                  <a:close/>
                  <a:moveTo>
                    <a:pt x="3175000" y="5833110"/>
                  </a:moveTo>
                  <a:cubicBezTo>
                    <a:pt x="1709420" y="5833110"/>
                    <a:pt x="516890" y="4640580"/>
                    <a:pt x="516890" y="3175000"/>
                  </a:cubicBezTo>
                  <a:cubicBezTo>
                    <a:pt x="516890" y="1709420"/>
                    <a:pt x="1709420" y="516890"/>
                    <a:pt x="3175000" y="516890"/>
                  </a:cubicBezTo>
                  <a:cubicBezTo>
                    <a:pt x="4640580" y="516890"/>
                    <a:pt x="5833110" y="1709420"/>
                    <a:pt x="5833110" y="3175000"/>
                  </a:cubicBezTo>
                  <a:cubicBezTo>
                    <a:pt x="5833110" y="4640580"/>
                    <a:pt x="4640580" y="5833110"/>
                    <a:pt x="3175000" y="5833110"/>
                  </a:cubicBezTo>
                  <a:close/>
                </a:path>
              </a:pathLst>
            </a:custGeom>
            <a:solidFill>
              <a:srgbClr val="ACA18F"/>
            </a:solidFill>
          </p:spPr>
        </p:sp>
      </p:grpSp>
      <p:grpSp>
        <p:nvGrpSpPr>
          <p:cNvPr name="Group 9" id="9"/>
          <p:cNvGrpSpPr>
            <a:grpSpLocks noChangeAspect="true"/>
          </p:cNvGrpSpPr>
          <p:nvPr/>
        </p:nvGrpSpPr>
        <p:grpSpPr>
          <a:xfrm rot="0">
            <a:off x="1633211" y="6437165"/>
            <a:ext cx="3439230" cy="3439230"/>
            <a:chOff x="0" y="0"/>
            <a:chExt cx="6350000" cy="6350000"/>
          </a:xfrm>
        </p:grpSpPr>
        <p:sp>
          <p:nvSpPr>
            <p:cNvPr name="Freeform 10" id="10"/>
            <p:cNvSpPr/>
            <p:nvPr/>
          </p:nvSpPr>
          <p:spPr>
            <a:xfrm flipH="false" flipV="false" rot="0">
              <a:off x="655320" y="655320"/>
              <a:ext cx="5039360" cy="5039360"/>
            </a:xfrm>
            <a:custGeom>
              <a:avLst/>
              <a:gdLst/>
              <a:ahLst/>
              <a:cxnLst/>
              <a:rect r="r" b="b" t="t" l="l"/>
              <a:pathLst>
                <a:path h="5039360" w="5039360">
                  <a:moveTo>
                    <a:pt x="2519680" y="0"/>
                  </a:moveTo>
                  <a:cubicBezTo>
                    <a:pt x="1127760" y="0"/>
                    <a:pt x="0" y="1127760"/>
                    <a:pt x="0" y="2519680"/>
                  </a:cubicBezTo>
                  <a:cubicBezTo>
                    <a:pt x="0" y="3911600"/>
                    <a:pt x="1127760" y="5039360"/>
                    <a:pt x="2519680" y="5039360"/>
                  </a:cubicBezTo>
                  <a:cubicBezTo>
                    <a:pt x="3911600" y="5039360"/>
                    <a:pt x="5039360" y="3911600"/>
                    <a:pt x="5039360" y="2519680"/>
                  </a:cubicBezTo>
                  <a:cubicBezTo>
                    <a:pt x="5039360" y="1127760"/>
                    <a:pt x="3911600" y="0"/>
                    <a:pt x="2519680" y="0"/>
                  </a:cubicBezTo>
                  <a:close/>
                </a:path>
              </a:pathLst>
            </a:custGeom>
            <a:blipFill>
              <a:blip r:embed="rId5"/>
              <a:stretch>
                <a:fillRect l="0" t="-16777" r="0" b="-16777"/>
              </a:stretch>
            </a:blipFill>
          </p:spPr>
        </p:sp>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3670" y="0"/>
                    <a:pt x="0" y="1424940"/>
                    <a:pt x="0" y="3175000"/>
                  </a:cubicBezTo>
                  <a:cubicBezTo>
                    <a:pt x="0" y="4925060"/>
                    <a:pt x="1423670" y="6350000"/>
                    <a:pt x="3175000" y="6350000"/>
                  </a:cubicBezTo>
                  <a:cubicBezTo>
                    <a:pt x="4925060" y="6350000"/>
                    <a:pt x="6350000" y="4926330"/>
                    <a:pt x="6350000" y="3175000"/>
                  </a:cubicBezTo>
                  <a:cubicBezTo>
                    <a:pt x="6350000" y="1424940"/>
                    <a:pt x="4926330" y="0"/>
                    <a:pt x="3175000" y="0"/>
                  </a:cubicBezTo>
                  <a:close/>
                  <a:moveTo>
                    <a:pt x="3175000" y="5833110"/>
                  </a:moveTo>
                  <a:cubicBezTo>
                    <a:pt x="1709420" y="5833110"/>
                    <a:pt x="516890" y="4640580"/>
                    <a:pt x="516890" y="3175000"/>
                  </a:cubicBezTo>
                  <a:cubicBezTo>
                    <a:pt x="516890" y="1709420"/>
                    <a:pt x="1709420" y="516890"/>
                    <a:pt x="3175000" y="516890"/>
                  </a:cubicBezTo>
                  <a:cubicBezTo>
                    <a:pt x="4640580" y="516890"/>
                    <a:pt x="5833110" y="1709420"/>
                    <a:pt x="5833110" y="3175000"/>
                  </a:cubicBezTo>
                  <a:cubicBezTo>
                    <a:pt x="5833110" y="4640580"/>
                    <a:pt x="4640580" y="5833110"/>
                    <a:pt x="3175000" y="5833110"/>
                  </a:cubicBezTo>
                  <a:close/>
                </a:path>
              </a:pathLst>
            </a:custGeom>
            <a:solidFill>
              <a:srgbClr val="ACA18F"/>
            </a:solidFill>
          </p:spPr>
        </p:sp>
      </p:grpSp>
      <p:sp>
        <p:nvSpPr>
          <p:cNvPr name="TextBox 12" id="12"/>
          <p:cNvSpPr txBox="true"/>
          <p:nvPr/>
        </p:nvSpPr>
        <p:spPr>
          <a:xfrm rot="0">
            <a:off x="1028700" y="866775"/>
            <a:ext cx="7152685" cy="1010285"/>
          </a:xfrm>
          <a:prstGeom prst="rect">
            <a:avLst/>
          </a:prstGeom>
        </p:spPr>
        <p:txBody>
          <a:bodyPr anchor="t" rtlCol="false" tIns="0" lIns="0" bIns="0" rIns="0">
            <a:spAutoFit/>
          </a:bodyPr>
          <a:lstStyle/>
          <a:p>
            <a:pPr algn="l">
              <a:lnSpc>
                <a:spcPts val="7840"/>
              </a:lnSpc>
            </a:pPr>
            <a:r>
              <a:rPr lang="en-US" sz="5600">
                <a:solidFill>
                  <a:srgbClr val="000000"/>
                </a:solidFill>
                <a:latin typeface="Poppins"/>
                <a:ea typeface="Poppins"/>
                <a:cs typeface="Poppins"/>
                <a:sym typeface="Poppins"/>
              </a:rPr>
              <a:t>TEAM MEMBERS</a:t>
            </a:r>
          </a:p>
        </p:txBody>
      </p:sp>
      <p:sp>
        <p:nvSpPr>
          <p:cNvPr name="TextBox 13" id="13"/>
          <p:cNvSpPr txBox="true"/>
          <p:nvPr/>
        </p:nvSpPr>
        <p:spPr>
          <a:xfrm rot="0">
            <a:off x="5676952" y="2552371"/>
            <a:ext cx="9926469" cy="2860041"/>
          </a:xfrm>
          <a:prstGeom prst="rect">
            <a:avLst/>
          </a:prstGeom>
        </p:spPr>
        <p:txBody>
          <a:bodyPr anchor="t" rtlCol="false" tIns="0" lIns="0" bIns="0" rIns="0">
            <a:spAutoFit/>
          </a:bodyPr>
          <a:lstStyle/>
          <a:p>
            <a:pPr algn="l">
              <a:lnSpc>
                <a:spcPts val="4479"/>
              </a:lnSpc>
            </a:pPr>
            <a:r>
              <a:rPr lang="en-US" sz="3199">
                <a:solidFill>
                  <a:srgbClr val="000000"/>
                </a:solidFill>
                <a:latin typeface="Poppins"/>
                <a:ea typeface="Poppins"/>
                <a:cs typeface="Poppins"/>
                <a:sym typeface="Poppins"/>
              </a:rPr>
              <a:t>ESTEBAN FIERRO</a:t>
            </a:r>
          </a:p>
          <a:p>
            <a:pPr algn="l" marL="561337" indent="-280669" lvl="1">
              <a:lnSpc>
                <a:spcPts val="3639"/>
              </a:lnSpc>
              <a:buFont typeface="Arial"/>
              <a:buChar char="•"/>
            </a:pPr>
            <a:r>
              <a:rPr lang="en-US" sz="2599">
                <a:solidFill>
                  <a:srgbClr val="000000"/>
                </a:solidFill>
                <a:latin typeface="Poppins"/>
                <a:ea typeface="Poppins"/>
                <a:cs typeface="Poppins"/>
                <a:sym typeface="Poppins"/>
              </a:rPr>
              <a:t>Positi</a:t>
            </a:r>
            <a:r>
              <a:rPr lang="en-US" sz="2599">
                <a:solidFill>
                  <a:srgbClr val="000000"/>
                </a:solidFill>
                <a:latin typeface="Poppins"/>
                <a:ea typeface="Poppins"/>
                <a:cs typeface="Poppins"/>
                <a:sym typeface="Poppins"/>
              </a:rPr>
              <a:t>on: Leader / Developer</a:t>
            </a:r>
          </a:p>
          <a:p>
            <a:pPr algn="l" marL="561337" indent="-280669" lvl="1">
              <a:lnSpc>
                <a:spcPts val="3639"/>
              </a:lnSpc>
              <a:buFont typeface="Arial"/>
              <a:buChar char="•"/>
            </a:pPr>
            <a:r>
              <a:rPr lang="en-US" sz="2599">
                <a:solidFill>
                  <a:srgbClr val="000000"/>
                </a:solidFill>
                <a:latin typeface="Poppins"/>
                <a:ea typeface="Poppins"/>
                <a:cs typeface="Poppins"/>
                <a:sym typeface="Poppins"/>
              </a:rPr>
              <a:t>Responsibilities: </a:t>
            </a:r>
          </a:p>
          <a:p>
            <a:pPr algn="l" marL="1122675" indent="-374225" lvl="2">
              <a:lnSpc>
                <a:spcPts val="3639"/>
              </a:lnSpc>
              <a:buFont typeface="Arial"/>
              <a:buChar char="⚬"/>
            </a:pPr>
            <a:r>
              <a:rPr lang="en-US" sz="2599">
                <a:solidFill>
                  <a:srgbClr val="000000"/>
                </a:solidFill>
                <a:latin typeface="Poppins"/>
                <a:ea typeface="Poppins"/>
                <a:cs typeface="Poppins"/>
                <a:sym typeface="Poppins"/>
              </a:rPr>
              <a:t>Coordinate the project</a:t>
            </a:r>
          </a:p>
          <a:p>
            <a:pPr algn="l" marL="1122675" indent="-374225" lvl="2">
              <a:lnSpc>
                <a:spcPts val="3639"/>
              </a:lnSpc>
              <a:buFont typeface="Arial"/>
              <a:buChar char="⚬"/>
            </a:pPr>
            <a:r>
              <a:rPr lang="en-US" sz="2599">
                <a:solidFill>
                  <a:srgbClr val="000000"/>
                </a:solidFill>
                <a:latin typeface="Poppins"/>
                <a:ea typeface="Poppins"/>
                <a:cs typeface="Poppins"/>
                <a:sym typeface="Poppins"/>
              </a:rPr>
              <a:t>Prioritize tasks and objectives</a:t>
            </a:r>
          </a:p>
          <a:p>
            <a:pPr algn="l" marL="1122675" indent="-374225" lvl="2">
              <a:lnSpc>
                <a:spcPts val="3639"/>
              </a:lnSpc>
              <a:buFont typeface="Arial"/>
              <a:buChar char="⚬"/>
            </a:pPr>
            <a:r>
              <a:rPr lang="en-US" sz="2599">
                <a:solidFill>
                  <a:srgbClr val="000000"/>
                </a:solidFill>
                <a:latin typeface="Poppins"/>
                <a:ea typeface="Poppins"/>
                <a:cs typeface="Poppins"/>
                <a:sym typeface="Poppins"/>
              </a:rPr>
              <a:t>Maintain basic technical documentation</a:t>
            </a:r>
          </a:p>
        </p:txBody>
      </p:sp>
      <p:sp>
        <p:nvSpPr>
          <p:cNvPr name="TextBox 14" id="14"/>
          <p:cNvSpPr txBox="true"/>
          <p:nvPr/>
        </p:nvSpPr>
        <p:spPr>
          <a:xfrm rot="0">
            <a:off x="5676952" y="6455297"/>
            <a:ext cx="9591813" cy="3317241"/>
          </a:xfrm>
          <a:prstGeom prst="rect">
            <a:avLst/>
          </a:prstGeom>
        </p:spPr>
        <p:txBody>
          <a:bodyPr anchor="t" rtlCol="false" tIns="0" lIns="0" bIns="0" rIns="0">
            <a:spAutoFit/>
          </a:bodyPr>
          <a:lstStyle/>
          <a:p>
            <a:pPr algn="l">
              <a:lnSpc>
                <a:spcPts val="4479"/>
              </a:lnSpc>
            </a:pPr>
            <a:r>
              <a:rPr lang="en-US" sz="3199">
                <a:solidFill>
                  <a:srgbClr val="000000"/>
                </a:solidFill>
                <a:latin typeface="Poppins"/>
                <a:ea typeface="Poppins"/>
                <a:cs typeface="Poppins"/>
                <a:sym typeface="Poppins"/>
              </a:rPr>
              <a:t>FRANCISCA HERRERA</a:t>
            </a:r>
          </a:p>
          <a:p>
            <a:pPr algn="l" marL="561337" indent="-280669" lvl="1">
              <a:lnSpc>
                <a:spcPts val="3639"/>
              </a:lnSpc>
              <a:buFont typeface="Arial"/>
              <a:buChar char="•"/>
            </a:pPr>
            <a:r>
              <a:rPr lang="en-US" sz="2599">
                <a:solidFill>
                  <a:srgbClr val="000000"/>
                </a:solidFill>
                <a:latin typeface="Poppins"/>
                <a:ea typeface="Poppins"/>
                <a:cs typeface="Poppins"/>
                <a:sym typeface="Poppins"/>
              </a:rPr>
              <a:t>P</a:t>
            </a:r>
            <a:r>
              <a:rPr lang="en-US" sz="2599">
                <a:solidFill>
                  <a:srgbClr val="000000"/>
                </a:solidFill>
                <a:latin typeface="Poppins"/>
                <a:ea typeface="Poppins"/>
                <a:cs typeface="Poppins"/>
                <a:sym typeface="Poppins"/>
              </a:rPr>
              <a:t>osition: Coordinator / Developer</a:t>
            </a:r>
          </a:p>
          <a:p>
            <a:pPr algn="l" marL="561337" indent="-280669" lvl="1">
              <a:lnSpc>
                <a:spcPts val="3639"/>
              </a:lnSpc>
              <a:buFont typeface="Arial"/>
              <a:buChar char="•"/>
            </a:pPr>
            <a:r>
              <a:rPr lang="en-US" sz="2599">
                <a:solidFill>
                  <a:srgbClr val="000000"/>
                </a:solidFill>
                <a:latin typeface="Poppins"/>
                <a:ea typeface="Poppins"/>
                <a:cs typeface="Poppins"/>
                <a:sym typeface="Poppins"/>
              </a:rPr>
              <a:t>Responsibilities:  </a:t>
            </a:r>
          </a:p>
          <a:p>
            <a:pPr algn="l" marL="1122675" indent="-374225" lvl="2">
              <a:lnSpc>
                <a:spcPts val="3639"/>
              </a:lnSpc>
              <a:buFont typeface="Arial"/>
              <a:buChar char="⚬"/>
            </a:pPr>
            <a:r>
              <a:rPr lang="en-US" sz="2599">
                <a:solidFill>
                  <a:srgbClr val="000000"/>
                </a:solidFill>
                <a:latin typeface="Poppins"/>
                <a:ea typeface="Poppins"/>
                <a:cs typeface="Poppins"/>
                <a:sym typeface="Poppins"/>
              </a:rPr>
              <a:t>Facilitate team collaboration</a:t>
            </a:r>
          </a:p>
          <a:p>
            <a:pPr algn="l" marL="1122675" indent="-374225" lvl="2">
              <a:lnSpc>
                <a:spcPts val="3639"/>
              </a:lnSpc>
              <a:buFont typeface="Arial"/>
              <a:buChar char="⚬"/>
            </a:pPr>
            <a:r>
              <a:rPr lang="en-US" sz="2599">
                <a:solidFill>
                  <a:srgbClr val="000000"/>
                </a:solidFill>
                <a:latin typeface="Poppins"/>
                <a:ea typeface="Poppins"/>
                <a:cs typeface="Poppins"/>
                <a:sym typeface="Poppins"/>
              </a:rPr>
              <a:t>Manage obstacles</a:t>
            </a:r>
          </a:p>
          <a:p>
            <a:pPr algn="l" marL="1122675" indent="-374225" lvl="2">
              <a:lnSpc>
                <a:spcPts val="3639"/>
              </a:lnSpc>
              <a:buFont typeface="Arial"/>
              <a:buChar char="⚬"/>
            </a:pPr>
            <a:r>
              <a:rPr lang="en-US" sz="2599">
                <a:solidFill>
                  <a:srgbClr val="000000"/>
                </a:solidFill>
                <a:latin typeface="Poppins"/>
                <a:ea typeface="Poppins"/>
                <a:cs typeface="Poppins"/>
                <a:sym typeface="Poppins"/>
              </a:rPr>
              <a:t>Sup</a:t>
            </a:r>
            <a:r>
              <a:rPr lang="en-US" sz="2599">
                <a:solidFill>
                  <a:srgbClr val="000000"/>
                </a:solidFill>
                <a:latin typeface="Poppins"/>
                <a:ea typeface="Poppins"/>
                <a:cs typeface="Poppins"/>
                <a:sym typeface="Poppins"/>
              </a:rPr>
              <a:t>port the team</a:t>
            </a:r>
          </a:p>
          <a:p>
            <a:pPr algn="l" marL="1122675" indent="-374225" lvl="2">
              <a:lnSpc>
                <a:spcPts val="3639"/>
              </a:lnSpc>
              <a:buFont typeface="Arial"/>
              <a:buChar char="⚬"/>
            </a:pPr>
            <a:r>
              <a:rPr lang="en-US" sz="2599">
                <a:solidFill>
                  <a:srgbClr val="000000"/>
                </a:solidFill>
                <a:latin typeface="Poppins"/>
                <a:ea typeface="Poppins"/>
                <a:cs typeface="Poppins"/>
                <a:sym typeface="Poppins"/>
              </a:rPr>
              <a:t>Develop functionalities</a:t>
            </a:r>
          </a:p>
        </p:txBody>
      </p:sp>
      <p:sp>
        <p:nvSpPr>
          <p:cNvPr name="TextBox 15" id="15"/>
          <p:cNvSpPr txBox="true"/>
          <p:nvPr/>
        </p:nvSpPr>
        <p:spPr>
          <a:xfrm rot="0">
            <a:off x="13947543" y="448726"/>
            <a:ext cx="3311757" cy="375285"/>
          </a:xfrm>
          <a:prstGeom prst="rect">
            <a:avLst/>
          </a:prstGeom>
        </p:spPr>
        <p:txBody>
          <a:bodyPr anchor="t" rtlCol="false" tIns="0" lIns="0" bIns="0" rIns="0">
            <a:spAutoFit/>
          </a:bodyPr>
          <a:lstStyle/>
          <a:p>
            <a:pPr algn="r">
              <a:lnSpc>
                <a:spcPts val="2940"/>
              </a:lnSpc>
            </a:pPr>
            <a:r>
              <a:rPr lang="en-US" sz="2100" b="true">
                <a:solidFill>
                  <a:srgbClr val="000000"/>
                </a:solidFill>
                <a:latin typeface="Poppins Bold"/>
                <a:ea typeface="Poppins Bold"/>
                <a:cs typeface="Poppins Bold"/>
                <a:sym typeface="Poppins Bold"/>
              </a:rPr>
              <a:t>NeuroVoice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7F6"/>
        </a:solidFill>
      </p:bgPr>
    </p:bg>
    <p:spTree>
      <p:nvGrpSpPr>
        <p:cNvPr id="1" name=""/>
        <p:cNvGrpSpPr/>
        <p:nvPr/>
      </p:nvGrpSpPr>
      <p:grpSpPr>
        <a:xfrm>
          <a:off x="0" y="0"/>
          <a:ext cx="0" cy="0"/>
          <a:chOff x="0" y="0"/>
          <a:chExt cx="0" cy="0"/>
        </a:xfrm>
      </p:grpSpPr>
      <p:sp>
        <p:nvSpPr>
          <p:cNvPr name="TextBox 2" id="2"/>
          <p:cNvSpPr txBox="true"/>
          <p:nvPr/>
        </p:nvSpPr>
        <p:spPr>
          <a:xfrm rot="0">
            <a:off x="1028700" y="866775"/>
            <a:ext cx="4648252" cy="1010285"/>
          </a:xfrm>
          <a:prstGeom prst="rect">
            <a:avLst/>
          </a:prstGeom>
        </p:spPr>
        <p:txBody>
          <a:bodyPr anchor="t" rtlCol="false" tIns="0" lIns="0" bIns="0" rIns="0">
            <a:spAutoFit/>
          </a:bodyPr>
          <a:lstStyle/>
          <a:p>
            <a:pPr algn="l">
              <a:lnSpc>
                <a:spcPts val="7840"/>
              </a:lnSpc>
            </a:pPr>
            <a:r>
              <a:rPr lang="en-US" sz="5600">
                <a:solidFill>
                  <a:srgbClr val="000000"/>
                </a:solidFill>
                <a:latin typeface="Poppins"/>
                <a:ea typeface="Poppins"/>
                <a:cs typeface="Poppins"/>
                <a:sym typeface="Poppins"/>
              </a:rPr>
              <a:t>CONTEXT</a:t>
            </a:r>
          </a:p>
        </p:txBody>
      </p:sp>
      <p:grpSp>
        <p:nvGrpSpPr>
          <p:cNvPr name="Group 3" id="3"/>
          <p:cNvGrpSpPr/>
          <p:nvPr/>
        </p:nvGrpSpPr>
        <p:grpSpPr>
          <a:xfrm rot="0">
            <a:off x="-2546606" y="9075714"/>
            <a:ext cx="5899432" cy="2823977"/>
            <a:chOff x="0" y="0"/>
            <a:chExt cx="1553760" cy="743763"/>
          </a:xfrm>
        </p:grpSpPr>
        <p:sp>
          <p:nvSpPr>
            <p:cNvPr name="Freeform 4" id="4"/>
            <p:cNvSpPr/>
            <p:nvPr/>
          </p:nvSpPr>
          <p:spPr>
            <a:xfrm flipH="false" flipV="false" rot="0">
              <a:off x="0" y="0"/>
              <a:ext cx="1553760" cy="743763"/>
            </a:xfrm>
            <a:custGeom>
              <a:avLst/>
              <a:gdLst/>
              <a:ahLst/>
              <a:cxnLst/>
              <a:rect r="r" b="b" t="t" l="l"/>
              <a:pathLst>
                <a:path h="743763" w="1553760">
                  <a:moveTo>
                    <a:pt x="0" y="0"/>
                  </a:moveTo>
                  <a:lnTo>
                    <a:pt x="1553760" y="0"/>
                  </a:lnTo>
                  <a:lnTo>
                    <a:pt x="1553760" y="743763"/>
                  </a:lnTo>
                  <a:lnTo>
                    <a:pt x="0" y="743763"/>
                  </a:lnTo>
                  <a:close/>
                </a:path>
              </a:pathLst>
            </a:custGeom>
            <a:solidFill>
              <a:srgbClr val="ACA18F"/>
            </a:solidFill>
          </p:spPr>
        </p:sp>
        <p:sp>
          <p:nvSpPr>
            <p:cNvPr name="TextBox 5" id="5"/>
            <p:cNvSpPr txBox="true"/>
            <p:nvPr/>
          </p:nvSpPr>
          <p:spPr>
            <a:xfrm>
              <a:off x="0" y="-38100"/>
              <a:ext cx="1553760" cy="781863"/>
            </a:xfrm>
            <a:prstGeom prst="rect">
              <a:avLst/>
            </a:prstGeom>
          </p:spPr>
          <p:txBody>
            <a:bodyPr anchor="ctr" rtlCol="false" tIns="50800" lIns="50800" bIns="50800" rIns="50800"/>
            <a:lstStyle/>
            <a:p>
              <a:pPr algn="ctr">
                <a:lnSpc>
                  <a:spcPts val="2277"/>
                </a:lnSpc>
              </a:pPr>
            </a:p>
          </p:txBody>
        </p:sp>
      </p:grpSp>
      <p:grpSp>
        <p:nvGrpSpPr>
          <p:cNvPr name="Group 6" id="6"/>
          <p:cNvGrpSpPr/>
          <p:nvPr/>
        </p:nvGrpSpPr>
        <p:grpSpPr>
          <a:xfrm rot="0">
            <a:off x="15338284" y="-1795277"/>
            <a:ext cx="5899432" cy="2823977"/>
            <a:chOff x="0" y="0"/>
            <a:chExt cx="1553760" cy="743763"/>
          </a:xfrm>
        </p:grpSpPr>
        <p:sp>
          <p:nvSpPr>
            <p:cNvPr name="Freeform 7" id="7"/>
            <p:cNvSpPr/>
            <p:nvPr/>
          </p:nvSpPr>
          <p:spPr>
            <a:xfrm flipH="false" flipV="false" rot="0">
              <a:off x="0" y="0"/>
              <a:ext cx="1553760" cy="743763"/>
            </a:xfrm>
            <a:custGeom>
              <a:avLst/>
              <a:gdLst/>
              <a:ahLst/>
              <a:cxnLst/>
              <a:rect r="r" b="b" t="t" l="l"/>
              <a:pathLst>
                <a:path h="743763" w="1553760">
                  <a:moveTo>
                    <a:pt x="0" y="0"/>
                  </a:moveTo>
                  <a:lnTo>
                    <a:pt x="1553760" y="0"/>
                  </a:lnTo>
                  <a:lnTo>
                    <a:pt x="1553760" y="743763"/>
                  </a:lnTo>
                  <a:lnTo>
                    <a:pt x="0" y="743763"/>
                  </a:lnTo>
                  <a:close/>
                </a:path>
              </a:pathLst>
            </a:custGeom>
            <a:solidFill>
              <a:srgbClr val="ACA18F"/>
            </a:solidFill>
          </p:spPr>
        </p:sp>
        <p:sp>
          <p:nvSpPr>
            <p:cNvPr name="TextBox 8" id="8"/>
            <p:cNvSpPr txBox="true"/>
            <p:nvPr/>
          </p:nvSpPr>
          <p:spPr>
            <a:xfrm>
              <a:off x="0" y="-38100"/>
              <a:ext cx="1553760" cy="781863"/>
            </a:xfrm>
            <a:prstGeom prst="rect">
              <a:avLst/>
            </a:prstGeom>
          </p:spPr>
          <p:txBody>
            <a:bodyPr anchor="ctr" rtlCol="false" tIns="50800" lIns="50800" bIns="50800" rIns="50800"/>
            <a:lstStyle/>
            <a:p>
              <a:pPr algn="ctr">
                <a:lnSpc>
                  <a:spcPts val="2277"/>
                </a:lnSpc>
              </a:pPr>
            </a:p>
          </p:txBody>
        </p:sp>
      </p:grpSp>
      <p:grpSp>
        <p:nvGrpSpPr>
          <p:cNvPr name="Group 9" id="9"/>
          <p:cNvGrpSpPr/>
          <p:nvPr/>
        </p:nvGrpSpPr>
        <p:grpSpPr>
          <a:xfrm rot="0">
            <a:off x="1028700" y="1847058"/>
            <a:ext cx="3085413" cy="181427"/>
            <a:chOff x="0" y="0"/>
            <a:chExt cx="812619" cy="47783"/>
          </a:xfrm>
        </p:grpSpPr>
        <p:sp>
          <p:nvSpPr>
            <p:cNvPr name="Freeform 10" id="10"/>
            <p:cNvSpPr/>
            <p:nvPr/>
          </p:nvSpPr>
          <p:spPr>
            <a:xfrm flipH="false" flipV="false" rot="0">
              <a:off x="0" y="0"/>
              <a:ext cx="812619" cy="47783"/>
            </a:xfrm>
            <a:custGeom>
              <a:avLst/>
              <a:gdLst/>
              <a:ahLst/>
              <a:cxnLst/>
              <a:rect r="r" b="b" t="t" l="l"/>
              <a:pathLst>
                <a:path h="47783" w="812619">
                  <a:moveTo>
                    <a:pt x="0" y="0"/>
                  </a:moveTo>
                  <a:lnTo>
                    <a:pt x="812619" y="0"/>
                  </a:lnTo>
                  <a:lnTo>
                    <a:pt x="812619" y="47783"/>
                  </a:lnTo>
                  <a:lnTo>
                    <a:pt x="0" y="47783"/>
                  </a:lnTo>
                  <a:close/>
                </a:path>
              </a:pathLst>
            </a:custGeom>
            <a:solidFill>
              <a:srgbClr val="ACA18F"/>
            </a:solidFill>
          </p:spPr>
        </p:sp>
        <p:sp>
          <p:nvSpPr>
            <p:cNvPr name="TextBox 11" id="11"/>
            <p:cNvSpPr txBox="true"/>
            <p:nvPr/>
          </p:nvSpPr>
          <p:spPr>
            <a:xfrm>
              <a:off x="0" y="-38100"/>
              <a:ext cx="812619" cy="85883"/>
            </a:xfrm>
            <a:prstGeom prst="rect">
              <a:avLst/>
            </a:prstGeom>
          </p:spPr>
          <p:txBody>
            <a:bodyPr anchor="ctr" rtlCol="false" tIns="50800" lIns="50800" bIns="50800" rIns="50800"/>
            <a:lstStyle/>
            <a:p>
              <a:pPr algn="ctr">
                <a:lnSpc>
                  <a:spcPts val="2277"/>
                </a:lnSpc>
              </a:pPr>
            </a:p>
          </p:txBody>
        </p:sp>
      </p:grpSp>
      <p:sp>
        <p:nvSpPr>
          <p:cNvPr name="Freeform 12" id="12"/>
          <p:cNvSpPr/>
          <p:nvPr/>
        </p:nvSpPr>
        <p:spPr>
          <a:xfrm flipH="false" flipV="false" rot="-10800000">
            <a:off x="-92261" y="-553242"/>
            <a:ext cx="1509617" cy="2057400"/>
          </a:xfrm>
          <a:custGeom>
            <a:avLst/>
            <a:gdLst/>
            <a:ahLst/>
            <a:cxnLst/>
            <a:rect r="r" b="b" t="t" l="l"/>
            <a:pathLst>
              <a:path h="2057400" w="1509617">
                <a:moveTo>
                  <a:pt x="0" y="0"/>
                </a:moveTo>
                <a:lnTo>
                  <a:pt x="1509617" y="0"/>
                </a:lnTo>
                <a:lnTo>
                  <a:pt x="1509617"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3610377" y="4880559"/>
            <a:ext cx="11067246" cy="4114800"/>
            <a:chOff x="0" y="0"/>
            <a:chExt cx="14756328" cy="5486400"/>
          </a:xfrm>
        </p:grpSpPr>
        <p:grpSp>
          <p:nvGrpSpPr>
            <p:cNvPr name="Group 14" id="14"/>
            <p:cNvGrpSpPr/>
            <p:nvPr/>
          </p:nvGrpSpPr>
          <p:grpSpPr>
            <a:xfrm rot="0">
              <a:off x="0" y="0"/>
              <a:ext cx="14756328" cy="5486400"/>
              <a:chOff x="0" y="0"/>
              <a:chExt cx="5239331" cy="1947982"/>
            </a:xfrm>
          </p:grpSpPr>
          <p:sp>
            <p:nvSpPr>
              <p:cNvPr name="Freeform 15" id="15"/>
              <p:cNvSpPr/>
              <p:nvPr/>
            </p:nvSpPr>
            <p:spPr>
              <a:xfrm flipH="false" flipV="false" rot="0">
                <a:off x="0" y="0"/>
                <a:ext cx="5239331" cy="1947982"/>
              </a:xfrm>
              <a:custGeom>
                <a:avLst/>
                <a:gdLst/>
                <a:ahLst/>
                <a:cxnLst/>
                <a:rect r="r" b="b" t="t" l="l"/>
                <a:pathLst>
                  <a:path h="1947982" w="5239331">
                    <a:moveTo>
                      <a:pt x="0" y="0"/>
                    </a:moveTo>
                    <a:lnTo>
                      <a:pt x="5239331" y="0"/>
                    </a:lnTo>
                    <a:lnTo>
                      <a:pt x="5239331" y="1947982"/>
                    </a:lnTo>
                    <a:lnTo>
                      <a:pt x="0" y="1947982"/>
                    </a:lnTo>
                    <a:close/>
                  </a:path>
                </a:pathLst>
              </a:custGeom>
              <a:solidFill>
                <a:srgbClr val="000000">
                  <a:alpha val="0"/>
                </a:srgbClr>
              </a:solidFill>
              <a:ln w="85725" cap="sq">
                <a:solidFill>
                  <a:srgbClr val="ACA18F"/>
                </a:solidFill>
                <a:prstDash val="solid"/>
                <a:miter/>
              </a:ln>
            </p:spPr>
          </p:sp>
          <p:sp>
            <p:nvSpPr>
              <p:cNvPr name="TextBox 16" id="16"/>
              <p:cNvSpPr txBox="true"/>
              <p:nvPr/>
            </p:nvSpPr>
            <p:spPr>
              <a:xfrm>
                <a:off x="0" y="-47625"/>
                <a:ext cx="5239331" cy="1995607"/>
              </a:xfrm>
              <a:prstGeom prst="rect">
                <a:avLst/>
              </a:prstGeom>
            </p:spPr>
            <p:txBody>
              <a:bodyPr anchor="ctr" rtlCol="false" tIns="48876" lIns="48876" bIns="48876" rIns="48876"/>
              <a:lstStyle/>
              <a:p>
                <a:pPr algn="ctr">
                  <a:lnSpc>
                    <a:spcPts val="1588"/>
                  </a:lnSpc>
                </a:pPr>
              </a:p>
            </p:txBody>
          </p:sp>
        </p:grpSp>
        <p:sp>
          <p:nvSpPr>
            <p:cNvPr name="Freeform 17" id="17"/>
            <p:cNvSpPr/>
            <p:nvPr/>
          </p:nvSpPr>
          <p:spPr>
            <a:xfrm flipH="false" flipV="false" rot="0">
              <a:off x="395360" y="339477"/>
              <a:ext cx="13965609" cy="4807446"/>
            </a:xfrm>
            <a:custGeom>
              <a:avLst/>
              <a:gdLst/>
              <a:ahLst/>
              <a:cxnLst/>
              <a:rect r="r" b="b" t="t" l="l"/>
              <a:pathLst>
                <a:path h="4807446" w="13965609">
                  <a:moveTo>
                    <a:pt x="0" y="0"/>
                  </a:moveTo>
                  <a:lnTo>
                    <a:pt x="13965609" y="0"/>
                  </a:lnTo>
                  <a:lnTo>
                    <a:pt x="13965609" y="4807446"/>
                  </a:lnTo>
                  <a:lnTo>
                    <a:pt x="0" y="4807446"/>
                  </a:lnTo>
                  <a:lnTo>
                    <a:pt x="0" y="0"/>
                  </a:lnTo>
                  <a:close/>
                </a:path>
              </a:pathLst>
            </a:custGeom>
            <a:blipFill>
              <a:blip r:embed="rId4"/>
              <a:stretch>
                <a:fillRect l="-2098" t="-44988" r="-3563" b="-59515"/>
              </a:stretch>
            </a:blipFill>
          </p:spPr>
        </p:sp>
      </p:grpSp>
      <p:sp>
        <p:nvSpPr>
          <p:cNvPr name="TextBox 18" id="18"/>
          <p:cNvSpPr txBox="true"/>
          <p:nvPr/>
        </p:nvSpPr>
        <p:spPr>
          <a:xfrm rot="0">
            <a:off x="14304348" y="9519861"/>
            <a:ext cx="3311757" cy="375285"/>
          </a:xfrm>
          <a:prstGeom prst="rect">
            <a:avLst/>
          </a:prstGeom>
        </p:spPr>
        <p:txBody>
          <a:bodyPr anchor="t" rtlCol="false" tIns="0" lIns="0" bIns="0" rIns="0">
            <a:spAutoFit/>
          </a:bodyPr>
          <a:lstStyle/>
          <a:p>
            <a:pPr algn="r">
              <a:lnSpc>
                <a:spcPts val="2940"/>
              </a:lnSpc>
            </a:pPr>
            <a:r>
              <a:rPr lang="en-US" sz="2100" b="true">
                <a:solidFill>
                  <a:srgbClr val="000000"/>
                </a:solidFill>
                <a:latin typeface="Poppins Bold"/>
                <a:ea typeface="Poppins Bold"/>
                <a:cs typeface="Poppins Bold"/>
                <a:sym typeface="Poppins Bold"/>
              </a:rPr>
              <a:t>NeuroVoice</a:t>
            </a:r>
          </a:p>
        </p:txBody>
      </p:sp>
      <p:sp>
        <p:nvSpPr>
          <p:cNvPr name="TextBox 19" id="19"/>
          <p:cNvSpPr txBox="true"/>
          <p:nvPr/>
        </p:nvSpPr>
        <p:spPr>
          <a:xfrm rot="0">
            <a:off x="1417356" y="2285487"/>
            <a:ext cx="15453287" cy="2252345"/>
          </a:xfrm>
          <a:prstGeom prst="rect">
            <a:avLst/>
          </a:prstGeom>
        </p:spPr>
        <p:txBody>
          <a:bodyPr anchor="t" rtlCol="false" tIns="0" lIns="0" bIns="0" rIns="0">
            <a:spAutoFit/>
          </a:bodyPr>
          <a:lstStyle/>
          <a:p>
            <a:pPr algn="just">
              <a:lnSpc>
                <a:spcPts val="4480"/>
              </a:lnSpc>
            </a:pPr>
            <a:r>
              <a:rPr lang="en-US" sz="3200">
                <a:solidFill>
                  <a:srgbClr val="000000"/>
                </a:solidFill>
                <a:latin typeface="Poppins"/>
                <a:ea typeface="Poppins"/>
                <a:cs typeface="Poppins"/>
                <a:sym typeface="Poppins"/>
              </a:rPr>
              <a:t>Communication cards are visual representations used to support individuals who have difficulties expressing themselves verbally. They allow messages to be conveyed through images that represent objects, activities, or ideas, facilitating interaction and daily communication.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7F6"/>
        </a:solidFill>
      </p:bgPr>
    </p:bg>
    <p:spTree>
      <p:nvGrpSpPr>
        <p:cNvPr id="1" name=""/>
        <p:cNvGrpSpPr/>
        <p:nvPr/>
      </p:nvGrpSpPr>
      <p:grpSpPr>
        <a:xfrm>
          <a:off x="0" y="0"/>
          <a:ext cx="0" cy="0"/>
          <a:chOff x="0" y="0"/>
          <a:chExt cx="0" cy="0"/>
        </a:xfrm>
      </p:grpSpPr>
      <p:grpSp>
        <p:nvGrpSpPr>
          <p:cNvPr name="Group 2" id="2"/>
          <p:cNvGrpSpPr/>
          <p:nvPr/>
        </p:nvGrpSpPr>
        <p:grpSpPr>
          <a:xfrm rot="0">
            <a:off x="722402" y="2660582"/>
            <a:ext cx="243225" cy="261738"/>
            <a:chOff x="0" y="0"/>
            <a:chExt cx="64059" cy="68935"/>
          </a:xfrm>
        </p:grpSpPr>
        <p:sp>
          <p:nvSpPr>
            <p:cNvPr name="Freeform 3" id="3"/>
            <p:cNvSpPr/>
            <p:nvPr/>
          </p:nvSpPr>
          <p:spPr>
            <a:xfrm flipH="false" flipV="false" rot="0">
              <a:off x="0" y="0"/>
              <a:ext cx="64059" cy="68935"/>
            </a:xfrm>
            <a:custGeom>
              <a:avLst/>
              <a:gdLst/>
              <a:ahLst/>
              <a:cxnLst/>
              <a:rect r="r" b="b" t="t" l="l"/>
              <a:pathLst>
                <a:path h="68935" w="64059">
                  <a:moveTo>
                    <a:pt x="0" y="0"/>
                  </a:moveTo>
                  <a:lnTo>
                    <a:pt x="64059" y="0"/>
                  </a:lnTo>
                  <a:lnTo>
                    <a:pt x="64059" y="68935"/>
                  </a:lnTo>
                  <a:lnTo>
                    <a:pt x="0" y="68935"/>
                  </a:lnTo>
                  <a:close/>
                </a:path>
              </a:pathLst>
            </a:custGeom>
            <a:solidFill>
              <a:srgbClr val="000000"/>
            </a:solidFill>
          </p:spPr>
        </p:sp>
        <p:sp>
          <p:nvSpPr>
            <p:cNvPr name="TextBox 4" id="4"/>
            <p:cNvSpPr txBox="true"/>
            <p:nvPr/>
          </p:nvSpPr>
          <p:spPr>
            <a:xfrm>
              <a:off x="0" y="-47625"/>
              <a:ext cx="64059" cy="116560"/>
            </a:xfrm>
            <a:prstGeom prst="rect">
              <a:avLst/>
            </a:prstGeom>
          </p:spPr>
          <p:txBody>
            <a:bodyPr anchor="ctr" rtlCol="false" tIns="50800" lIns="50800" bIns="50800" rIns="50800"/>
            <a:lstStyle/>
            <a:p>
              <a:pPr algn="ctr">
                <a:lnSpc>
                  <a:spcPts val="2697"/>
                </a:lnSpc>
              </a:pPr>
            </a:p>
          </p:txBody>
        </p:sp>
      </p:grpSp>
      <p:grpSp>
        <p:nvGrpSpPr>
          <p:cNvPr name="Group 5" id="5"/>
          <p:cNvGrpSpPr/>
          <p:nvPr/>
        </p:nvGrpSpPr>
        <p:grpSpPr>
          <a:xfrm rot="0">
            <a:off x="722402" y="5768494"/>
            <a:ext cx="243225" cy="261738"/>
            <a:chOff x="0" y="0"/>
            <a:chExt cx="64059" cy="68935"/>
          </a:xfrm>
        </p:grpSpPr>
        <p:sp>
          <p:nvSpPr>
            <p:cNvPr name="Freeform 6" id="6"/>
            <p:cNvSpPr/>
            <p:nvPr/>
          </p:nvSpPr>
          <p:spPr>
            <a:xfrm flipH="false" flipV="false" rot="0">
              <a:off x="0" y="0"/>
              <a:ext cx="64059" cy="68935"/>
            </a:xfrm>
            <a:custGeom>
              <a:avLst/>
              <a:gdLst/>
              <a:ahLst/>
              <a:cxnLst/>
              <a:rect r="r" b="b" t="t" l="l"/>
              <a:pathLst>
                <a:path h="68935" w="64059">
                  <a:moveTo>
                    <a:pt x="0" y="0"/>
                  </a:moveTo>
                  <a:lnTo>
                    <a:pt x="64059" y="0"/>
                  </a:lnTo>
                  <a:lnTo>
                    <a:pt x="64059" y="68935"/>
                  </a:lnTo>
                  <a:lnTo>
                    <a:pt x="0" y="68935"/>
                  </a:lnTo>
                  <a:close/>
                </a:path>
              </a:pathLst>
            </a:custGeom>
            <a:solidFill>
              <a:srgbClr val="000000"/>
            </a:solidFill>
          </p:spPr>
        </p:sp>
        <p:sp>
          <p:nvSpPr>
            <p:cNvPr name="TextBox 7" id="7"/>
            <p:cNvSpPr txBox="true"/>
            <p:nvPr/>
          </p:nvSpPr>
          <p:spPr>
            <a:xfrm>
              <a:off x="0" y="-47625"/>
              <a:ext cx="64059" cy="116560"/>
            </a:xfrm>
            <a:prstGeom prst="rect">
              <a:avLst/>
            </a:prstGeom>
          </p:spPr>
          <p:txBody>
            <a:bodyPr anchor="ctr" rtlCol="false" tIns="50800" lIns="50800" bIns="50800" rIns="50800"/>
            <a:lstStyle/>
            <a:p>
              <a:pPr algn="ctr">
                <a:lnSpc>
                  <a:spcPts val="2697"/>
                </a:lnSpc>
              </a:pPr>
            </a:p>
          </p:txBody>
        </p:sp>
      </p:grpSp>
      <p:sp>
        <p:nvSpPr>
          <p:cNvPr name="Freeform 8" id="8"/>
          <p:cNvSpPr/>
          <p:nvPr/>
        </p:nvSpPr>
        <p:spPr>
          <a:xfrm flipH="false" flipV="false" rot="-5400000">
            <a:off x="9730245" y="135345"/>
            <a:ext cx="492984" cy="2279693"/>
          </a:xfrm>
          <a:custGeom>
            <a:avLst/>
            <a:gdLst/>
            <a:ahLst/>
            <a:cxnLst/>
            <a:rect r="r" b="b" t="t" l="l"/>
            <a:pathLst>
              <a:path h="2279693" w="492984">
                <a:moveTo>
                  <a:pt x="0" y="0"/>
                </a:moveTo>
                <a:lnTo>
                  <a:pt x="492984" y="0"/>
                </a:lnTo>
                <a:lnTo>
                  <a:pt x="492984" y="2279693"/>
                </a:lnTo>
                <a:lnTo>
                  <a:pt x="0" y="22796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402333" y="581494"/>
            <a:ext cx="4818719" cy="4722344"/>
          </a:xfrm>
          <a:custGeom>
            <a:avLst/>
            <a:gdLst/>
            <a:ahLst/>
            <a:cxnLst/>
            <a:rect r="r" b="b" t="t" l="l"/>
            <a:pathLst>
              <a:path h="4722344" w="4818719">
                <a:moveTo>
                  <a:pt x="0" y="0"/>
                </a:moveTo>
                <a:lnTo>
                  <a:pt x="4818719" y="0"/>
                </a:lnTo>
                <a:lnTo>
                  <a:pt x="4818719" y="4722345"/>
                </a:lnTo>
                <a:lnTo>
                  <a:pt x="0" y="47223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410292">
            <a:off x="14713605" y="4458892"/>
            <a:ext cx="2282476" cy="2821037"/>
          </a:xfrm>
          <a:custGeom>
            <a:avLst/>
            <a:gdLst/>
            <a:ahLst/>
            <a:cxnLst/>
            <a:rect r="r" b="b" t="t" l="l"/>
            <a:pathLst>
              <a:path h="2821037" w="2282476">
                <a:moveTo>
                  <a:pt x="2282475" y="0"/>
                </a:moveTo>
                <a:lnTo>
                  <a:pt x="0" y="0"/>
                </a:lnTo>
                <a:lnTo>
                  <a:pt x="0" y="2821037"/>
                </a:lnTo>
                <a:lnTo>
                  <a:pt x="2282475" y="2821037"/>
                </a:lnTo>
                <a:lnTo>
                  <a:pt x="2282475" y="0"/>
                </a:lnTo>
                <a:close/>
              </a:path>
            </a:pathLst>
          </a:custGeom>
          <a:blipFill>
            <a:blip r:embed="rId6">
              <a:alphaModFix amt="47000"/>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2843171" y="5944257"/>
            <a:ext cx="1825955" cy="3347585"/>
          </a:xfrm>
          <a:custGeom>
            <a:avLst/>
            <a:gdLst/>
            <a:ahLst/>
            <a:cxnLst/>
            <a:rect r="r" b="b" t="t" l="l"/>
            <a:pathLst>
              <a:path h="3347585" w="1825955">
                <a:moveTo>
                  <a:pt x="0" y="0"/>
                </a:moveTo>
                <a:lnTo>
                  <a:pt x="1825955" y="0"/>
                </a:lnTo>
                <a:lnTo>
                  <a:pt x="1825955" y="3347585"/>
                </a:lnTo>
                <a:lnTo>
                  <a:pt x="0" y="33475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576336">
            <a:off x="12778218" y="6266353"/>
            <a:ext cx="1955862" cy="2460566"/>
          </a:xfrm>
          <a:custGeom>
            <a:avLst/>
            <a:gdLst/>
            <a:ahLst/>
            <a:cxnLst/>
            <a:rect r="r" b="b" t="t" l="l"/>
            <a:pathLst>
              <a:path h="2460566" w="1955862">
                <a:moveTo>
                  <a:pt x="0" y="268214"/>
                </a:moveTo>
                <a:lnTo>
                  <a:pt x="1584832" y="0"/>
                </a:lnTo>
                <a:lnTo>
                  <a:pt x="1955862" y="2192352"/>
                </a:lnTo>
                <a:lnTo>
                  <a:pt x="371029" y="2460566"/>
                </a:lnTo>
                <a:lnTo>
                  <a:pt x="0" y="268214"/>
                </a:lnTo>
                <a:close/>
              </a:path>
            </a:pathLst>
          </a:custGeom>
          <a:blipFill>
            <a:blip r:embed="rId4">
              <a:alphaModFix amt="50000"/>
              <a:extLst>
                <a:ext uri="{96DAC541-7B7A-43D3-8B79-37D633B846F1}">
                  <asvg:svgBlip xmlns:asvg="http://schemas.microsoft.com/office/drawing/2016/SVG/main" r:embed="rId5"/>
                </a:ext>
              </a:extLst>
            </a:blip>
            <a:stretch>
              <a:fillRect l="-23559" t="-72625" r="-110425" b="-9644"/>
            </a:stretch>
          </a:blipFill>
        </p:spPr>
      </p:sp>
      <p:sp>
        <p:nvSpPr>
          <p:cNvPr name="Freeform 13" id="13"/>
          <p:cNvSpPr/>
          <p:nvPr/>
        </p:nvSpPr>
        <p:spPr>
          <a:xfrm flipH="false" flipV="false" rot="0">
            <a:off x="12952465" y="8045346"/>
            <a:ext cx="1314407" cy="1980699"/>
          </a:xfrm>
          <a:custGeom>
            <a:avLst/>
            <a:gdLst/>
            <a:ahLst/>
            <a:cxnLst/>
            <a:rect r="r" b="b" t="t" l="l"/>
            <a:pathLst>
              <a:path h="1980699" w="1314407">
                <a:moveTo>
                  <a:pt x="0" y="0"/>
                </a:moveTo>
                <a:lnTo>
                  <a:pt x="1314406" y="0"/>
                </a:lnTo>
                <a:lnTo>
                  <a:pt x="1314406" y="1980699"/>
                </a:lnTo>
                <a:lnTo>
                  <a:pt x="0" y="198069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4" id="14"/>
          <p:cNvSpPr txBox="true"/>
          <p:nvPr/>
        </p:nvSpPr>
        <p:spPr>
          <a:xfrm rot="0">
            <a:off x="1250498" y="3255319"/>
            <a:ext cx="8726239" cy="1682115"/>
          </a:xfrm>
          <a:prstGeom prst="rect">
            <a:avLst/>
          </a:prstGeom>
        </p:spPr>
        <p:txBody>
          <a:bodyPr anchor="t" rtlCol="false" tIns="0" lIns="0" bIns="0" rIns="0">
            <a:spAutoFit/>
          </a:bodyPr>
          <a:lstStyle/>
          <a:p>
            <a:pPr algn="just">
              <a:lnSpc>
                <a:spcPts val="3359"/>
              </a:lnSpc>
            </a:pPr>
            <a:r>
              <a:rPr lang="en-US" sz="2399">
                <a:solidFill>
                  <a:srgbClr val="000000"/>
                </a:solidFill>
                <a:latin typeface="Poppins"/>
                <a:ea typeface="Poppins"/>
                <a:cs typeface="Poppins"/>
                <a:sym typeface="Poppins"/>
              </a:rPr>
              <a:t>Physical non-verbal communication cards are not very portable, difficult to customize, and not very engaging for neurodivergent children, which hinders communication and can lead to frustration.</a:t>
            </a:r>
          </a:p>
        </p:txBody>
      </p:sp>
      <p:sp>
        <p:nvSpPr>
          <p:cNvPr name="TextBox 15" id="15"/>
          <p:cNvSpPr txBox="true"/>
          <p:nvPr/>
        </p:nvSpPr>
        <p:spPr>
          <a:xfrm rot="0">
            <a:off x="1250498" y="2349491"/>
            <a:ext cx="3025859" cy="800100"/>
          </a:xfrm>
          <a:prstGeom prst="rect">
            <a:avLst/>
          </a:prstGeom>
        </p:spPr>
        <p:txBody>
          <a:bodyPr anchor="t" rtlCol="false" tIns="0" lIns="0" bIns="0" rIns="0">
            <a:spAutoFit/>
          </a:bodyPr>
          <a:lstStyle/>
          <a:p>
            <a:pPr algn="l">
              <a:lnSpc>
                <a:spcPts val="6299"/>
              </a:lnSpc>
            </a:pPr>
            <a:r>
              <a:rPr lang="en-US" sz="4499">
                <a:solidFill>
                  <a:srgbClr val="000000"/>
                </a:solidFill>
                <a:latin typeface="Poppins"/>
                <a:ea typeface="Poppins"/>
                <a:cs typeface="Poppins"/>
                <a:sym typeface="Poppins"/>
              </a:rPr>
              <a:t>PROBLEM</a:t>
            </a:r>
          </a:p>
        </p:txBody>
      </p:sp>
      <p:sp>
        <p:nvSpPr>
          <p:cNvPr name="TextBox 16" id="16"/>
          <p:cNvSpPr txBox="true"/>
          <p:nvPr/>
        </p:nvSpPr>
        <p:spPr>
          <a:xfrm rot="0">
            <a:off x="1250498" y="6363231"/>
            <a:ext cx="8726239" cy="1682115"/>
          </a:xfrm>
          <a:prstGeom prst="rect">
            <a:avLst/>
          </a:prstGeom>
        </p:spPr>
        <p:txBody>
          <a:bodyPr anchor="t" rtlCol="false" tIns="0" lIns="0" bIns="0" rIns="0">
            <a:spAutoFit/>
          </a:bodyPr>
          <a:lstStyle/>
          <a:p>
            <a:pPr algn="just">
              <a:lnSpc>
                <a:spcPts val="3359"/>
              </a:lnSpc>
            </a:pPr>
            <a:r>
              <a:rPr lang="en-US" sz="2399">
                <a:solidFill>
                  <a:srgbClr val="000000"/>
                </a:solidFill>
                <a:latin typeface="Poppins"/>
                <a:ea typeface="Poppins"/>
                <a:cs typeface="Poppins"/>
                <a:sym typeface="Poppins"/>
              </a:rPr>
              <a:t>NeuroVoice digitizes these cards into a mobile app with images, categories, and audio, providing an inclusive, practical tool adapted to modern times to improve daily communication.</a:t>
            </a:r>
          </a:p>
        </p:txBody>
      </p:sp>
      <p:sp>
        <p:nvSpPr>
          <p:cNvPr name="TextBox 17" id="17"/>
          <p:cNvSpPr txBox="true"/>
          <p:nvPr/>
        </p:nvSpPr>
        <p:spPr>
          <a:xfrm rot="0">
            <a:off x="1250498" y="5457403"/>
            <a:ext cx="3025859" cy="800100"/>
          </a:xfrm>
          <a:prstGeom prst="rect">
            <a:avLst/>
          </a:prstGeom>
        </p:spPr>
        <p:txBody>
          <a:bodyPr anchor="t" rtlCol="false" tIns="0" lIns="0" bIns="0" rIns="0">
            <a:spAutoFit/>
          </a:bodyPr>
          <a:lstStyle/>
          <a:p>
            <a:pPr algn="l">
              <a:lnSpc>
                <a:spcPts val="6299"/>
              </a:lnSpc>
            </a:pPr>
            <a:r>
              <a:rPr lang="en-US" sz="4499">
                <a:solidFill>
                  <a:srgbClr val="000000"/>
                </a:solidFill>
                <a:latin typeface="Poppins"/>
                <a:ea typeface="Poppins"/>
                <a:cs typeface="Poppins"/>
                <a:sym typeface="Poppins"/>
              </a:rPr>
              <a:t>SOLUTION</a:t>
            </a:r>
          </a:p>
        </p:txBody>
      </p:sp>
      <p:sp>
        <p:nvSpPr>
          <p:cNvPr name="TextBox 18" id="18"/>
          <p:cNvSpPr txBox="true"/>
          <p:nvPr/>
        </p:nvSpPr>
        <p:spPr>
          <a:xfrm rot="0">
            <a:off x="445649" y="9201150"/>
            <a:ext cx="3311757" cy="375285"/>
          </a:xfrm>
          <a:prstGeom prst="rect">
            <a:avLst/>
          </a:prstGeom>
        </p:spPr>
        <p:txBody>
          <a:bodyPr anchor="t" rtlCol="false" tIns="0" lIns="0" bIns="0" rIns="0">
            <a:spAutoFit/>
          </a:bodyPr>
          <a:lstStyle/>
          <a:p>
            <a:pPr algn="just">
              <a:lnSpc>
                <a:spcPts val="2940"/>
              </a:lnSpc>
            </a:pPr>
            <a:r>
              <a:rPr lang="en-US" sz="2100" b="true">
                <a:solidFill>
                  <a:srgbClr val="000000"/>
                </a:solidFill>
                <a:latin typeface="Poppins Bold"/>
                <a:ea typeface="Poppins Bold"/>
                <a:cs typeface="Poppins Bold"/>
                <a:sym typeface="Poppins Bold"/>
              </a:rPr>
              <a:t>NeuroVoice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7F6"/>
        </a:solidFill>
      </p:bgPr>
    </p:bg>
    <p:spTree>
      <p:nvGrpSpPr>
        <p:cNvPr id="1" name=""/>
        <p:cNvGrpSpPr/>
        <p:nvPr/>
      </p:nvGrpSpPr>
      <p:grpSpPr>
        <a:xfrm>
          <a:off x="0" y="0"/>
          <a:ext cx="0" cy="0"/>
          <a:chOff x="0" y="0"/>
          <a:chExt cx="0" cy="0"/>
        </a:xfrm>
      </p:grpSpPr>
      <p:grpSp>
        <p:nvGrpSpPr>
          <p:cNvPr name="Group 2" id="2"/>
          <p:cNvGrpSpPr/>
          <p:nvPr/>
        </p:nvGrpSpPr>
        <p:grpSpPr>
          <a:xfrm rot="0">
            <a:off x="1028700" y="2435612"/>
            <a:ext cx="7488617" cy="7522444"/>
            <a:chOff x="0" y="0"/>
            <a:chExt cx="3545177" cy="3561191"/>
          </a:xfrm>
        </p:grpSpPr>
        <p:sp>
          <p:nvSpPr>
            <p:cNvPr name="Freeform 3" id="3"/>
            <p:cNvSpPr/>
            <p:nvPr/>
          </p:nvSpPr>
          <p:spPr>
            <a:xfrm flipH="false" flipV="false" rot="0">
              <a:off x="0" y="0"/>
              <a:ext cx="3545177" cy="3561191"/>
            </a:xfrm>
            <a:custGeom>
              <a:avLst/>
              <a:gdLst/>
              <a:ahLst/>
              <a:cxnLst/>
              <a:rect r="r" b="b" t="t" l="l"/>
              <a:pathLst>
                <a:path h="3561191" w="3545177">
                  <a:moveTo>
                    <a:pt x="0" y="0"/>
                  </a:moveTo>
                  <a:lnTo>
                    <a:pt x="3545177" y="0"/>
                  </a:lnTo>
                  <a:lnTo>
                    <a:pt x="3545177" y="3561191"/>
                  </a:lnTo>
                  <a:lnTo>
                    <a:pt x="0" y="3561191"/>
                  </a:lnTo>
                  <a:close/>
                </a:path>
              </a:pathLst>
            </a:custGeom>
            <a:solidFill>
              <a:srgbClr val="000000">
                <a:alpha val="0"/>
              </a:srgbClr>
            </a:solidFill>
            <a:ln w="85725" cap="sq">
              <a:solidFill>
                <a:srgbClr val="ACA18F"/>
              </a:solidFill>
              <a:prstDash val="solid"/>
              <a:miter/>
            </a:ln>
          </p:spPr>
        </p:sp>
        <p:sp>
          <p:nvSpPr>
            <p:cNvPr name="TextBox 4" id="4"/>
            <p:cNvSpPr txBox="true"/>
            <p:nvPr/>
          </p:nvSpPr>
          <p:spPr>
            <a:xfrm>
              <a:off x="0" y="-47625"/>
              <a:ext cx="3545177" cy="3608816"/>
            </a:xfrm>
            <a:prstGeom prst="rect">
              <a:avLst/>
            </a:prstGeom>
          </p:spPr>
          <p:txBody>
            <a:bodyPr anchor="ctr" rtlCol="false" tIns="48876" lIns="48876" bIns="48876" rIns="48876"/>
            <a:lstStyle/>
            <a:p>
              <a:pPr algn="ctr">
                <a:lnSpc>
                  <a:spcPts val="1588"/>
                </a:lnSpc>
              </a:pPr>
            </a:p>
          </p:txBody>
        </p:sp>
      </p:grpSp>
      <p:grpSp>
        <p:nvGrpSpPr>
          <p:cNvPr name="Group 5" id="5"/>
          <p:cNvGrpSpPr/>
          <p:nvPr/>
        </p:nvGrpSpPr>
        <p:grpSpPr>
          <a:xfrm rot="0">
            <a:off x="9770683" y="2435612"/>
            <a:ext cx="7488617" cy="7522444"/>
            <a:chOff x="0" y="0"/>
            <a:chExt cx="3545177" cy="3561191"/>
          </a:xfrm>
        </p:grpSpPr>
        <p:sp>
          <p:nvSpPr>
            <p:cNvPr name="Freeform 6" id="6"/>
            <p:cNvSpPr/>
            <p:nvPr/>
          </p:nvSpPr>
          <p:spPr>
            <a:xfrm flipH="false" flipV="false" rot="0">
              <a:off x="0" y="0"/>
              <a:ext cx="3545177" cy="3561191"/>
            </a:xfrm>
            <a:custGeom>
              <a:avLst/>
              <a:gdLst/>
              <a:ahLst/>
              <a:cxnLst/>
              <a:rect r="r" b="b" t="t" l="l"/>
              <a:pathLst>
                <a:path h="3561191" w="3545177">
                  <a:moveTo>
                    <a:pt x="0" y="0"/>
                  </a:moveTo>
                  <a:lnTo>
                    <a:pt x="3545177" y="0"/>
                  </a:lnTo>
                  <a:lnTo>
                    <a:pt x="3545177" y="3561191"/>
                  </a:lnTo>
                  <a:lnTo>
                    <a:pt x="0" y="3561191"/>
                  </a:lnTo>
                  <a:close/>
                </a:path>
              </a:pathLst>
            </a:custGeom>
            <a:solidFill>
              <a:srgbClr val="000000">
                <a:alpha val="0"/>
              </a:srgbClr>
            </a:solidFill>
            <a:ln w="85725" cap="sq">
              <a:solidFill>
                <a:srgbClr val="ACA18F"/>
              </a:solidFill>
              <a:prstDash val="solid"/>
              <a:miter/>
            </a:ln>
          </p:spPr>
        </p:sp>
        <p:sp>
          <p:nvSpPr>
            <p:cNvPr name="TextBox 7" id="7"/>
            <p:cNvSpPr txBox="true"/>
            <p:nvPr/>
          </p:nvSpPr>
          <p:spPr>
            <a:xfrm>
              <a:off x="0" y="-47625"/>
              <a:ext cx="3545177" cy="3608816"/>
            </a:xfrm>
            <a:prstGeom prst="rect">
              <a:avLst/>
            </a:prstGeom>
          </p:spPr>
          <p:txBody>
            <a:bodyPr anchor="ctr" rtlCol="false" tIns="48876" lIns="48876" bIns="48876" rIns="48876"/>
            <a:lstStyle/>
            <a:p>
              <a:pPr algn="ctr">
                <a:lnSpc>
                  <a:spcPts val="1588"/>
                </a:lnSpc>
              </a:pPr>
            </a:p>
          </p:txBody>
        </p:sp>
      </p:grpSp>
      <p:sp>
        <p:nvSpPr>
          <p:cNvPr name="Freeform 8" id="8"/>
          <p:cNvSpPr/>
          <p:nvPr/>
        </p:nvSpPr>
        <p:spPr>
          <a:xfrm flipH="false" flipV="false" rot="0">
            <a:off x="3125252" y="8244389"/>
            <a:ext cx="3295513" cy="1713667"/>
          </a:xfrm>
          <a:custGeom>
            <a:avLst/>
            <a:gdLst/>
            <a:ahLst/>
            <a:cxnLst/>
            <a:rect r="r" b="b" t="t" l="l"/>
            <a:pathLst>
              <a:path h="1713667" w="3295513">
                <a:moveTo>
                  <a:pt x="0" y="0"/>
                </a:moveTo>
                <a:lnTo>
                  <a:pt x="3295513" y="0"/>
                </a:lnTo>
                <a:lnTo>
                  <a:pt x="3295513" y="1713667"/>
                </a:lnTo>
                <a:lnTo>
                  <a:pt x="0" y="17136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073539" y="7282748"/>
            <a:ext cx="2156373" cy="2263909"/>
          </a:xfrm>
          <a:custGeom>
            <a:avLst/>
            <a:gdLst/>
            <a:ahLst/>
            <a:cxnLst/>
            <a:rect r="r" b="b" t="t" l="l"/>
            <a:pathLst>
              <a:path h="2263909" w="2156373">
                <a:moveTo>
                  <a:pt x="0" y="0"/>
                </a:moveTo>
                <a:lnTo>
                  <a:pt x="2156374" y="0"/>
                </a:lnTo>
                <a:lnTo>
                  <a:pt x="2156374" y="2263909"/>
                </a:lnTo>
                <a:lnTo>
                  <a:pt x="0" y="22639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0550229" y="7422198"/>
            <a:ext cx="2681445" cy="2057400"/>
          </a:xfrm>
          <a:custGeom>
            <a:avLst/>
            <a:gdLst/>
            <a:ahLst/>
            <a:cxnLst/>
            <a:rect r="r" b="b" t="t" l="l"/>
            <a:pathLst>
              <a:path h="2057400" w="2681445">
                <a:moveTo>
                  <a:pt x="0" y="0"/>
                </a:moveTo>
                <a:lnTo>
                  <a:pt x="2681446" y="0"/>
                </a:lnTo>
                <a:lnTo>
                  <a:pt x="2681446"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5897555" y="866775"/>
            <a:ext cx="6492891" cy="1010285"/>
          </a:xfrm>
          <a:prstGeom prst="rect">
            <a:avLst/>
          </a:prstGeom>
        </p:spPr>
        <p:txBody>
          <a:bodyPr anchor="t" rtlCol="false" tIns="0" lIns="0" bIns="0" rIns="0">
            <a:spAutoFit/>
          </a:bodyPr>
          <a:lstStyle/>
          <a:p>
            <a:pPr algn="ctr">
              <a:lnSpc>
                <a:spcPts val="7840"/>
              </a:lnSpc>
            </a:pPr>
            <a:r>
              <a:rPr lang="en-US" sz="5600">
                <a:solidFill>
                  <a:srgbClr val="000000"/>
                </a:solidFill>
                <a:latin typeface="Poppins"/>
                <a:ea typeface="Poppins"/>
                <a:cs typeface="Poppins"/>
                <a:sym typeface="Poppins"/>
              </a:rPr>
              <a:t>TARGET AUDIENCE</a:t>
            </a:r>
          </a:p>
        </p:txBody>
      </p:sp>
      <p:sp>
        <p:nvSpPr>
          <p:cNvPr name="TextBox 12" id="12"/>
          <p:cNvSpPr txBox="true"/>
          <p:nvPr/>
        </p:nvSpPr>
        <p:spPr>
          <a:xfrm rot="0">
            <a:off x="1250498" y="2713673"/>
            <a:ext cx="6989180" cy="4294505"/>
          </a:xfrm>
          <a:prstGeom prst="rect">
            <a:avLst/>
          </a:prstGeom>
        </p:spPr>
        <p:txBody>
          <a:bodyPr anchor="t" rtlCol="false" tIns="0" lIns="0" bIns="0" rIns="0">
            <a:spAutoFit/>
          </a:bodyPr>
          <a:lstStyle/>
          <a:p>
            <a:pPr algn="ctr">
              <a:lnSpc>
                <a:spcPts val="4899"/>
              </a:lnSpc>
            </a:pPr>
            <a:r>
              <a:rPr lang="en-US" sz="3499" b="true">
                <a:solidFill>
                  <a:srgbClr val="000000"/>
                </a:solidFill>
                <a:latin typeface="Poppins Bold"/>
                <a:ea typeface="Poppins Bold"/>
                <a:cs typeface="Poppins Bold"/>
                <a:sym typeface="Poppins Bold"/>
              </a:rPr>
              <a:t>Primary</a:t>
            </a:r>
          </a:p>
          <a:p>
            <a:pPr algn="just" marL="561342" indent="-280671" lvl="1">
              <a:lnSpc>
                <a:spcPts val="3640"/>
              </a:lnSpc>
              <a:buFont typeface="Arial"/>
              <a:buChar char="•"/>
            </a:pPr>
            <a:r>
              <a:rPr lang="en-US" sz="2600">
                <a:solidFill>
                  <a:srgbClr val="000000"/>
                </a:solidFill>
                <a:latin typeface="Poppins"/>
                <a:ea typeface="Poppins"/>
                <a:cs typeface="Poppins"/>
                <a:sym typeface="Poppins"/>
              </a:rPr>
              <a:t>K</a:t>
            </a:r>
            <a:r>
              <a:rPr lang="en-US" sz="2600">
                <a:solidFill>
                  <a:srgbClr val="000000"/>
                </a:solidFill>
                <a:latin typeface="Poppins"/>
                <a:ea typeface="Poppins"/>
                <a:cs typeface="Poppins"/>
                <a:sym typeface="Poppins"/>
              </a:rPr>
              <a:t>indergarten and first-grade children who are still developing the ability to identify and regulate their emotions.</a:t>
            </a:r>
          </a:p>
          <a:p>
            <a:pPr algn="just">
              <a:lnSpc>
                <a:spcPts val="3640"/>
              </a:lnSpc>
            </a:pPr>
          </a:p>
          <a:p>
            <a:pPr algn="just" marL="561342" indent="-280671" lvl="1">
              <a:lnSpc>
                <a:spcPts val="3640"/>
              </a:lnSpc>
              <a:buFont typeface="Arial"/>
              <a:buChar char="•"/>
            </a:pPr>
            <a:r>
              <a:rPr lang="en-US" sz="2600">
                <a:solidFill>
                  <a:srgbClr val="000000"/>
                </a:solidFill>
                <a:latin typeface="Poppins"/>
                <a:ea typeface="Poppins"/>
                <a:cs typeface="Poppins"/>
                <a:sym typeface="Poppins"/>
              </a:rPr>
              <a:t>This</a:t>
            </a:r>
            <a:r>
              <a:rPr lang="en-US" sz="2600">
                <a:solidFill>
                  <a:srgbClr val="000000"/>
                </a:solidFill>
                <a:latin typeface="Poppins"/>
                <a:ea typeface="Poppins"/>
                <a:cs typeface="Poppins"/>
                <a:sym typeface="Poppins"/>
              </a:rPr>
              <a:t> aims to support early emotional recognition and management, especially considering potential needs related to neurodivergence.</a:t>
            </a:r>
          </a:p>
        </p:txBody>
      </p:sp>
      <p:sp>
        <p:nvSpPr>
          <p:cNvPr name="TextBox 13" id="13"/>
          <p:cNvSpPr txBox="true"/>
          <p:nvPr/>
        </p:nvSpPr>
        <p:spPr>
          <a:xfrm rot="0">
            <a:off x="10082591" y="2704148"/>
            <a:ext cx="6864802" cy="4304030"/>
          </a:xfrm>
          <a:prstGeom prst="rect">
            <a:avLst/>
          </a:prstGeom>
        </p:spPr>
        <p:txBody>
          <a:bodyPr anchor="t" rtlCol="false" tIns="0" lIns="0" bIns="0" rIns="0">
            <a:spAutoFit/>
          </a:bodyPr>
          <a:lstStyle/>
          <a:p>
            <a:pPr algn="ctr">
              <a:lnSpc>
                <a:spcPts val="4900"/>
              </a:lnSpc>
            </a:pPr>
            <a:r>
              <a:rPr lang="en-US" sz="3500" b="true">
                <a:solidFill>
                  <a:srgbClr val="000000"/>
                </a:solidFill>
                <a:latin typeface="Poppins Bold"/>
                <a:ea typeface="Poppins Bold"/>
                <a:cs typeface="Poppins Bold"/>
                <a:sym typeface="Poppins Bold"/>
              </a:rPr>
              <a:t>Secondary</a:t>
            </a:r>
          </a:p>
          <a:p>
            <a:pPr algn="just" marL="561342" indent="-280671" lvl="1">
              <a:lnSpc>
                <a:spcPts val="3640"/>
              </a:lnSpc>
              <a:buFont typeface="Arial"/>
              <a:buChar char="•"/>
            </a:pPr>
            <a:r>
              <a:rPr lang="en-US" sz="2600">
                <a:solidFill>
                  <a:srgbClr val="000000"/>
                </a:solidFill>
                <a:latin typeface="Poppins"/>
                <a:ea typeface="Poppins"/>
                <a:cs typeface="Poppins"/>
                <a:sym typeface="Poppins"/>
              </a:rPr>
              <a:t>N</a:t>
            </a:r>
            <a:r>
              <a:rPr lang="en-US" sz="2600">
                <a:solidFill>
                  <a:srgbClr val="000000"/>
                </a:solidFill>
                <a:latin typeface="Poppins"/>
                <a:ea typeface="Poppins"/>
                <a:cs typeface="Poppins"/>
                <a:sym typeface="Poppins"/>
              </a:rPr>
              <a:t>eurodivergent individuals who require support to communicate emotions.</a:t>
            </a:r>
          </a:p>
          <a:p>
            <a:pPr algn="just">
              <a:lnSpc>
                <a:spcPts val="3640"/>
              </a:lnSpc>
            </a:pPr>
          </a:p>
          <a:p>
            <a:pPr algn="just" marL="561342" indent="-280671" lvl="1">
              <a:lnSpc>
                <a:spcPts val="3640"/>
              </a:lnSpc>
              <a:buFont typeface="Arial"/>
              <a:buChar char="•"/>
            </a:pPr>
            <a:r>
              <a:rPr lang="en-US" sz="2600">
                <a:solidFill>
                  <a:srgbClr val="000000"/>
                </a:solidFill>
                <a:latin typeface="Poppins"/>
                <a:ea typeface="Poppins"/>
                <a:cs typeface="Poppins"/>
                <a:sym typeface="Poppins"/>
              </a:rPr>
              <a:t>Educators, psychology professionals, and classroom assistants who support socio-emotional development processes.</a:t>
            </a:r>
          </a:p>
        </p:txBody>
      </p:sp>
      <p:sp>
        <p:nvSpPr>
          <p:cNvPr name="TextBox 14" id="14"/>
          <p:cNvSpPr txBox="true"/>
          <p:nvPr/>
        </p:nvSpPr>
        <p:spPr>
          <a:xfrm rot="0">
            <a:off x="1028700" y="653415"/>
            <a:ext cx="3311757" cy="375285"/>
          </a:xfrm>
          <a:prstGeom prst="rect">
            <a:avLst/>
          </a:prstGeom>
        </p:spPr>
        <p:txBody>
          <a:bodyPr anchor="t" rtlCol="false" tIns="0" lIns="0" bIns="0" rIns="0">
            <a:spAutoFit/>
          </a:bodyPr>
          <a:lstStyle/>
          <a:p>
            <a:pPr algn="just">
              <a:lnSpc>
                <a:spcPts val="2940"/>
              </a:lnSpc>
            </a:pPr>
            <a:r>
              <a:rPr lang="en-US" sz="2100" b="true">
                <a:solidFill>
                  <a:srgbClr val="000000"/>
                </a:solidFill>
                <a:latin typeface="Poppins Bold"/>
                <a:ea typeface="Poppins Bold"/>
                <a:cs typeface="Poppins Bold"/>
                <a:sym typeface="Poppins Bold"/>
              </a:rPr>
              <a:t>NeuroVoice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7F6"/>
        </a:solidFill>
      </p:bgPr>
    </p:bg>
    <p:spTree>
      <p:nvGrpSpPr>
        <p:cNvPr id="1" name=""/>
        <p:cNvGrpSpPr/>
        <p:nvPr/>
      </p:nvGrpSpPr>
      <p:grpSpPr>
        <a:xfrm>
          <a:off x="0" y="0"/>
          <a:ext cx="0" cy="0"/>
          <a:chOff x="0" y="0"/>
          <a:chExt cx="0" cy="0"/>
        </a:xfrm>
      </p:grpSpPr>
      <p:sp>
        <p:nvSpPr>
          <p:cNvPr name="Freeform 2" id="2"/>
          <p:cNvSpPr/>
          <p:nvPr/>
        </p:nvSpPr>
        <p:spPr>
          <a:xfrm flipH="false" flipV="false" rot="0">
            <a:off x="15858988" y="-2115185"/>
            <a:ext cx="4129818" cy="4114800"/>
          </a:xfrm>
          <a:custGeom>
            <a:avLst/>
            <a:gdLst/>
            <a:ahLst/>
            <a:cxnLst/>
            <a:rect r="r" b="b" t="t" l="l"/>
            <a:pathLst>
              <a:path h="4114800" w="4129818">
                <a:moveTo>
                  <a:pt x="0" y="0"/>
                </a:moveTo>
                <a:lnTo>
                  <a:pt x="4129818" y="0"/>
                </a:lnTo>
                <a:lnTo>
                  <a:pt x="412981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691468" y="8782199"/>
            <a:ext cx="3382937" cy="3370635"/>
          </a:xfrm>
          <a:custGeom>
            <a:avLst/>
            <a:gdLst/>
            <a:ahLst/>
            <a:cxnLst/>
            <a:rect r="r" b="b" t="t" l="l"/>
            <a:pathLst>
              <a:path h="3370635" w="3382937">
                <a:moveTo>
                  <a:pt x="0" y="0"/>
                </a:moveTo>
                <a:lnTo>
                  <a:pt x="3382936" y="0"/>
                </a:lnTo>
                <a:lnTo>
                  <a:pt x="3382936" y="3370635"/>
                </a:lnTo>
                <a:lnTo>
                  <a:pt x="0" y="33706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4377557" y="5143500"/>
            <a:ext cx="3039133" cy="4114800"/>
            <a:chOff x="0" y="0"/>
            <a:chExt cx="1438752" cy="1947982"/>
          </a:xfrm>
        </p:grpSpPr>
        <p:sp>
          <p:nvSpPr>
            <p:cNvPr name="Freeform 5" id="5"/>
            <p:cNvSpPr/>
            <p:nvPr/>
          </p:nvSpPr>
          <p:spPr>
            <a:xfrm flipH="false" flipV="false" rot="0">
              <a:off x="0" y="0"/>
              <a:ext cx="1438752" cy="1947982"/>
            </a:xfrm>
            <a:custGeom>
              <a:avLst/>
              <a:gdLst/>
              <a:ahLst/>
              <a:cxnLst/>
              <a:rect r="r" b="b" t="t" l="l"/>
              <a:pathLst>
                <a:path h="1947982" w="1438752">
                  <a:moveTo>
                    <a:pt x="0" y="0"/>
                  </a:moveTo>
                  <a:lnTo>
                    <a:pt x="1438752" y="0"/>
                  </a:lnTo>
                  <a:lnTo>
                    <a:pt x="1438752" y="1947982"/>
                  </a:lnTo>
                  <a:lnTo>
                    <a:pt x="0" y="1947982"/>
                  </a:lnTo>
                  <a:close/>
                </a:path>
              </a:pathLst>
            </a:custGeom>
            <a:solidFill>
              <a:srgbClr val="000000">
                <a:alpha val="0"/>
              </a:srgbClr>
            </a:solidFill>
            <a:ln w="85725" cap="sq">
              <a:solidFill>
                <a:srgbClr val="ACA18F"/>
              </a:solidFill>
              <a:prstDash val="solid"/>
              <a:miter/>
            </a:ln>
          </p:spPr>
        </p:sp>
        <p:sp>
          <p:nvSpPr>
            <p:cNvPr name="TextBox 6" id="6"/>
            <p:cNvSpPr txBox="true"/>
            <p:nvPr/>
          </p:nvSpPr>
          <p:spPr>
            <a:xfrm>
              <a:off x="0" y="-47625"/>
              <a:ext cx="1438752" cy="1995607"/>
            </a:xfrm>
            <a:prstGeom prst="rect">
              <a:avLst/>
            </a:prstGeom>
          </p:spPr>
          <p:txBody>
            <a:bodyPr anchor="ctr" rtlCol="false" tIns="48876" lIns="48876" bIns="48876" rIns="48876"/>
            <a:lstStyle/>
            <a:p>
              <a:pPr algn="ctr">
                <a:lnSpc>
                  <a:spcPts val="1588"/>
                </a:lnSpc>
              </a:pPr>
            </a:p>
          </p:txBody>
        </p:sp>
      </p:grpSp>
      <p:grpSp>
        <p:nvGrpSpPr>
          <p:cNvPr name="Group 7" id="7"/>
          <p:cNvGrpSpPr/>
          <p:nvPr/>
        </p:nvGrpSpPr>
        <p:grpSpPr>
          <a:xfrm rot="0">
            <a:off x="770738" y="5143500"/>
            <a:ext cx="3039133" cy="4114800"/>
            <a:chOff x="0" y="0"/>
            <a:chExt cx="1438752" cy="1947982"/>
          </a:xfrm>
        </p:grpSpPr>
        <p:sp>
          <p:nvSpPr>
            <p:cNvPr name="Freeform 8" id="8"/>
            <p:cNvSpPr/>
            <p:nvPr/>
          </p:nvSpPr>
          <p:spPr>
            <a:xfrm flipH="false" flipV="false" rot="0">
              <a:off x="0" y="0"/>
              <a:ext cx="1438752" cy="1947982"/>
            </a:xfrm>
            <a:custGeom>
              <a:avLst/>
              <a:gdLst/>
              <a:ahLst/>
              <a:cxnLst/>
              <a:rect r="r" b="b" t="t" l="l"/>
              <a:pathLst>
                <a:path h="1947982" w="1438752">
                  <a:moveTo>
                    <a:pt x="0" y="0"/>
                  </a:moveTo>
                  <a:lnTo>
                    <a:pt x="1438752" y="0"/>
                  </a:lnTo>
                  <a:lnTo>
                    <a:pt x="1438752" y="1947982"/>
                  </a:lnTo>
                  <a:lnTo>
                    <a:pt x="0" y="1947982"/>
                  </a:lnTo>
                  <a:close/>
                </a:path>
              </a:pathLst>
            </a:custGeom>
            <a:solidFill>
              <a:srgbClr val="000000">
                <a:alpha val="0"/>
              </a:srgbClr>
            </a:solidFill>
            <a:ln w="85725" cap="sq">
              <a:solidFill>
                <a:srgbClr val="ACA18F"/>
              </a:solidFill>
              <a:prstDash val="solid"/>
              <a:miter/>
            </a:ln>
          </p:spPr>
        </p:sp>
        <p:sp>
          <p:nvSpPr>
            <p:cNvPr name="TextBox 9" id="9"/>
            <p:cNvSpPr txBox="true"/>
            <p:nvPr/>
          </p:nvSpPr>
          <p:spPr>
            <a:xfrm>
              <a:off x="0" y="-47625"/>
              <a:ext cx="1438752" cy="1995607"/>
            </a:xfrm>
            <a:prstGeom prst="rect">
              <a:avLst/>
            </a:prstGeom>
          </p:spPr>
          <p:txBody>
            <a:bodyPr anchor="ctr" rtlCol="false" tIns="48876" lIns="48876" bIns="48876" rIns="48876"/>
            <a:lstStyle/>
            <a:p>
              <a:pPr algn="ctr">
                <a:lnSpc>
                  <a:spcPts val="1588"/>
                </a:lnSpc>
              </a:pPr>
            </a:p>
          </p:txBody>
        </p:sp>
      </p:grpSp>
      <p:grpSp>
        <p:nvGrpSpPr>
          <p:cNvPr name="Group 10" id="10"/>
          <p:cNvGrpSpPr/>
          <p:nvPr/>
        </p:nvGrpSpPr>
        <p:grpSpPr>
          <a:xfrm rot="0">
            <a:off x="4209921" y="5143500"/>
            <a:ext cx="3039133" cy="4114800"/>
            <a:chOff x="0" y="0"/>
            <a:chExt cx="1438752" cy="1947982"/>
          </a:xfrm>
        </p:grpSpPr>
        <p:sp>
          <p:nvSpPr>
            <p:cNvPr name="Freeform 11" id="11"/>
            <p:cNvSpPr/>
            <p:nvPr/>
          </p:nvSpPr>
          <p:spPr>
            <a:xfrm flipH="false" flipV="false" rot="0">
              <a:off x="0" y="0"/>
              <a:ext cx="1438752" cy="1947982"/>
            </a:xfrm>
            <a:custGeom>
              <a:avLst/>
              <a:gdLst/>
              <a:ahLst/>
              <a:cxnLst/>
              <a:rect r="r" b="b" t="t" l="l"/>
              <a:pathLst>
                <a:path h="1947982" w="1438752">
                  <a:moveTo>
                    <a:pt x="0" y="0"/>
                  </a:moveTo>
                  <a:lnTo>
                    <a:pt x="1438752" y="0"/>
                  </a:lnTo>
                  <a:lnTo>
                    <a:pt x="1438752" y="1947982"/>
                  </a:lnTo>
                  <a:lnTo>
                    <a:pt x="0" y="1947982"/>
                  </a:lnTo>
                  <a:close/>
                </a:path>
              </a:pathLst>
            </a:custGeom>
            <a:solidFill>
              <a:srgbClr val="000000">
                <a:alpha val="0"/>
              </a:srgbClr>
            </a:solidFill>
            <a:ln w="85725" cap="sq">
              <a:solidFill>
                <a:srgbClr val="ACA18F"/>
              </a:solidFill>
              <a:prstDash val="solid"/>
              <a:miter/>
            </a:ln>
          </p:spPr>
        </p:sp>
        <p:sp>
          <p:nvSpPr>
            <p:cNvPr name="TextBox 12" id="12"/>
            <p:cNvSpPr txBox="true"/>
            <p:nvPr/>
          </p:nvSpPr>
          <p:spPr>
            <a:xfrm>
              <a:off x="0" y="-47625"/>
              <a:ext cx="1438752" cy="1995607"/>
            </a:xfrm>
            <a:prstGeom prst="rect">
              <a:avLst/>
            </a:prstGeom>
          </p:spPr>
          <p:txBody>
            <a:bodyPr anchor="ctr" rtlCol="false" tIns="48876" lIns="48876" bIns="48876" rIns="48876"/>
            <a:lstStyle/>
            <a:p>
              <a:pPr algn="ctr">
                <a:lnSpc>
                  <a:spcPts val="1588"/>
                </a:lnSpc>
              </a:pPr>
            </a:p>
          </p:txBody>
        </p:sp>
      </p:grpSp>
      <p:grpSp>
        <p:nvGrpSpPr>
          <p:cNvPr name="Group 13" id="13"/>
          <p:cNvGrpSpPr/>
          <p:nvPr/>
        </p:nvGrpSpPr>
        <p:grpSpPr>
          <a:xfrm rot="0">
            <a:off x="7649104" y="5143500"/>
            <a:ext cx="3039133" cy="4114800"/>
            <a:chOff x="0" y="0"/>
            <a:chExt cx="1438752" cy="1947982"/>
          </a:xfrm>
        </p:grpSpPr>
        <p:sp>
          <p:nvSpPr>
            <p:cNvPr name="Freeform 14" id="14"/>
            <p:cNvSpPr/>
            <p:nvPr/>
          </p:nvSpPr>
          <p:spPr>
            <a:xfrm flipH="false" flipV="false" rot="0">
              <a:off x="0" y="0"/>
              <a:ext cx="1438752" cy="1947982"/>
            </a:xfrm>
            <a:custGeom>
              <a:avLst/>
              <a:gdLst/>
              <a:ahLst/>
              <a:cxnLst/>
              <a:rect r="r" b="b" t="t" l="l"/>
              <a:pathLst>
                <a:path h="1947982" w="1438752">
                  <a:moveTo>
                    <a:pt x="0" y="0"/>
                  </a:moveTo>
                  <a:lnTo>
                    <a:pt x="1438752" y="0"/>
                  </a:lnTo>
                  <a:lnTo>
                    <a:pt x="1438752" y="1947982"/>
                  </a:lnTo>
                  <a:lnTo>
                    <a:pt x="0" y="1947982"/>
                  </a:lnTo>
                  <a:close/>
                </a:path>
              </a:pathLst>
            </a:custGeom>
            <a:solidFill>
              <a:srgbClr val="000000">
                <a:alpha val="0"/>
              </a:srgbClr>
            </a:solidFill>
            <a:ln w="85725" cap="sq">
              <a:solidFill>
                <a:srgbClr val="ACA18F"/>
              </a:solidFill>
              <a:prstDash val="solid"/>
              <a:miter/>
            </a:ln>
          </p:spPr>
        </p:sp>
        <p:sp>
          <p:nvSpPr>
            <p:cNvPr name="TextBox 15" id="15"/>
            <p:cNvSpPr txBox="true"/>
            <p:nvPr/>
          </p:nvSpPr>
          <p:spPr>
            <a:xfrm>
              <a:off x="0" y="-47625"/>
              <a:ext cx="1438752" cy="1995607"/>
            </a:xfrm>
            <a:prstGeom prst="rect">
              <a:avLst/>
            </a:prstGeom>
          </p:spPr>
          <p:txBody>
            <a:bodyPr anchor="ctr" rtlCol="false" tIns="48876" lIns="48876" bIns="48876" rIns="48876"/>
            <a:lstStyle/>
            <a:p>
              <a:pPr algn="ctr">
                <a:lnSpc>
                  <a:spcPts val="1588"/>
                </a:lnSpc>
              </a:pPr>
            </a:p>
          </p:txBody>
        </p:sp>
      </p:grpSp>
      <p:grpSp>
        <p:nvGrpSpPr>
          <p:cNvPr name="Group 16" id="16"/>
          <p:cNvGrpSpPr/>
          <p:nvPr/>
        </p:nvGrpSpPr>
        <p:grpSpPr>
          <a:xfrm rot="0">
            <a:off x="11088287" y="5143500"/>
            <a:ext cx="3039133" cy="4114800"/>
            <a:chOff x="0" y="0"/>
            <a:chExt cx="1438752" cy="1947982"/>
          </a:xfrm>
        </p:grpSpPr>
        <p:sp>
          <p:nvSpPr>
            <p:cNvPr name="Freeform 17" id="17"/>
            <p:cNvSpPr/>
            <p:nvPr/>
          </p:nvSpPr>
          <p:spPr>
            <a:xfrm flipH="false" flipV="false" rot="0">
              <a:off x="0" y="0"/>
              <a:ext cx="1438752" cy="1947982"/>
            </a:xfrm>
            <a:custGeom>
              <a:avLst/>
              <a:gdLst/>
              <a:ahLst/>
              <a:cxnLst/>
              <a:rect r="r" b="b" t="t" l="l"/>
              <a:pathLst>
                <a:path h="1947982" w="1438752">
                  <a:moveTo>
                    <a:pt x="0" y="0"/>
                  </a:moveTo>
                  <a:lnTo>
                    <a:pt x="1438752" y="0"/>
                  </a:lnTo>
                  <a:lnTo>
                    <a:pt x="1438752" y="1947982"/>
                  </a:lnTo>
                  <a:lnTo>
                    <a:pt x="0" y="1947982"/>
                  </a:lnTo>
                  <a:close/>
                </a:path>
              </a:pathLst>
            </a:custGeom>
            <a:solidFill>
              <a:srgbClr val="000000">
                <a:alpha val="0"/>
              </a:srgbClr>
            </a:solidFill>
            <a:ln w="85725" cap="sq">
              <a:solidFill>
                <a:srgbClr val="ACA18F"/>
              </a:solidFill>
              <a:prstDash val="solid"/>
              <a:miter/>
            </a:ln>
          </p:spPr>
        </p:sp>
        <p:sp>
          <p:nvSpPr>
            <p:cNvPr name="TextBox 18" id="18"/>
            <p:cNvSpPr txBox="true"/>
            <p:nvPr/>
          </p:nvSpPr>
          <p:spPr>
            <a:xfrm>
              <a:off x="0" y="-47625"/>
              <a:ext cx="1438752" cy="1995607"/>
            </a:xfrm>
            <a:prstGeom prst="rect">
              <a:avLst/>
            </a:prstGeom>
          </p:spPr>
          <p:txBody>
            <a:bodyPr anchor="ctr" rtlCol="false" tIns="48876" lIns="48876" bIns="48876" rIns="48876"/>
            <a:lstStyle/>
            <a:p>
              <a:pPr algn="ctr">
                <a:lnSpc>
                  <a:spcPts val="1588"/>
                </a:lnSpc>
              </a:pPr>
            </a:p>
          </p:txBody>
        </p:sp>
      </p:grpSp>
      <p:sp>
        <p:nvSpPr>
          <p:cNvPr name="Freeform 19" id="19"/>
          <p:cNvSpPr/>
          <p:nvPr/>
        </p:nvSpPr>
        <p:spPr>
          <a:xfrm flipH="false" flipV="false" rot="0">
            <a:off x="8227096" y="7255034"/>
            <a:ext cx="1884715" cy="1724514"/>
          </a:xfrm>
          <a:custGeom>
            <a:avLst/>
            <a:gdLst/>
            <a:ahLst/>
            <a:cxnLst/>
            <a:rect r="r" b="b" t="t" l="l"/>
            <a:pathLst>
              <a:path h="1724514" w="1884715">
                <a:moveTo>
                  <a:pt x="0" y="0"/>
                </a:moveTo>
                <a:lnTo>
                  <a:pt x="1884715" y="0"/>
                </a:lnTo>
                <a:lnTo>
                  <a:pt x="1884715" y="1724514"/>
                </a:lnTo>
                <a:lnTo>
                  <a:pt x="0" y="17245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11842792" y="7452383"/>
            <a:ext cx="1530124" cy="1329817"/>
          </a:xfrm>
          <a:custGeom>
            <a:avLst/>
            <a:gdLst/>
            <a:ahLst/>
            <a:cxnLst/>
            <a:rect r="r" b="b" t="t" l="l"/>
            <a:pathLst>
              <a:path h="1329817" w="1530124">
                <a:moveTo>
                  <a:pt x="0" y="0"/>
                </a:moveTo>
                <a:lnTo>
                  <a:pt x="1530123" y="0"/>
                </a:lnTo>
                <a:lnTo>
                  <a:pt x="1530123" y="1329816"/>
                </a:lnTo>
                <a:lnTo>
                  <a:pt x="0" y="13298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1" id="21"/>
          <p:cNvSpPr/>
          <p:nvPr/>
        </p:nvSpPr>
        <p:spPr>
          <a:xfrm flipH="false" flipV="false" rot="0">
            <a:off x="1552654" y="7272316"/>
            <a:ext cx="1676192" cy="1707233"/>
          </a:xfrm>
          <a:custGeom>
            <a:avLst/>
            <a:gdLst/>
            <a:ahLst/>
            <a:cxnLst/>
            <a:rect r="r" b="b" t="t" l="l"/>
            <a:pathLst>
              <a:path h="1707233" w="1676192">
                <a:moveTo>
                  <a:pt x="0" y="0"/>
                </a:moveTo>
                <a:lnTo>
                  <a:pt x="1676192" y="0"/>
                </a:lnTo>
                <a:lnTo>
                  <a:pt x="1676192" y="1707232"/>
                </a:lnTo>
                <a:lnTo>
                  <a:pt x="0" y="17072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2" id="22"/>
          <p:cNvSpPr/>
          <p:nvPr/>
        </p:nvSpPr>
        <p:spPr>
          <a:xfrm flipH="false" flipV="false" rot="0">
            <a:off x="15142182" y="7272316"/>
            <a:ext cx="1509884" cy="1509884"/>
          </a:xfrm>
          <a:custGeom>
            <a:avLst/>
            <a:gdLst/>
            <a:ahLst/>
            <a:cxnLst/>
            <a:rect r="r" b="b" t="t" l="l"/>
            <a:pathLst>
              <a:path h="1509884" w="1509884">
                <a:moveTo>
                  <a:pt x="0" y="0"/>
                </a:moveTo>
                <a:lnTo>
                  <a:pt x="1509884" y="0"/>
                </a:lnTo>
                <a:lnTo>
                  <a:pt x="1509884" y="1509883"/>
                </a:lnTo>
                <a:lnTo>
                  <a:pt x="0" y="150988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3" id="23"/>
          <p:cNvSpPr/>
          <p:nvPr/>
        </p:nvSpPr>
        <p:spPr>
          <a:xfrm flipH="false" flipV="false" rot="0">
            <a:off x="4961253" y="7353708"/>
            <a:ext cx="1527165" cy="1527165"/>
          </a:xfrm>
          <a:custGeom>
            <a:avLst/>
            <a:gdLst/>
            <a:ahLst/>
            <a:cxnLst/>
            <a:rect r="r" b="b" t="t" l="l"/>
            <a:pathLst>
              <a:path h="1527165" w="1527165">
                <a:moveTo>
                  <a:pt x="0" y="0"/>
                </a:moveTo>
                <a:lnTo>
                  <a:pt x="1527165" y="0"/>
                </a:lnTo>
                <a:lnTo>
                  <a:pt x="1527165" y="1527166"/>
                </a:lnTo>
                <a:lnTo>
                  <a:pt x="0" y="152716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4" id="24"/>
          <p:cNvSpPr txBox="true"/>
          <p:nvPr/>
        </p:nvSpPr>
        <p:spPr>
          <a:xfrm rot="0">
            <a:off x="1028700" y="847725"/>
            <a:ext cx="10059587" cy="1151890"/>
          </a:xfrm>
          <a:prstGeom prst="rect">
            <a:avLst/>
          </a:prstGeom>
        </p:spPr>
        <p:txBody>
          <a:bodyPr anchor="t" rtlCol="false" tIns="0" lIns="0" bIns="0" rIns="0">
            <a:spAutoFit/>
          </a:bodyPr>
          <a:lstStyle/>
          <a:p>
            <a:pPr algn="l">
              <a:lnSpc>
                <a:spcPts val="8959"/>
              </a:lnSpc>
            </a:pPr>
            <a:r>
              <a:rPr lang="en-US" sz="6399">
                <a:solidFill>
                  <a:srgbClr val="000000"/>
                </a:solidFill>
                <a:latin typeface="Poppins"/>
                <a:ea typeface="Poppins"/>
                <a:cs typeface="Poppins"/>
                <a:sym typeface="Poppins"/>
              </a:rPr>
              <a:t>GENERAL OBJECTIVE</a:t>
            </a:r>
          </a:p>
        </p:txBody>
      </p:sp>
      <p:sp>
        <p:nvSpPr>
          <p:cNvPr name="TextBox 25" id="25"/>
          <p:cNvSpPr txBox="true"/>
          <p:nvPr/>
        </p:nvSpPr>
        <p:spPr>
          <a:xfrm rot="0">
            <a:off x="1028700" y="2370773"/>
            <a:ext cx="9759667" cy="1317625"/>
          </a:xfrm>
          <a:prstGeom prst="rect">
            <a:avLst/>
          </a:prstGeom>
        </p:spPr>
        <p:txBody>
          <a:bodyPr anchor="t" rtlCol="false" tIns="0" lIns="0" bIns="0" rIns="0">
            <a:spAutoFit/>
          </a:bodyPr>
          <a:lstStyle/>
          <a:p>
            <a:pPr algn="just">
              <a:lnSpc>
                <a:spcPts val="3499"/>
              </a:lnSpc>
            </a:pPr>
            <a:r>
              <a:rPr lang="en-US" sz="2499" i="true">
                <a:solidFill>
                  <a:srgbClr val="000000"/>
                </a:solidFill>
                <a:latin typeface="Poppins Italics"/>
                <a:ea typeface="Poppins Italics"/>
                <a:cs typeface="Poppins Italics"/>
                <a:sym typeface="Poppins Italics"/>
              </a:rPr>
              <a:t>Develop a mobile application that facilitates communication for neurodivergent individuals through the use of accessible digital cards.</a:t>
            </a:r>
          </a:p>
        </p:txBody>
      </p:sp>
      <p:sp>
        <p:nvSpPr>
          <p:cNvPr name="TextBox 26" id="26"/>
          <p:cNvSpPr txBox="true"/>
          <p:nvPr/>
        </p:nvSpPr>
        <p:spPr>
          <a:xfrm rot="0">
            <a:off x="7357103" y="3972560"/>
            <a:ext cx="10059587" cy="1151890"/>
          </a:xfrm>
          <a:prstGeom prst="rect">
            <a:avLst/>
          </a:prstGeom>
        </p:spPr>
        <p:txBody>
          <a:bodyPr anchor="t" rtlCol="false" tIns="0" lIns="0" bIns="0" rIns="0">
            <a:spAutoFit/>
          </a:bodyPr>
          <a:lstStyle/>
          <a:p>
            <a:pPr algn="r">
              <a:lnSpc>
                <a:spcPts val="8959"/>
              </a:lnSpc>
            </a:pPr>
            <a:r>
              <a:rPr lang="en-US" sz="6399">
                <a:solidFill>
                  <a:srgbClr val="000000"/>
                </a:solidFill>
                <a:latin typeface="Poppins"/>
                <a:ea typeface="Poppins"/>
                <a:cs typeface="Poppins"/>
                <a:sym typeface="Poppins"/>
              </a:rPr>
              <a:t>SPECIFIC OBJECTIVES</a:t>
            </a:r>
          </a:p>
        </p:txBody>
      </p:sp>
      <p:sp>
        <p:nvSpPr>
          <p:cNvPr name="TextBox 27" id="27"/>
          <p:cNvSpPr txBox="true"/>
          <p:nvPr/>
        </p:nvSpPr>
        <p:spPr>
          <a:xfrm rot="0">
            <a:off x="13947543" y="9519861"/>
            <a:ext cx="3311757" cy="375285"/>
          </a:xfrm>
          <a:prstGeom prst="rect">
            <a:avLst/>
          </a:prstGeom>
        </p:spPr>
        <p:txBody>
          <a:bodyPr anchor="t" rtlCol="false" tIns="0" lIns="0" bIns="0" rIns="0">
            <a:spAutoFit/>
          </a:bodyPr>
          <a:lstStyle/>
          <a:p>
            <a:pPr algn="r">
              <a:lnSpc>
                <a:spcPts val="2940"/>
              </a:lnSpc>
            </a:pPr>
            <a:r>
              <a:rPr lang="en-US" sz="2100" b="true">
                <a:solidFill>
                  <a:srgbClr val="000000"/>
                </a:solidFill>
                <a:latin typeface="Poppins Bold"/>
                <a:ea typeface="Poppins Bold"/>
                <a:cs typeface="Poppins Bold"/>
                <a:sym typeface="Poppins Bold"/>
              </a:rPr>
              <a:t>NeuroVoice</a:t>
            </a:r>
          </a:p>
        </p:txBody>
      </p:sp>
      <p:sp>
        <p:nvSpPr>
          <p:cNvPr name="TextBox 28" id="28"/>
          <p:cNvSpPr txBox="true"/>
          <p:nvPr/>
        </p:nvSpPr>
        <p:spPr>
          <a:xfrm rot="0">
            <a:off x="14589754" y="5301139"/>
            <a:ext cx="2610287" cy="782320"/>
          </a:xfrm>
          <a:prstGeom prst="rect">
            <a:avLst/>
          </a:prstGeom>
        </p:spPr>
        <p:txBody>
          <a:bodyPr anchor="t" rtlCol="false" tIns="0" lIns="0" bIns="0" rIns="0">
            <a:spAutoFit/>
          </a:bodyPr>
          <a:lstStyle/>
          <a:p>
            <a:pPr algn="just">
              <a:lnSpc>
                <a:spcPts val="3079"/>
              </a:lnSpc>
            </a:pPr>
            <a:r>
              <a:rPr lang="en-US" sz="2199">
                <a:solidFill>
                  <a:srgbClr val="000000"/>
                </a:solidFill>
                <a:latin typeface="Poppins"/>
                <a:ea typeface="Poppins"/>
                <a:cs typeface="Poppins"/>
                <a:sym typeface="Poppins"/>
              </a:rPr>
              <a:t>Conduct testing on mobile devices.</a:t>
            </a:r>
          </a:p>
        </p:txBody>
      </p:sp>
      <p:sp>
        <p:nvSpPr>
          <p:cNvPr name="TextBox 29" id="29"/>
          <p:cNvSpPr txBox="true"/>
          <p:nvPr/>
        </p:nvSpPr>
        <p:spPr>
          <a:xfrm rot="0">
            <a:off x="990033" y="5301139"/>
            <a:ext cx="2610287" cy="1563370"/>
          </a:xfrm>
          <a:prstGeom prst="rect">
            <a:avLst/>
          </a:prstGeom>
        </p:spPr>
        <p:txBody>
          <a:bodyPr anchor="t" rtlCol="false" tIns="0" lIns="0" bIns="0" rIns="0">
            <a:spAutoFit/>
          </a:bodyPr>
          <a:lstStyle/>
          <a:p>
            <a:pPr algn="just">
              <a:lnSpc>
                <a:spcPts val="3079"/>
              </a:lnSpc>
            </a:pPr>
            <a:r>
              <a:rPr lang="en-US" sz="2199">
                <a:solidFill>
                  <a:srgbClr val="000000"/>
                </a:solidFill>
                <a:latin typeface="Poppins"/>
                <a:ea typeface="Poppins"/>
                <a:cs typeface="Poppins"/>
                <a:sym typeface="Poppins"/>
              </a:rPr>
              <a:t>Design an accessible and user-friendly interface.</a:t>
            </a:r>
          </a:p>
        </p:txBody>
      </p:sp>
      <p:sp>
        <p:nvSpPr>
          <p:cNvPr name="TextBox 30" id="30"/>
          <p:cNvSpPr txBox="true"/>
          <p:nvPr/>
        </p:nvSpPr>
        <p:spPr>
          <a:xfrm rot="0">
            <a:off x="4419692" y="5301139"/>
            <a:ext cx="2610287" cy="1953895"/>
          </a:xfrm>
          <a:prstGeom prst="rect">
            <a:avLst/>
          </a:prstGeom>
        </p:spPr>
        <p:txBody>
          <a:bodyPr anchor="t" rtlCol="false" tIns="0" lIns="0" bIns="0" rIns="0">
            <a:spAutoFit/>
          </a:bodyPr>
          <a:lstStyle/>
          <a:p>
            <a:pPr algn="just">
              <a:lnSpc>
                <a:spcPts val="3079"/>
              </a:lnSpc>
            </a:pPr>
            <a:r>
              <a:rPr lang="en-US" sz="2199">
                <a:solidFill>
                  <a:srgbClr val="000000"/>
                </a:solidFill>
                <a:latin typeface="Poppins"/>
                <a:ea typeface="Poppins"/>
                <a:cs typeface="Poppins"/>
                <a:sym typeface="Poppins"/>
              </a:rPr>
              <a:t>Implement digital cards with categories, images, and audio.</a:t>
            </a:r>
          </a:p>
        </p:txBody>
      </p:sp>
      <p:sp>
        <p:nvSpPr>
          <p:cNvPr name="TextBox 31" id="31"/>
          <p:cNvSpPr txBox="true"/>
          <p:nvPr/>
        </p:nvSpPr>
        <p:spPr>
          <a:xfrm rot="0">
            <a:off x="7864310" y="5301139"/>
            <a:ext cx="2610287" cy="1563370"/>
          </a:xfrm>
          <a:prstGeom prst="rect">
            <a:avLst/>
          </a:prstGeom>
        </p:spPr>
        <p:txBody>
          <a:bodyPr anchor="t" rtlCol="false" tIns="0" lIns="0" bIns="0" rIns="0">
            <a:spAutoFit/>
          </a:bodyPr>
          <a:lstStyle/>
          <a:p>
            <a:pPr algn="just">
              <a:lnSpc>
                <a:spcPts val="3079"/>
              </a:lnSpc>
            </a:pPr>
            <a:r>
              <a:rPr lang="en-US" sz="2199">
                <a:solidFill>
                  <a:srgbClr val="000000"/>
                </a:solidFill>
                <a:latin typeface="Poppins"/>
                <a:ea typeface="Poppins"/>
                <a:cs typeface="Poppins"/>
                <a:sym typeface="Poppins"/>
              </a:rPr>
              <a:t>Allow visual customization according to user needs.</a:t>
            </a:r>
          </a:p>
        </p:txBody>
      </p:sp>
      <p:sp>
        <p:nvSpPr>
          <p:cNvPr name="TextBox 32" id="32"/>
          <p:cNvSpPr txBox="true"/>
          <p:nvPr/>
        </p:nvSpPr>
        <p:spPr>
          <a:xfrm rot="0">
            <a:off x="11302710" y="5301139"/>
            <a:ext cx="2610287" cy="1563370"/>
          </a:xfrm>
          <a:prstGeom prst="rect">
            <a:avLst/>
          </a:prstGeom>
        </p:spPr>
        <p:txBody>
          <a:bodyPr anchor="t" rtlCol="false" tIns="0" lIns="0" bIns="0" rIns="0">
            <a:spAutoFit/>
          </a:bodyPr>
          <a:lstStyle/>
          <a:p>
            <a:pPr algn="just">
              <a:lnSpc>
                <a:spcPts val="3079"/>
              </a:lnSpc>
            </a:pPr>
            <a:r>
              <a:rPr lang="en-US" sz="2199">
                <a:solidFill>
                  <a:srgbClr val="000000"/>
                </a:solidFill>
                <a:latin typeface="Poppins"/>
                <a:ea typeface="Poppins"/>
                <a:cs typeface="Poppins"/>
                <a:sym typeface="Poppins"/>
              </a:rPr>
              <a:t>Integrate text-to-speech (TTS) audio to enhance communication.</a:t>
            </a:r>
          </a:p>
        </p:txBody>
      </p:sp>
      <p:grpSp>
        <p:nvGrpSpPr>
          <p:cNvPr name="Group 33" id="33"/>
          <p:cNvGrpSpPr/>
          <p:nvPr/>
        </p:nvGrpSpPr>
        <p:grpSpPr>
          <a:xfrm rot="0">
            <a:off x="6980940" y="3894804"/>
            <a:ext cx="6261743" cy="62782"/>
            <a:chOff x="0" y="0"/>
            <a:chExt cx="1649183" cy="16535"/>
          </a:xfrm>
        </p:grpSpPr>
        <p:sp>
          <p:nvSpPr>
            <p:cNvPr name="Freeform 34" id="34"/>
            <p:cNvSpPr/>
            <p:nvPr/>
          </p:nvSpPr>
          <p:spPr>
            <a:xfrm flipH="false" flipV="false" rot="0">
              <a:off x="0" y="0"/>
              <a:ext cx="1649183" cy="16535"/>
            </a:xfrm>
            <a:custGeom>
              <a:avLst/>
              <a:gdLst/>
              <a:ahLst/>
              <a:cxnLst/>
              <a:rect r="r" b="b" t="t" l="l"/>
              <a:pathLst>
                <a:path h="16535" w="1649183">
                  <a:moveTo>
                    <a:pt x="0" y="0"/>
                  </a:moveTo>
                  <a:lnTo>
                    <a:pt x="1649183" y="0"/>
                  </a:lnTo>
                  <a:lnTo>
                    <a:pt x="1649183" y="16535"/>
                  </a:lnTo>
                  <a:lnTo>
                    <a:pt x="0" y="16535"/>
                  </a:lnTo>
                  <a:close/>
                </a:path>
              </a:pathLst>
            </a:custGeom>
            <a:solidFill>
              <a:srgbClr val="ACA18F"/>
            </a:solidFill>
          </p:spPr>
        </p:sp>
        <p:sp>
          <p:nvSpPr>
            <p:cNvPr name="TextBox 35" id="35"/>
            <p:cNvSpPr txBox="true"/>
            <p:nvPr/>
          </p:nvSpPr>
          <p:spPr>
            <a:xfrm>
              <a:off x="0" y="-38100"/>
              <a:ext cx="1649183" cy="54635"/>
            </a:xfrm>
            <a:prstGeom prst="rect">
              <a:avLst/>
            </a:prstGeom>
          </p:spPr>
          <p:txBody>
            <a:bodyPr anchor="ctr" rtlCol="false" tIns="50800" lIns="50800" bIns="50800" rIns="50800"/>
            <a:lstStyle/>
            <a:p>
              <a:pPr algn="ctr">
                <a:lnSpc>
                  <a:spcPts val="2277"/>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7F6"/>
        </a:solidFill>
      </p:bgPr>
    </p:bg>
    <p:spTree>
      <p:nvGrpSpPr>
        <p:cNvPr id="1" name=""/>
        <p:cNvGrpSpPr/>
        <p:nvPr/>
      </p:nvGrpSpPr>
      <p:grpSpPr>
        <a:xfrm>
          <a:off x="0" y="0"/>
          <a:ext cx="0" cy="0"/>
          <a:chOff x="0" y="0"/>
          <a:chExt cx="0" cy="0"/>
        </a:xfrm>
      </p:grpSpPr>
      <p:grpSp>
        <p:nvGrpSpPr>
          <p:cNvPr name="Group 2" id="2"/>
          <p:cNvGrpSpPr/>
          <p:nvPr/>
        </p:nvGrpSpPr>
        <p:grpSpPr>
          <a:xfrm rot="0">
            <a:off x="-2650963" y="8875012"/>
            <a:ext cx="5899432" cy="2823977"/>
            <a:chOff x="0" y="0"/>
            <a:chExt cx="1553760" cy="743763"/>
          </a:xfrm>
        </p:grpSpPr>
        <p:sp>
          <p:nvSpPr>
            <p:cNvPr name="Freeform 3" id="3"/>
            <p:cNvSpPr/>
            <p:nvPr/>
          </p:nvSpPr>
          <p:spPr>
            <a:xfrm flipH="false" flipV="false" rot="0">
              <a:off x="0" y="0"/>
              <a:ext cx="1553760" cy="743763"/>
            </a:xfrm>
            <a:custGeom>
              <a:avLst/>
              <a:gdLst/>
              <a:ahLst/>
              <a:cxnLst/>
              <a:rect r="r" b="b" t="t" l="l"/>
              <a:pathLst>
                <a:path h="743763" w="1553760">
                  <a:moveTo>
                    <a:pt x="0" y="0"/>
                  </a:moveTo>
                  <a:lnTo>
                    <a:pt x="1553760" y="0"/>
                  </a:lnTo>
                  <a:lnTo>
                    <a:pt x="1553760" y="743763"/>
                  </a:lnTo>
                  <a:lnTo>
                    <a:pt x="0" y="743763"/>
                  </a:lnTo>
                  <a:close/>
                </a:path>
              </a:pathLst>
            </a:custGeom>
            <a:solidFill>
              <a:srgbClr val="ACA18F"/>
            </a:solidFill>
          </p:spPr>
        </p:sp>
        <p:sp>
          <p:nvSpPr>
            <p:cNvPr name="TextBox 4" id="4"/>
            <p:cNvSpPr txBox="true"/>
            <p:nvPr/>
          </p:nvSpPr>
          <p:spPr>
            <a:xfrm>
              <a:off x="0" y="-38100"/>
              <a:ext cx="1553760" cy="781863"/>
            </a:xfrm>
            <a:prstGeom prst="rect">
              <a:avLst/>
            </a:prstGeom>
          </p:spPr>
          <p:txBody>
            <a:bodyPr anchor="ctr" rtlCol="false" tIns="50800" lIns="50800" bIns="50800" rIns="50800"/>
            <a:lstStyle/>
            <a:p>
              <a:pPr algn="ctr">
                <a:lnSpc>
                  <a:spcPts val="2277"/>
                </a:lnSpc>
              </a:pPr>
            </a:p>
          </p:txBody>
        </p:sp>
      </p:grpSp>
      <p:sp>
        <p:nvSpPr>
          <p:cNvPr name="Freeform 5" id="5"/>
          <p:cNvSpPr/>
          <p:nvPr/>
        </p:nvSpPr>
        <p:spPr>
          <a:xfrm flipH="false" flipV="false" rot="0">
            <a:off x="16223091" y="-2166620"/>
            <a:ext cx="4129818" cy="4114800"/>
          </a:xfrm>
          <a:custGeom>
            <a:avLst/>
            <a:gdLst/>
            <a:ahLst/>
            <a:cxnLst/>
            <a:rect r="r" b="b" t="t" l="l"/>
            <a:pathLst>
              <a:path h="4114800" w="4129818">
                <a:moveTo>
                  <a:pt x="0" y="0"/>
                </a:moveTo>
                <a:lnTo>
                  <a:pt x="4129818" y="0"/>
                </a:lnTo>
                <a:lnTo>
                  <a:pt x="412981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591108" y="947738"/>
            <a:ext cx="4439539" cy="161925"/>
            <a:chOff x="0" y="0"/>
            <a:chExt cx="1169261" cy="42647"/>
          </a:xfrm>
        </p:grpSpPr>
        <p:sp>
          <p:nvSpPr>
            <p:cNvPr name="Freeform 7" id="7"/>
            <p:cNvSpPr/>
            <p:nvPr/>
          </p:nvSpPr>
          <p:spPr>
            <a:xfrm flipH="false" flipV="false" rot="0">
              <a:off x="0" y="0"/>
              <a:ext cx="1169261" cy="42647"/>
            </a:xfrm>
            <a:custGeom>
              <a:avLst/>
              <a:gdLst/>
              <a:ahLst/>
              <a:cxnLst/>
              <a:rect r="r" b="b" t="t" l="l"/>
              <a:pathLst>
                <a:path h="42647" w="1169261">
                  <a:moveTo>
                    <a:pt x="0" y="0"/>
                  </a:moveTo>
                  <a:lnTo>
                    <a:pt x="1169261" y="0"/>
                  </a:lnTo>
                  <a:lnTo>
                    <a:pt x="1169261" y="42647"/>
                  </a:lnTo>
                  <a:lnTo>
                    <a:pt x="0" y="42647"/>
                  </a:lnTo>
                  <a:close/>
                </a:path>
              </a:pathLst>
            </a:custGeom>
            <a:solidFill>
              <a:srgbClr val="ACA18F"/>
            </a:solidFill>
          </p:spPr>
        </p:sp>
        <p:sp>
          <p:nvSpPr>
            <p:cNvPr name="TextBox 8" id="8"/>
            <p:cNvSpPr txBox="true"/>
            <p:nvPr/>
          </p:nvSpPr>
          <p:spPr>
            <a:xfrm>
              <a:off x="0" y="-38100"/>
              <a:ext cx="1169261" cy="80747"/>
            </a:xfrm>
            <a:prstGeom prst="rect">
              <a:avLst/>
            </a:prstGeom>
          </p:spPr>
          <p:txBody>
            <a:bodyPr anchor="ctr" rtlCol="false" tIns="50800" lIns="50800" bIns="50800" rIns="50800"/>
            <a:lstStyle/>
            <a:p>
              <a:pPr algn="ctr">
                <a:lnSpc>
                  <a:spcPts val="2277"/>
                </a:lnSpc>
              </a:pPr>
            </a:p>
          </p:txBody>
        </p:sp>
      </p:grpSp>
      <p:sp>
        <p:nvSpPr>
          <p:cNvPr name="Freeform 9" id="9"/>
          <p:cNvSpPr/>
          <p:nvPr/>
        </p:nvSpPr>
        <p:spPr>
          <a:xfrm flipH="false" flipV="false" rot="-5400000">
            <a:off x="14556788" y="-537401"/>
            <a:ext cx="492984" cy="2279693"/>
          </a:xfrm>
          <a:custGeom>
            <a:avLst/>
            <a:gdLst/>
            <a:ahLst/>
            <a:cxnLst/>
            <a:rect r="r" b="b" t="t" l="l"/>
            <a:pathLst>
              <a:path h="2279693" w="492984">
                <a:moveTo>
                  <a:pt x="0" y="0"/>
                </a:moveTo>
                <a:lnTo>
                  <a:pt x="492983" y="0"/>
                </a:lnTo>
                <a:lnTo>
                  <a:pt x="492983" y="2279693"/>
                </a:lnTo>
                <a:lnTo>
                  <a:pt x="0" y="22796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298753" y="1464878"/>
            <a:ext cx="2319882" cy="3140978"/>
            <a:chOff x="0" y="0"/>
            <a:chExt cx="1438752" cy="1947982"/>
          </a:xfrm>
        </p:grpSpPr>
        <p:sp>
          <p:nvSpPr>
            <p:cNvPr name="Freeform 11" id="11"/>
            <p:cNvSpPr/>
            <p:nvPr/>
          </p:nvSpPr>
          <p:spPr>
            <a:xfrm flipH="false" flipV="false" rot="0">
              <a:off x="0" y="0"/>
              <a:ext cx="1438752" cy="1947982"/>
            </a:xfrm>
            <a:custGeom>
              <a:avLst/>
              <a:gdLst/>
              <a:ahLst/>
              <a:cxnLst/>
              <a:rect r="r" b="b" t="t" l="l"/>
              <a:pathLst>
                <a:path h="1947982" w="1438752">
                  <a:moveTo>
                    <a:pt x="0" y="0"/>
                  </a:moveTo>
                  <a:lnTo>
                    <a:pt x="1438752" y="0"/>
                  </a:lnTo>
                  <a:lnTo>
                    <a:pt x="1438752" y="1947982"/>
                  </a:lnTo>
                  <a:lnTo>
                    <a:pt x="0" y="1947982"/>
                  </a:lnTo>
                  <a:close/>
                </a:path>
              </a:pathLst>
            </a:custGeom>
            <a:solidFill>
              <a:srgbClr val="000000">
                <a:alpha val="0"/>
              </a:srgbClr>
            </a:solidFill>
            <a:ln w="85725" cap="sq">
              <a:solidFill>
                <a:srgbClr val="ACA18F"/>
              </a:solidFill>
              <a:prstDash val="solid"/>
              <a:miter/>
            </a:ln>
          </p:spPr>
        </p:sp>
        <p:sp>
          <p:nvSpPr>
            <p:cNvPr name="TextBox 12" id="12"/>
            <p:cNvSpPr txBox="true"/>
            <p:nvPr/>
          </p:nvSpPr>
          <p:spPr>
            <a:xfrm>
              <a:off x="0" y="-47625"/>
              <a:ext cx="1438752" cy="1995607"/>
            </a:xfrm>
            <a:prstGeom prst="rect">
              <a:avLst/>
            </a:prstGeom>
          </p:spPr>
          <p:txBody>
            <a:bodyPr anchor="ctr" rtlCol="false" tIns="48876" lIns="48876" bIns="48876" rIns="48876"/>
            <a:lstStyle/>
            <a:p>
              <a:pPr algn="ctr">
                <a:lnSpc>
                  <a:spcPts val="1588"/>
                </a:lnSpc>
              </a:pPr>
            </a:p>
          </p:txBody>
        </p:sp>
      </p:grpSp>
      <p:grpSp>
        <p:nvGrpSpPr>
          <p:cNvPr name="Group 13" id="13"/>
          <p:cNvGrpSpPr/>
          <p:nvPr/>
        </p:nvGrpSpPr>
        <p:grpSpPr>
          <a:xfrm rot="0">
            <a:off x="2924008" y="1464878"/>
            <a:ext cx="2319882" cy="3140978"/>
            <a:chOff x="0" y="0"/>
            <a:chExt cx="1438752" cy="1947982"/>
          </a:xfrm>
        </p:grpSpPr>
        <p:sp>
          <p:nvSpPr>
            <p:cNvPr name="Freeform 14" id="14"/>
            <p:cNvSpPr/>
            <p:nvPr/>
          </p:nvSpPr>
          <p:spPr>
            <a:xfrm flipH="false" flipV="false" rot="0">
              <a:off x="0" y="0"/>
              <a:ext cx="1438752" cy="1947982"/>
            </a:xfrm>
            <a:custGeom>
              <a:avLst/>
              <a:gdLst/>
              <a:ahLst/>
              <a:cxnLst/>
              <a:rect r="r" b="b" t="t" l="l"/>
              <a:pathLst>
                <a:path h="1947982" w="1438752">
                  <a:moveTo>
                    <a:pt x="0" y="0"/>
                  </a:moveTo>
                  <a:lnTo>
                    <a:pt x="1438752" y="0"/>
                  </a:lnTo>
                  <a:lnTo>
                    <a:pt x="1438752" y="1947982"/>
                  </a:lnTo>
                  <a:lnTo>
                    <a:pt x="0" y="1947982"/>
                  </a:lnTo>
                  <a:close/>
                </a:path>
              </a:pathLst>
            </a:custGeom>
            <a:solidFill>
              <a:srgbClr val="000000">
                <a:alpha val="0"/>
              </a:srgbClr>
            </a:solidFill>
            <a:ln w="85725" cap="sq">
              <a:solidFill>
                <a:srgbClr val="ACA18F"/>
              </a:solidFill>
              <a:prstDash val="solid"/>
              <a:miter/>
            </a:ln>
          </p:spPr>
        </p:sp>
        <p:sp>
          <p:nvSpPr>
            <p:cNvPr name="TextBox 15" id="15"/>
            <p:cNvSpPr txBox="true"/>
            <p:nvPr/>
          </p:nvSpPr>
          <p:spPr>
            <a:xfrm>
              <a:off x="0" y="-47625"/>
              <a:ext cx="1438752" cy="1995607"/>
            </a:xfrm>
            <a:prstGeom prst="rect">
              <a:avLst/>
            </a:prstGeom>
          </p:spPr>
          <p:txBody>
            <a:bodyPr anchor="ctr" rtlCol="false" tIns="48876" lIns="48876" bIns="48876" rIns="48876"/>
            <a:lstStyle/>
            <a:p>
              <a:pPr algn="ctr">
                <a:lnSpc>
                  <a:spcPts val="1588"/>
                </a:lnSpc>
              </a:pPr>
            </a:p>
          </p:txBody>
        </p:sp>
      </p:grpSp>
      <p:grpSp>
        <p:nvGrpSpPr>
          <p:cNvPr name="Group 16" id="16"/>
          <p:cNvGrpSpPr/>
          <p:nvPr/>
        </p:nvGrpSpPr>
        <p:grpSpPr>
          <a:xfrm rot="0">
            <a:off x="5872540" y="1464878"/>
            <a:ext cx="2319882" cy="3140978"/>
            <a:chOff x="0" y="0"/>
            <a:chExt cx="1438752" cy="1947982"/>
          </a:xfrm>
        </p:grpSpPr>
        <p:sp>
          <p:nvSpPr>
            <p:cNvPr name="Freeform 17" id="17"/>
            <p:cNvSpPr/>
            <p:nvPr/>
          </p:nvSpPr>
          <p:spPr>
            <a:xfrm flipH="false" flipV="false" rot="0">
              <a:off x="0" y="0"/>
              <a:ext cx="1438752" cy="1947982"/>
            </a:xfrm>
            <a:custGeom>
              <a:avLst/>
              <a:gdLst/>
              <a:ahLst/>
              <a:cxnLst/>
              <a:rect r="r" b="b" t="t" l="l"/>
              <a:pathLst>
                <a:path h="1947982" w="1438752">
                  <a:moveTo>
                    <a:pt x="0" y="0"/>
                  </a:moveTo>
                  <a:lnTo>
                    <a:pt x="1438752" y="0"/>
                  </a:lnTo>
                  <a:lnTo>
                    <a:pt x="1438752" y="1947982"/>
                  </a:lnTo>
                  <a:lnTo>
                    <a:pt x="0" y="1947982"/>
                  </a:lnTo>
                  <a:close/>
                </a:path>
              </a:pathLst>
            </a:custGeom>
            <a:solidFill>
              <a:srgbClr val="000000">
                <a:alpha val="0"/>
              </a:srgbClr>
            </a:solidFill>
            <a:ln w="85725" cap="sq">
              <a:solidFill>
                <a:srgbClr val="ACA18F"/>
              </a:solidFill>
              <a:prstDash val="solid"/>
              <a:miter/>
            </a:ln>
          </p:spPr>
        </p:sp>
        <p:sp>
          <p:nvSpPr>
            <p:cNvPr name="TextBox 18" id="18"/>
            <p:cNvSpPr txBox="true"/>
            <p:nvPr/>
          </p:nvSpPr>
          <p:spPr>
            <a:xfrm>
              <a:off x="0" y="-47625"/>
              <a:ext cx="1438752" cy="1995607"/>
            </a:xfrm>
            <a:prstGeom prst="rect">
              <a:avLst/>
            </a:prstGeom>
          </p:spPr>
          <p:txBody>
            <a:bodyPr anchor="ctr" rtlCol="false" tIns="48876" lIns="48876" bIns="48876" rIns="48876"/>
            <a:lstStyle/>
            <a:p>
              <a:pPr algn="ctr">
                <a:lnSpc>
                  <a:spcPts val="1588"/>
                </a:lnSpc>
              </a:pPr>
            </a:p>
          </p:txBody>
        </p:sp>
      </p:grpSp>
      <p:grpSp>
        <p:nvGrpSpPr>
          <p:cNvPr name="Group 19" id="19"/>
          <p:cNvGrpSpPr/>
          <p:nvPr/>
        </p:nvGrpSpPr>
        <p:grpSpPr>
          <a:xfrm rot="0">
            <a:off x="8497795" y="1464878"/>
            <a:ext cx="2319882" cy="3140978"/>
            <a:chOff x="0" y="0"/>
            <a:chExt cx="1438752" cy="1947982"/>
          </a:xfrm>
        </p:grpSpPr>
        <p:sp>
          <p:nvSpPr>
            <p:cNvPr name="Freeform 20" id="20"/>
            <p:cNvSpPr/>
            <p:nvPr/>
          </p:nvSpPr>
          <p:spPr>
            <a:xfrm flipH="false" flipV="false" rot="0">
              <a:off x="0" y="0"/>
              <a:ext cx="1438752" cy="1947982"/>
            </a:xfrm>
            <a:custGeom>
              <a:avLst/>
              <a:gdLst/>
              <a:ahLst/>
              <a:cxnLst/>
              <a:rect r="r" b="b" t="t" l="l"/>
              <a:pathLst>
                <a:path h="1947982" w="1438752">
                  <a:moveTo>
                    <a:pt x="0" y="0"/>
                  </a:moveTo>
                  <a:lnTo>
                    <a:pt x="1438752" y="0"/>
                  </a:lnTo>
                  <a:lnTo>
                    <a:pt x="1438752" y="1947982"/>
                  </a:lnTo>
                  <a:lnTo>
                    <a:pt x="0" y="1947982"/>
                  </a:lnTo>
                  <a:close/>
                </a:path>
              </a:pathLst>
            </a:custGeom>
            <a:solidFill>
              <a:srgbClr val="000000">
                <a:alpha val="0"/>
              </a:srgbClr>
            </a:solidFill>
            <a:ln w="85725" cap="sq">
              <a:solidFill>
                <a:srgbClr val="ACA18F"/>
              </a:solidFill>
              <a:prstDash val="solid"/>
              <a:miter/>
            </a:ln>
          </p:spPr>
        </p:sp>
        <p:sp>
          <p:nvSpPr>
            <p:cNvPr name="TextBox 21" id="21"/>
            <p:cNvSpPr txBox="true"/>
            <p:nvPr/>
          </p:nvSpPr>
          <p:spPr>
            <a:xfrm>
              <a:off x="0" y="-47625"/>
              <a:ext cx="1438752" cy="1995607"/>
            </a:xfrm>
            <a:prstGeom prst="rect">
              <a:avLst/>
            </a:prstGeom>
          </p:spPr>
          <p:txBody>
            <a:bodyPr anchor="ctr" rtlCol="false" tIns="48876" lIns="48876" bIns="48876" rIns="48876"/>
            <a:lstStyle/>
            <a:p>
              <a:pPr algn="ctr">
                <a:lnSpc>
                  <a:spcPts val="1588"/>
                </a:lnSpc>
              </a:pPr>
            </a:p>
          </p:txBody>
        </p:sp>
      </p:grpSp>
      <p:grpSp>
        <p:nvGrpSpPr>
          <p:cNvPr name="Group 22" id="22"/>
          <p:cNvGrpSpPr/>
          <p:nvPr/>
        </p:nvGrpSpPr>
        <p:grpSpPr>
          <a:xfrm rot="0">
            <a:off x="11284401" y="1464878"/>
            <a:ext cx="2319882" cy="3140978"/>
            <a:chOff x="0" y="0"/>
            <a:chExt cx="1438752" cy="1947982"/>
          </a:xfrm>
        </p:grpSpPr>
        <p:sp>
          <p:nvSpPr>
            <p:cNvPr name="Freeform 23" id="23"/>
            <p:cNvSpPr/>
            <p:nvPr/>
          </p:nvSpPr>
          <p:spPr>
            <a:xfrm flipH="false" flipV="false" rot="0">
              <a:off x="0" y="0"/>
              <a:ext cx="1438752" cy="1947982"/>
            </a:xfrm>
            <a:custGeom>
              <a:avLst/>
              <a:gdLst/>
              <a:ahLst/>
              <a:cxnLst/>
              <a:rect r="r" b="b" t="t" l="l"/>
              <a:pathLst>
                <a:path h="1947982" w="1438752">
                  <a:moveTo>
                    <a:pt x="0" y="0"/>
                  </a:moveTo>
                  <a:lnTo>
                    <a:pt x="1438752" y="0"/>
                  </a:lnTo>
                  <a:lnTo>
                    <a:pt x="1438752" y="1947982"/>
                  </a:lnTo>
                  <a:lnTo>
                    <a:pt x="0" y="1947982"/>
                  </a:lnTo>
                  <a:close/>
                </a:path>
              </a:pathLst>
            </a:custGeom>
            <a:solidFill>
              <a:srgbClr val="000000">
                <a:alpha val="0"/>
              </a:srgbClr>
            </a:solidFill>
            <a:ln w="85725" cap="sq">
              <a:solidFill>
                <a:srgbClr val="ACA18F"/>
              </a:solidFill>
              <a:prstDash val="solid"/>
              <a:miter/>
            </a:ln>
          </p:spPr>
        </p:sp>
        <p:sp>
          <p:nvSpPr>
            <p:cNvPr name="TextBox 24" id="24"/>
            <p:cNvSpPr txBox="true"/>
            <p:nvPr/>
          </p:nvSpPr>
          <p:spPr>
            <a:xfrm>
              <a:off x="0" y="-47625"/>
              <a:ext cx="1438752" cy="1995607"/>
            </a:xfrm>
            <a:prstGeom prst="rect">
              <a:avLst/>
            </a:prstGeom>
          </p:spPr>
          <p:txBody>
            <a:bodyPr anchor="ctr" rtlCol="false" tIns="48876" lIns="48876" bIns="48876" rIns="48876"/>
            <a:lstStyle/>
            <a:p>
              <a:pPr algn="ctr">
                <a:lnSpc>
                  <a:spcPts val="1588"/>
                </a:lnSpc>
              </a:pPr>
            </a:p>
          </p:txBody>
        </p:sp>
      </p:grpSp>
      <p:grpSp>
        <p:nvGrpSpPr>
          <p:cNvPr name="Group 25" id="25"/>
          <p:cNvGrpSpPr/>
          <p:nvPr/>
        </p:nvGrpSpPr>
        <p:grpSpPr>
          <a:xfrm rot="0">
            <a:off x="299351" y="4958281"/>
            <a:ext cx="2319882" cy="3140978"/>
            <a:chOff x="0" y="0"/>
            <a:chExt cx="1438752" cy="1947982"/>
          </a:xfrm>
        </p:grpSpPr>
        <p:sp>
          <p:nvSpPr>
            <p:cNvPr name="Freeform 26" id="26"/>
            <p:cNvSpPr/>
            <p:nvPr/>
          </p:nvSpPr>
          <p:spPr>
            <a:xfrm flipH="false" flipV="false" rot="0">
              <a:off x="0" y="0"/>
              <a:ext cx="1438752" cy="1947982"/>
            </a:xfrm>
            <a:custGeom>
              <a:avLst/>
              <a:gdLst/>
              <a:ahLst/>
              <a:cxnLst/>
              <a:rect r="r" b="b" t="t" l="l"/>
              <a:pathLst>
                <a:path h="1947982" w="1438752">
                  <a:moveTo>
                    <a:pt x="0" y="0"/>
                  </a:moveTo>
                  <a:lnTo>
                    <a:pt x="1438752" y="0"/>
                  </a:lnTo>
                  <a:lnTo>
                    <a:pt x="1438752" y="1947982"/>
                  </a:lnTo>
                  <a:lnTo>
                    <a:pt x="0" y="1947982"/>
                  </a:lnTo>
                  <a:close/>
                </a:path>
              </a:pathLst>
            </a:custGeom>
            <a:solidFill>
              <a:srgbClr val="000000">
                <a:alpha val="0"/>
              </a:srgbClr>
            </a:solidFill>
            <a:ln w="85725" cap="sq">
              <a:solidFill>
                <a:srgbClr val="ACA18F"/>
              </a:solidFill>
              <a:prstDash val="solid"/>
              <a:miter/>
            </a:ln>
          </p:spPr>
        </p:sp>
        <p:sp>
          <p:nvSpPr>
            <p:cNvPr name="TextBox 27" id="27"/>
            <p:cNvSpPr txBox="true"/>
            <p:nvPr/>
          </p:nvSpPr>
          <p:spPr>
            <a:xfrm>
              <a:off x="0" y="-47625"/>
              <a:ext cx="1438752" cy="1995607"/>
            </a:xfrm>
            <a:prstGeom prst="rect">
              <a:avLst/>
            </a:prstGeom>
          </p:spPr>
          <p:txBody>
            <a:bodyPr anchor="ctr" rtlCol="false" tIns="48876" lIns="48876" bIns="48876" rIns="48876"/>
            <a:lstStyle/>
            <a:p>
              <a:pPr algn="ctr">
                <a:lnSpc>
                  <a:spcPts val="1588"/>
                </a:lnSpc>
              </a:pPr>
            </a:p>
          </p:txBody>
        </p:sp>
      </p:grpSp>
      <p:grpSp>
        <p:nvGrpSpPr>
          <p:cNvPr name="Group 28" id="28"/>
          <p:cNvGrpSpPr/>
          <p:nvPr/>
        </p:nvGrpSpPr>
        <p:grpSpPr>
          <a:xfrm rot="0">
            <a:off x="2924008" y="4901131"/>
            <a:ext cx="2319882" cy="3140978"/>
            <a:chOff x="0" y="0"/>
            <a:chExt cx="1438752" cy="1947982"/>
          </a:xfrm>
        </p:grpSpPr>
        <p:sp>
          <p:nvSpPr>
            <p:cNvPr name="Freeform 29" id="29"/>
            <p:cNvSpPr/>
            <p:nvPr/>
          </p:nvSpPr>
          <p:spPr>
            <a:xfrm flipH="false" flipV="false" rot="0">
              <a:off x="0" y="0"/>
              <a:ext cx="1438752" cy="1947982"/>
            </a:xfrm>
            <a:custGeom>
              <a:avLst/>
              <a:gdLst/>
              <a:ahLst/>
              <a:cxnLst/>
              <a:rect r="r" b="b" t="t" l="l"/>
              <a:pathLst>
                <a:path h="1947982" w="1438752">
                  <a:moveTo>
                    <a:pt x="0" y="0"/>
                  </a:moveTo>
                  <a:lnTo>
                    <a:pt x="1438752" y="0"/>
                  </a:lnTo>
                  <a:lnTo>
                    <a:pt x="1438752" y="1947982"/>
                  </a:lnTo>
                  <a:lnTo>
                    <a:pt x="0" y="1947982"/>
                  </a:lnTo>
                  <a:close/>
                </a:path>
              </a:pathLst>
            </a:custGeom>
            <a:solidFill>
              <a:srgbClr val="000000">
                <a:alpha val="0"/>
              </a:srgbClr>
            </a:solidFill>
            <a:ln w="85725" cap="sq">
              <a:solidFill>
                <a:srgbClr val="ACA18F"/>
              </a:solidFill>
              <a:prstDash val="solid"/>
              <a:miter/>
            </a:ln>
          </p:spPr>
        </p:sp>
        <p:sp>
          <p:nvSpPr>
            <p:cNvPr name="TextBox 30" id="30"/>
            <p:cNvSpPr txBox="true"/>
            <p:nvPr/>
          </p:nvSpPr>
          <p:spPr>
            <a:xfrm>
              <a:off x="0" y="-47625"/>
              <a:ext cx="1438752" cy="1995607"/>
            </a:xfrm>
            <a:prstGeom prst="rect">
              <a:avLst/>
            </a:prstGeom>
          </p:spPr>
          <p:txBody>
            <a:bodyPr anchor="ctr" rtlCol="false" tIns="48876" lIns="48876" bIns="48876" rIns="48876"/>
            <a:lstStyle/>
            <a:p>
              <a:pPr algn="ctr">
                <a:lnSpc>
                  <a:spcPts val="1588"/>
                </a:lnSpc>
              </a:pPr>
            </a:p>
          </p:txBody>
        </p:sp>
      </p:grpSp>
      <p:grpSp>
        <p:nvGrpSpPr>
          <p:cNvPr name="Group 31" id="31"/>
          <p:cNvGrpSpPr/>
          <p:nvPr/>
        </p:nvGrpSpPr>
        <p:grpSpPr>
          <a:xfrm rot="0">
            <a:off x="5872540" y="4901131"/>
            <a:ext cx="2319882" cy="3140978"/>
            <a:chOff x="0" y="0"/>
            <a:chExt cx="1438752" cy="1947982"/>
          </a:xfrm>
        </p:grpSpPr>
        <p:sp>
          <p:nvSpPr>
            <p:cNvPr name="Freeform 32" id="32"/>
            <p:cNvSpPr/>
            <p:nvPr/>
          </p:nvSpPr>
          <p:spPr>
            <a:xfrm flipH="false" flipV="false" rot="0">
              <a:off x="0" y="0"/>
              <a:ext cx="1438752" cy="1947982"/>
            </a:xfrm>
            <a:custGeom>
              <a:avLst/>
              <a:gdLst/>
              <a:ahLst/>
              <a:cxnLst/>
              <a:rect r="r" b="b" t="t" l="l"/>
              <a:pathLst>
                <a:path h="1947982" w="1438752">
                  <a:moveTo>
                    <a:pt x="0" y="0"/>
                  </a:moveTo>
                  <a:lnTo>
                    <a:pt x="1438752" y="0"/>
                  </a:lnTo>
                  <a:lnTo>
                    <a:pt x="1438752" y="1947982"/>
                  </a:lnTo>
                  <a:lnTo>
                    <a:pt x="0" y="1947982"/>
                  </a:lnTo>
                  <a:close/>
                </a:path>
              </a:pathLst>
            </a:custGeom>
            <a:solidFill>
              <a:srgbClr val="000000">
                <a:alpha val="0"/>
              </a:srgbClr>
            </a:solidFill>
            <a:ln w="85725" cap="sq">
              <a:solidFill>
                <a:srgbClr val="ACA18F"/>
              </a:solidFill>
              <a:prstDash val="solid"/>
              <a:miter/>
            </a:ln>
          </p:spPr>
        </p:sp>
        <p:sp>
          <p:nvSpPr>
            <p:cNvPr name="TextBox 33" id="33"/>
            <p:cNvSpPr txBox="true"/>
            <p:nvPr/>
          </p:nvSpPr>
          <p:spPr>
            <a:xfrm>
              <a:off x="0" y="-47625"/>
              <a:ext cx="1438752" cy="1995607"/>
            </a:xfrm>
            <a:prstGeom prst="rect">
              <a:avLst/>
            </a:prstGeom>
          </p:spPr>
          <p:txBody>
            <a:bodyPr anchor="ctr" rtlCol="false" tIns="48876" lIns="48876" bIns="48876" rIns="48876"/>
            <a:lstStyle/>
            <a:p>
              <a:pPr algn="ctr">
                <a:lnSpc>
                  <a:spcPts val="1588"/>
                </a:lnSpc>
              </a:pPr>
            </a:p>
          </p:txBody>
        </p:sp>
      </p:grpSp>
      <p:grpSp>
        <p:nvGrpSpPr>
          <p:cNvPr name="Group 34" id="34"/>
          <p:cNvGrpSpPr/>
          <p:nvPr/>
        </p:nvGrpSpPr>
        <p:grpSpPr>
          <a:xfrm rot="0">
            <a:off x="8982997" y="6075965"/>
            <a:ext cx="8573359" cy="4211035"/>
            <a:chOff x="0" y="0"/>
            <a:chExt cx="11431145" cy="5614713"/>
          </a:xfrm>
        </p:grpSpPr>
        <p:grpSp>
          <p:nvGrpSpPr>
            <p:cNvPr name="Group 35" id="35"/>
            <p:cNvGrpSpPr/>
            <p:nvPr/>
          </p:nvGrpSpPr>
          <p:grpSpPr>
            <a:xfrm rot="0">
              <a:off x="0" y="0"/>
              <a:ext cx="11431145" cy="5614713"/>
              <a:chOff x="0" y="0"/>
              <a:chExt cx="4229729" cy="2077545"/>
            </a:xfrm>
          </p:grpSpPr>
          <p:sp>
            <p:nvSpPr>
              <p:cNvPr name="Freeform 36" id="36"/>
              <p:cNvSpPr/>
              <p:nvPr/>
            </p:nvSpPr>
            <p:spPr>
              <a:xfrm flipH="false" flipV="false" rot="0">
                <a:off x="0" y="0"/>
                <a:ext cx="4229729" cy="2077545"/>
              </a:xfrm>
              <a:custGeom>
                <a:avLst/>
                <a:gdLst/>
                <a:ahLst/>
                <a:cxnLst/>
                <a:rect r="r" b="b" t="t" l="l"/>
                <a:pathLst>
                  <a:path h="2077545" w="4229729">
                    <a:moveTo>
                      <a:pt x="0" y="0"/>
                    </a:moveTo>
                    <a:lnTo>
                      <a:pt x="4229729" y="0"/>
                    </a:lnTo>
                    <a:lnTo>
                      <a:pt x="4229729" y="2077545"/>
                    </a:lnTo>
                    <a:lnTo>
                      <a:pt x="0" y="2077545"/>
                    </a:lnTo>
                    <a:close/>
                  </a:path>
                </a:pathLst>
              </a:custGeom>
              <a:solidFill>
                <a:srgbClr val="000000">
                  <a:alpha val="0"/>
                </a:srgbClr>
              </a:solidFill>
              <a:ln w="85725" cap="sq">
                <a:solidFill>
                  <a:srgbClr val="ACA18F"/>
                </a:solidFill>
                <a:prstDash val="solid"/>
                <a:miter/>
              </a:ln>
            </p:spPr>
          </p:sp>
          <p:sp>
            <p:nvSpPr>
              <p:cNvPr name="TextBox 37" id="37"/>
              <p:cNvSpPr txBox="true"/>
              <p:nvPr/>
            </p:nvSpPr>
            <p:spPr>
              <a:xfrm>
                <a:off x="0" y="-47625"/>
                <a:ext cx="4229729" cy="2125170"/>
              </a:xfrm>
              <a:prstGeom prst="rect">
                <a:avLst/>
              </a:prstGeom>
            </p:spPr>
            <p:txBody>
              <a:bodyPr anchor="ctr" rtlCol="false" tIns="48876" lIns="48876" bIns="48876" rIns="48876"/>
              <a:lstStyle/>
              <a:p>
                <a:pPr algn="ctr">
                  <a:lnSpc>
                    <a:spcPts val="1588"/>
                  </a:lnSpc>
                </a:pPr>
              </a:p>
            </p:txBody>
          </p:sp>
        </p:grpSp>
        <p:sp>
          <p:nvSpPr>
            <p:cNvPr name="TextBox 38" id="38"/>
            <p:cNvSpPr txBox="true"/>
            <p:nvPr/>
          </p:nvSpPr>
          <p:spPr>
            <a:xfrm rot="0">
              <a:off x="532757" y="405010"/>
              <a:ext cx="10323077" cy="4746282"/>
            </a:xfrm>
            <a:prstGeom prst="rect">
              <a:avLst/>
            </a:prstGeom>
          </p:spPr>
          <p:txBody>
            <a:bodyPr anchor="t" rtlCol="false" tIns="0" lIns="0" bIns="0" rIns="0">
              <a:spAutoFit/>
            </a:bodyPr>
            <a:lstStyle/>
            <a:p>
              <a:pPr algn="just" marL="621526" indent="-310763" lvl="1">
                <a:lnSpc>
                  <a:spcPts val="4030"/>
                </a:lnSpc>
                <a:buFont typeface="Arial"/>
                <a:buChar char="•"/>
              </a:pPr>
              <a:r>
                <a:rPr lang="en-US" sz="2878">
                  <a:solidFill>
                    <a:srgbClr val="242424"/>
                  </a:solidFill>
                  <a:latin typeface="TT Chocolates"/>
                  <a:ea typeface="TT Chocolates"/>
                  <a:cs typeface="TT Chocolates"/>
                  <a:sym typeface="TT Chocolates"/>
                </a:rPr>
                <a:t>The application works only with internet access.</a:t>
              </a:r>
            </a:p>
            <a:p>
              <a:pPr algn="just" marL="621526" indent="-310763" lvl="1">
                <a:lnSpc>
                  <a:spcPts val="4030"/>
                </a:lnSpc>
                <a:buFont typeface="Arial"/>
                <a:buChar char="•"/>
              </a:pPr>
              <a:r>
                <a:rPr lang="en-US" sz="2878">
                  <a:solidFill>
                    <a:srgbClr val="242424"/>
                  </a:solidFill>
                  <a:latin typeface="TT Chocolates"/>
                  <a:ea typeface="TT Chocolates"/>
                  <a:cs typeface="TT Chocolates"/>
                  <a:sym typeface="TT Chocolates"/>
                </a:rPr>
                <a:t>Development time is limited to 3 months.</a:t>
              </a:r>
            </a:p>
            <a:p>
              <a:pPr algn="just" marL="621526" indent="-310763" lvl="1">
                <a:lnSpc>
                  <a:spcPts val="4030"/>
                </a:lnSpc>
                <a:buFont typeface="Arial"/>
                <a:buChar char="•"/>
              </a:pPr>
              <a:r>
                <a:rPr lang="en-US" sz="2878">
                  <a:solidFill>
                    <a:srgbClr val="242424"/>
                  </a:solidFill>
                  <a:latin typeface="TT Chocolates"/>
                  <a:ea typeface="TT Chocolates"/>
                  <a:cs typeface="TT Chocolates"/>
                  <a:sym typeface="TT Chocolates"/>
                </a:rPr>
                <a:t>There is no interaction between users within the system.</a:t>
              </a:r>
            </a:p>
            <a:p>
              <a:pPr algn="just" marL="621526" indent="-310763" lvl="1">
                <a:lnSpc>
                  <a:spcPts val="4030"/>
                </a:lnSpc>
                <a:buFont typeface="Arial"/>
                <a:buChar char="•"/>
              </a:pPr>
              <a:r>
                <a:rPr lang="en-US" sz="2878">
                  <a:solidFill>
                    <a:srgbClr val="242424"/>
                  </a:solidFill>
                  <a:latin typeface="TT Chocolates"/>
                  <a:ea typeface="TT Chocolates"/>
                  <a:cs typeface="TT Chocolates"/>
                  <a:sym typeface="TT Chocolates"/>
                </a:rPr>
                <a:t>There is no data synchronization with external servers.</a:t>
              </a:r>
            </a:p>
          </p:txBody>
        </p:sp>
      </p:grpSp>
      <p:sp>
        <p:nvSpPr>
          <p:cNvPr name="Freeform 39" id="39"/>
          <p:cNvSpPr/>
          <p:nvPr/>
        </p:nvSpPr>
        <p:spPr>
          <a:xfrm flipH="false" flipV="false" rot="0">
            <a:off x="6298586" y="2916495"/>
            <a:ext cx="1605225" cy="1605225"/>
          </a:xfrm>
          <a:custGeom>
            <a:avLst/>
            <a:gdLst/>
            <a:ahLst/>
            <a:cxnLst/>
            <a:rect r="r" b="b" t="t" l="l"/>
            <a:pathLst>
              <a:path h="1605225" w="1605225">
                <a:moveTo>
                  <a:pt x="0" y="0"/>
                </a:moveTo>
                <a:lnTo>
                  <a:pt x="1605225" y="0"/>
                </a:lnTo>
                <a:lnTo>
                  <a:pt x="1605225" y="1605224"/>
                </a:lnTo>
                <a:lnTo>
                  <a:pt x="0" y="1605224"/>
                </a:lnTo>
                <a:lnTo>
                  <a:pt x="0" y="0"/>
                </a:lnTo>
                <a:close/>
              </a:path>
            </a:pathLst>
          </a:custGeom>
          <a:blipFill>
            <a:blip r:embed="rId6"/>
            <a:stretch>
              <a:fillRect l="0" t="0" r="0" b="0"/>
            </a:stretch>
          </a:blipFill>
        </p:spPr>
      </p:sp>
      <p:sp>
        <p:nvSpPr>
          <p:cNvPr name="Freeform 40" id="40"/>
          <p:cNvSpPr/>
          <p:nvPr/>
        </p:nvSpPr>
        <p:spPr>
          <a:xfrm flipH="false" flipV="false" rot="0">
            <a:off x="8993022" y="2996592"/>
            <a:ext cx="1329428" cy="1445030"/>
          </a:xfrm>
          <a:custGeom>
            <a:avLst/>
            <a:gdLst/>
            <a:ahLst/>
            <a:cxnLst/>
            <a:rect r="r" b="b" t="t" l="l"/>
            <a:pathLst>
              <a:path h="1445030" w="1329428">
                <a:moveTo>
                  <a:pt x="0" y="0"/>
                </a:moveTo>
                <a:lnTo>
                  <a:pt x="1329427" y="0"/>
                </a:lnTo>
                <a:lnTo>
                  <a:pt x="1329427" y="1445030"/>
                </a:lnTo>
                <a:lnTo>
                  <a:pt x="0" y="1445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41" id="41"/>
          <p:cNvSpPr/>
          <p:nvPr/>
        </p:nvSpPr>
        <p:spPr>
          <a:xfrm flipH="false" flipV="false" rot="0">
            <a:off x="714114" y="6333876"/>
            <a:ext cx="1490357" cy="1490357"/>
          </a:xfrm>
          <a:custGeom>
            <a:avLst/>
            <a:gdLst/>
            <a:ahLst/>
            <a:cxnLst/>
            <a:rect r="r" b="b" t="t" l="l"/>
            <a:pathLst>
              <a:path h="1490357" w="1490357">
                <a:moveTo>
                  <a:pt x="0" y="0"/>
                </a:moveTo>
                <a:lnTo>
                  <a:pt x="1490357" y="0"/>
                </a:lnTo>
                <a:lnTo>
                  <a:pt x="1490357" y="1490357"/>
                </a:lnTo>
                <a:lnTo>
                  <a:pt x="0" y="1490357"/>
                </a:lnTo>
                <a:lnTo>
                  <a:pt x="0" y="0"/>
                </a:lnTo>
                <a:close/>
              </a:path>
            </a:pathLst>
          </a:custGeom>
          <a:blipFill>
            <a:blip r:embed="rId9"/>
            <a:stretch>
              <a:fillRect l="0" t="0" r="0" b="0"/>
            </a:stretch>
          </a:blipFill>
        </p:spPr>
      </p:sp>
      <p:sp>
        <p:nvSpPr>
          <p:cNvPr name="Freeform 42" id="42"/>
          <p:cNvSpPr/>
          <p:nvPr/>
        </p:nvSpPr>
        <p:spPr>
          <a:xfrm flipH="false" flipV="false" rot="0">
            <a:off x="3435622" y="2948045"/>
            <a:ext cx="1296653" cy="1296653"/>
          </a:xfrm>
          <a:custGeom>
            <a:avLst/>
            <a:gdLst/>
            <a:ahLst/>
            <a:cxnLst/>
            <a:rect r="r" b="b" t="t" l="l"/>
            <a:pathLst>
              <a:path h="1296653" w="1296653">
                <a:moveTo>
                  <a:pt x="0" y="0"/>
                </a:moveTo>
                <a:lnTo>
                  <a:pt x="1296654" y="0"/>
                </a:lnTo>
                <a:lnTo>
                  <a:pt x="1296654" y="1296653"/>
                </a:lnTo>
                <a:lnTo>
                  <a:pt x="0" y="129665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3" id="43"/>
          <p:cNvSpPr/>
          <p:nvPr/>
        </p:nvSpPr>
        <p:spPr>
          <a:xfrm flipH="false" flipV="false" rot="0">
            <a:off x="863183" y="3095043"/>
            <a:ext cx="1192219" cy="1151033"/>
          </a:xfrm>
          <a:custGeom>
            <a:avLst/>
            <a:gdLst/>
            <a:ahLst/>
            <a:cxnLst/>
            <a:rect r="r" b="b" t="t" l="l"/>
            <a:pathLst>
              <a:path h="1151033" w="1192219">
                <a:moveTo>
                  <a:pt x="0" y="0"/>
                </a:moveTo>
                <a:lnTo>
                  <a:pt x="1192219" y="0"/>
                </a:lnTo>
                <a:lnTo>
                  <a:pt x="1192219" y="1151033"/>
                </a:lnTo>
                <a:lnTo>
                  <a:pt x="0" y="1151033"/>
                </a:lnTo>
                <a:lnTo>
                  <a:pt x="0" y="0"/>
                </a:lnTo>
                <a:close/>
              </a:path>
            </a:pathLst>
          </a:custGeom>
          <a:blipFill>
            <a:blip r:embed="rId12"/>
            <a:stretch>
              <a:fillRect l="0" t="0" r="0" b="0"/>
            </a:stretch>
          </a:blipFill>
        </p:spPr>
      </p:sp>
      <p:sp>
        <p:nvSpPr>
          <p:cNvPr name="Freeform 44" id="44"/>
          <p:cNvSpPr/>
          <p:nvPr/>
        </p:nvSpPr>
        <p:spPr>
          <a:xfrm flipH="false" flipV="false" rot="0">
            <a:off x="11914750" y="3007936"/>
            <a:ext cx="1059184" cy="1176871"/>
          </a:xfrm>
          <a:custGeom>
            <a:avLst/>
            <a:gdLst/>
            <a:ahLst/>
            <a:cxnLst/>
            <a:rect r="r" b="b" t="t" l="l"/>
            <a:pathLst>
              <a:path h="1176871" w="1059184">
                <a:moveTo>
                  <a:pt x="0" y="0"/>
                </a:moveTo>
                <a:lnTo>
                  <a:pt x="1059184" y="0"/>
                </a:lnTo>
                <a:lnTo>
                  <a:pt x="1059184" y="1176871"/>
                </a:lnTo>
                <a:lnTo>
                  <a:pt x="0" y="117687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45" id="45"/>
          <p:cNvSpPr/>
          <p:nvPr/>
        </p:nvSpPr>
        <p:spPr>
          <a:xfrm flipH="false" flipV="false" rot="0">
            <a:off x="6446630" y="6471620"/>
            <a:ext cx="1171701" cy="1352613"/>
          </a:xfrm>
          <a:custGeom>
            <a:avLst/>
            <a:gdLst/>
            <a:ahLst/>
            <a:cxnLst/>
            <a:rect r="r" b="b" t="t" l="l"/>
            <a:pathLst>
              <a:path h="1352613" w="1171701">
                <a:moveTo>
                  <a:pt x="0" y="0"/>
                </a:moveTo>
                <a:lnTo>
                  <a:pt x="1171701" y="0"/>
                </a:lnTo>
                <a:lnTo>
                  <a:pt x="1171701" y="1352613"/>
                </a:lnTo>
                <a:lnTo>
                  <a:pt x="0" y="135261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46" id="46"/>
          <p:cNvGrpSpPr/>
          <p:nvPr/>
        </p:nvGrpSpPr>
        <p:grpSpPr>
          <a:xfrm rot="0">
            <a:off x="3184112" y="6418226"/>
            <a:ext cx="1799673" cy="1406007"/>
            <a:chOff x="0" y="0"/>
            <a:chExt cx="2399564" cy="1874676"/>
          </a:xfrm>
        </p:grpSpPr>
        <p:sp>
          <p:nvSpPr>
            <p:cNvPr name="Freeform 47" id="47"/>
            <p:cNvSpPr/>
            <p:nvPr/>
          </p:nvSpPr>
          <p:spPr>
            <a:xfrm flipH="false" flipV="false" rot="0">
              <a:off x="999862" y="125048"/>
              <a:ext cx="1399703" cy="1749628"/>
            </a:xfrm>
            <a:custGeom>
              <a:avLst/>
              <a:gdLst/>
              <a:ahLst/>
              <a:cxnLst/>
              <a:rect r="r" b="b" t="t" l="l"/>
              <a:pathLst>
                <a:path h="1749628" w="1399703">
                  <a:moveTo>
                    <a:pt x="0" y="0"/>
                  </a:moveTo>
                  <a:lnTo>
                    <a:pt x="1399702" y="0"/>
                  </a:lnTo>
                  <a:lnTo>
                    <a:pt x="1399702" y="1749628"/>
                  </a:lnTo>
                  <a:lnTo>
                    <a:pt x="0" y="174962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48" id="48"/>
            <p:cNvSpPr/>
            <p:nvPr/>
          </p:nvSpPr>
          <p:spPr>
            <a:xfrm flipH="false" flipV="false" rot="0">
              <a:off x="0" y="0"/>
              <a:ext cx="999862" cy="999862"/>
            </a:xfrm>
            <a:custGeom>
              <a:avLst/>
              <a:gdLst/>
              <a:ahLst/>
              <a:cxnLst/>
              <a:rect r="r" b="b" t="t" l="l"/>
              <a:pathLst>
                <a:path h="999862" w="999862">
                  <a:moveTo>
                    <a:pt x="0" y="0"/>
                  </a:moveTo>
                  <a:lnTo>
                    <a:pt x="999862" y="0"/>
                  </a:lnTo>
                  <a:lnTo>
                    <a:pt x="999862" y="999862"/>
                  </a:lnTo>
                  <a:lnTo>
                    <a:pt x="0" y="999862"/>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sp>
        <p:nvSpPr>
          <p:cNvPr name="TextBox 49" id="49"/>
          <p:cNvSpPr txBox="true"/>
          <p:nvPr/>
        </p:nvSpPr>
        <p:spPr>
          <a:xfrm rot="0">
            <a:off x="165512" y="18415"/>
            <a:ext cx="9296766" cy="1010285"/>
          </a:xfrm>
          <a:prstGeom prst="rect">
            <a:avLst/>
          </a:prstGeom>
        </p:spPr>
        <p:txBody>
          <a:bodyPr anchor="t" rtlCol="false" tIns="0" lIns="0" bIns="0" rIns="0">
            <a:spAutoFit/>
          </a:bodyPr>
          <a:lstStyle/>
          <a:p>
            <a:pPr algn="l">
              <a:lnSpc>
                <a:spcPts val="7840"/>
              </a:lnSpc>
            </a:pPr>
            <a:r>
              <a:rPr lang="en-US" sz="5600">
                <a:solidFill>
                  <a:srgbClr val="000000"/>
                </a:solidFill>
                <a:latin typeface="Poppins"/>
                <a:ea typeface="Poppins"/>
                <a:cs typeface="Poppins"/>
                <a:sym typeface="Poppins"/>
              </a:rPr>
              <a:t>SCOPE</a:t>
            </a:r>
          </a:p>
        </p:txBody>
      </p:sp>
      <p:sp>
        <p:nvSpPr>
          <p:cNvPr name="TextBox 50" id="50"/>
          <p:cNvSpPr txBox="true"/>
          <p:nvPr/>
        </p:nvSpPr>
        <p:spPr>
          <a:xfrm rot="0">
            <a:off x="536674" y="9466282"/>
            <a:ext cx="3311757" cy="375285"/>
          </a:xfrm>
          <a:prstGeom prst="rect">
            <a:avLst/>
          </a:prstGeom>
        </p:spPr>
        <p:txBody>
          <a:bodyPr anchor="t" rtlCol="false" tIns="0" lIns="0" bIns="0" rIns="0">
            <a:spAutoFit/>
          </a:bodyPr>
          <a:lstStyle/>
          <a:p>
            <a:pPr algn="just">
              <a:lnSpc>
                <a:spcPts val="2940"/>
              </a:lnSpc>
            </a:pPr>
            <a:r>
              <a:rPr lang="en-US" sz="2100" b="true">
                <a:solidFill>
                  <a:srgbClr val="000000"/>
                </a:solidFill>
                <a:latin typeface="Poppins Bold"/>
                <a:ea typeface="Poppins Bold"/>
                <a:cs typeface="Poppins Bold"/>
                <a:sym typeface="Poppins Bold"/>
              </a:rPr>
              <a:t>NeuroVoice</a:t>
            </a:r>
          </a:p>
        </p:txBody>
      </p:sp>
      <p:sp>
        <p:nvSpPr>
          <p:cNvPr name="TextBox 51" id="51"/>
          <p:cNvSpPr txBox="true"/>
          <p:nvPr/>
        </p:nvSpPr>
        <p:spPr>
          <a:xfrm rot="0">
            <a:off x="463028" y="1571684"/>
            <a:ext cx="1992528" cy="908801"/>
          </a:xfrm>
          <a:prstGeom prst="rect">
            <a:avLst/>
          </a:prstGeom>
        </p:spPr>
        <p:txBody>
          <a:bodyPr anchor="t" rtlCol="false" tIns="0" lIns="0" bIns="0" rIns="0">
            <a:spAutoFit/>
          </a:bodyPr>
          <a:lstStyle/>
          <a:p>
            <a:pPr algn="just">
              <a:lnSpc>
                <a:spcPts val="2351"/>
              </a:lnSpc>
            </a:pPr>
            <a:r>
              <a:rPr lang="en-US" sz="1679">
                <a:solidFill>
                  <a:srgbClr val="000000"/>
                </a:solidFill>
                <a:latin typeface="Poppins"/>
                <a:ea typeface="Poppins"/>
                <a:cs typeface="Poppins"/>
                <a:sym typeface="Poppins"/>
              </a:rPr>
              <a:t>Customization of the app’s overall color theme.</a:t>
            </a:r>
          </a:p>
        </p:txBody>
      </p:sp>
      <p:sp>
        <p:nvSpPr>
          <p:cNvPr name="TextBox 52" id="52"/>
          <p:cNvSpPr txBox="true"/>
          <p:nvPr/>
        </p:nvSpPr>
        <p:spPr>
          <a:xfrm rot="0">
            <a:off x="3087685" y="1571684"/>
            <a:ext cx="1992528" cy="610699"/>
          </a:xfrm>
          <a:prstGeom prst="rect">
            <a:avLst/>
          </a:prstGeom>
        </p:spPr>
        <p:txBody>
          <a:bodyPr anchor="t" rtlCol="false" tIns="0" lIns="0" bIns="0" rIns="0">
            <a:spAutoFit/>
          </a:bodyPr>
          <a:lstStyle/>
          <a:p>
            <a:pPr algn="just">
              <a:lnSpc>
                <a:spcPts val="2351"/>
              </a:lnSpc>
            </a:pPr>
            <a:r>
              <a:rPr lang="en-US" sz="1679">
                <a:solidFill>
                  <a:srgbClr val="000000"/>
                </a:solidFill>
                <a:latin typeface="Poppins"/>
                <a:ea typeface="Poppins"/>
                <a:cs typeface="Poppins"/>
                <a:sym typeface="Poppins"/>
              </a:rPr>
              <a:t>Audio playback through TTS.</a:t>
            </a:r>
          </a:p>
        </p:txBody>
      </p:sp>
      <p:sp>
        <p:nvSpPr>
          <p:cNvPr name="TextBox 53" id="53"/>
          <p:cNvSpPr txBox="true"/>
          <p:nvPr/>
        </p:nvSpPr>
        <p:spPr>
          <a:xfrm rot="0">
            <a:off x="6036815" y="1571684"/>
            <a:ext cx="1992528" cy="610699"/>
          </a:xfrm>
          <a:prstGeom prst="rect">
            <a:avLst/>
          </a:prstGeom>
        </p:spPr>
        <p:txBody>
          <a:bodyPr anchor="t" rtlCol="false" tIns="0" lIns="0" bIns="0" rIns="0">
            <a:spAutoFit/>
          </a:bodyPr>
          <a:lstStyle/>
          <a:p>
            <a:pPr algn="just">
              <a:lnSpc>
                <a:spcPts val="2351"/>
              </a:lnSpc>
            </a:pPr>
            <a:r>
              <a:rPr lang="en-US" sz="1679">
                <a:solidFill>
                  <a:srgbClr val="000000"/>
                </a:solidFill>
                <a:latin typeface="Poppins"/>
                <a:ea typeface="Poppins"/>
                <a:cs typeface="Poppins"/>
                <a:sym typeface="Poppins"/>
              </a:rPr>
              <a:t>System with a login service.</a:t>
            </a:r>
          </a:p>
        </p:txBody>
      </p:sp>
      <p:sp>
        <p:nvSpPr>
          <p:cNvPr name="TextBox 54" id="54"/>
          <p:cNvSpPr txBox="true"/>
          <p:nvPr/>
        </p:nvSpPr>
        <p:spPr>
          <a:xfrm rot="0">
            <a:off x="8661471" y="1571684"/>
            <a:ext cx="1992528" cy="1206903"/>
          </a:xfrm>
          <a:prstGeom prst="rect">
            <a:avLst/>
          </a:prstGeom>
        </p:spPr>
        <p:txBody>
          <a:bodyPr anchor="t" rtlCol="false" tIns="0" lIns="0" bIns="0" rIns="0">
            <a:spAutoFit/>
          </a:bodyPr>
          <a:lstStyle/>
          <a:p>
            <a:pPr algn="just">
              <a:lnSpc>
                <a:spcPts val="2351"/>
              </a:lnSpc>
            </a:pPr>
            <a:r>
              <a:rPr lang="en-US" sz="1679">
                <a:solidFill>
                  <a:srgbClr val="000000"/>
                </a:solidFill>
                <a:latin typeface="Poppins"/>
                <a:ea typeface="Poppins"/>
                <a:cs typeface="Poppins"/>
                <a:sym typeface="Poppins"/>
              </a:rPr>
              <a:t>Backend implemented with Flask and an SQLite database.</a:t>
            </a:r>
          </a:p>
        </p:txBody>
      </p:sp>
      <p:sp>
        <p:nvSpPr>
          <p:cNvPr name="TextBox 55" id="55"/>
          <p:cNvSpPr txBox="true"/>
          <p:nvPr/>
        </p:nvSpPr>
        <p:spPr>
          <a:xfrm rot="0">
            <a:off x="11448676" y="1571684"/>
            <a:ext cx="1992528" cy="908801"/>
          </a:xfrm>
          <a:prstGeom prst="rect">
            <a:avLst/>
          </a:prstGeom>
        </p:spPr>
        <p:txBody>
          <a:bodyPr anchor="t" rtlCol="false" tIns="0" lIns="0" bIns="0" rIns="0">
            <a:spAutoFit/>
          </a:bodyPr>
          <a:lstStyle/>
          <a:p>
            <a:pPr algn="just">
              <a:lnSpc>
                <a:spcPts val="2351"/>
              </a:lnSpc>
            </a:pPr>
            <a:r>
              <a:rPr lang="en-US" sz="1679">
                <a:solidFill>
                  <a:srgbClr val="000000"/>
                </a:solidFill>
                <a:latin typeface="Poppins"/>
                <a:ea typeface="Poppins"/>
                <a:cs typeface="Poppins"/>
                <a:sym typeface="Poppins"/>
              </a:rPr>
              <a:t>Creation of a REST API within the system.</a:t>
            </a:r>
          </a:p>
        </p:txBody>
      </p:sp>
      <p:sp>
        <p:nvSpPr>
          <p:cNvPr name="TextBox 56" id="56"/>
          <p:cNvSpPr txBox="true"/>
          <p:nvPr/>
        </p:nvSpPr>
        <p:spPr>
          <a:xfrm rot="0">
            <a:off x="463028" y="5065087"/>
            <a:ext cx="1992528" cy="908801"/>
          </a:xfrm>
          <a:prstGeom prst="rect">
            <a:avLst/>
          </a:prstGeom>
        </p:spPr>
        <p:txBody>
          <a:bodyPr anchor="t" rtlCol="false" tIns="0" lIns="0" bIns="0" rIns="0">
            <a:spAutoFit/>
          </a:bodyPr>
          <a:lstStyle/>
          <a:p>
            <a:pPr algn="just">
              <a:lnSpc>
                <a:spcPts val="2351"/>
              </a:lnSpc>
            </a:pPr>
            <a:r>
              <a:rPr lang="en-US" sz="1679">
                <a:solidFill>
                  <a:srgbClr val="000000"/>
                </a:solidFill>
                <a:latin typeface="Poppins"/>
                <a:ea typeface="Poppins"/>
                <a:cs typeface="Poppins"/>
                <a:sym typeface="Poppins"/>
              </a:rPr>
              <a:t>Ability to create and delete collections.</a:t>
            </a:r>
          </a:p>
        </p:txBody>
      </p:sp>
      <p:sp>
        <p:nvSpPr>
          <p:cNvPr name="TextBox 57" id="57"/>
          <p:cNvSpPr txBox="true"/>
          <p:nvPr/>
        </p:nvSpPr>
        <p:spPr>
          <a:xfrm rot="0">
            <a:off x="3087685" y="5007937"/>
            <a:ext cx="1992528" cy="908801"/>
          </a:xfrm>
          <a:prstGeom prst="rect">
            <a:avLst/>
          </a:prstGeom>
        </p:spPr>
        <p:txBody>
          <a:bodyPr anchor="t" rtlCol="false" tIns="0" lIns="0" bIns="0" rIns="0">
            <a:spAutoFit/>
          </a:bodyPr>
          <a:lstStyle/>
          <a:p>
            <a:pPr algn="just">
              <a:lnSpc>
                <a:spcPts val="2351"/>
              </a:lnSpc>
            </a:pPr>
            <a:r>
              <a:rPr lang="en-US" sz="1679">
                <a:solidFill>
                  <a:srgbClr val="000000"/>
                </a:solidFill>
                <a:latin typeface="Poppins"/>
                <a:ea typeface="Poppins"/>
                <a:cs typeface="Poppins"/>
                <a:sym typeface="Poppins"/>
              </a:rPr>
              <a:t>Allows adding and removing cards within collections.</a:t>
            </a:r>
          </a:p>
        </p:txBody>
      </p:sp>
      <p:sp>
        <p:nvSpPr>
          <p:cNvPr name="TextBox 58" id="58"/>
          <p:cNvSpPr txBox="true"/>
          <p:nvPr/>
        </p:nvSpPr>
        <p:spPr>
          <a:xfrm rot="0">
            <a:off x="6036815" y="5007937"/>
            <a:ext cx="1992528" cy="1206903"/>
          </a:xfrm>
          <a:prstGeom prst="rect">
            <a:avLst/>
          </a:prstGeom>
        </p:spPr>
        <p:txBody>
          <a:bodyPr anchor="t" rtlCol="false" tIns="0" lIns="0" bIns="0" rIns="0">
            <a:spAutoFit/>
          </a:bodyPr>
          <a:lstStyle/>
          <a:p>
            <a:pPr algn="just">
              <a:lnSpc>
                <a:spcPts val="2351"/>
              </a:lnSpc>
            </a:pPr>
            <a:r>
              <a:rPr lang="en-US" sz="1679">
                <a:solidFill>
                  <a:srgbClr val="000000"/>
                </a:solidFill>
                <a:latin typeface="Poppins"/>
                <a:ea typeface="Poppins"/>
                <a:cs typeface="Poppins"/>
                <a:sym typeface="Poppins"/>
              </a:rPr>
              <a:t>Implementation of a search feature with filters for cards.</a:t>
            </a:r>
          </a:p>
        </p:txBody>
      </p:sp>
      <p:sp>
        <p:nvSpPr>
          <p:cNvPr name="TextBox 59" id="59"/>
          <p:cNvSpPr txBox="true"/>
          <p:nvPr/>
        </p:nvSpPr>
        <p:spPr>
          <a:xfrm rot="0">
            <a:off x="8955900" y="5110681"/>
            <a:ext cx="9296766" cy="1010285"/>
          </a:xfrm>
          <a:prstGeom prst="rect">
            <a:avLst/>
          </a:prstGeom>
        </p:spPr>
        <p:txBody>
          <a:bodyPr anchor="t" rtlCol="false" tIns="0" lIns="0" bIns="0" rIns="0">
            <a:spAutoFit/>
          </a:bodyPr>
          <a:lstStyle/>
          <a:p>
            <a:pPr algn="l">
              <a:lnSpc>
                <a:spcPts val="7840"/>
              </a:lnSpc>
            </a:pPr>
            <a:r>
              <a:rPr lang="en-US" sz="5600">
                <a:solidFill>
                  <a:srgbClr val="000000"/>
                </a:solidFill>
                <a:latin typeface="Poppins"/>
                <a:ea typeface="Poppins"/>
                <a:cs typeface="Poppins"/>
                <a:sym typeface="Poppins"/>
              </a:rPr>
              <a:t>LIMITATIONS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7F6"/>
        </a:solidFill>
      </p:bgPr>
    </p:bg>
    <p:spTree>
      <p:nvGrpSpPr>
        <p:cNvPr id="1" name=""/>
        <p:cNvGrpSpPr/>
        <p:nvPr/>
      </p:nvGrpSpPr>
      <p:grpSpPr>
        <a:xfrm>
          <a:off x="0" y="0"/>
          <a:ext cx="0" cy="0"/>
          <a:chOff x="0" y="0"/>
          <a:chExt cx="0" cy="0"/>
        </a:xfrm>
      </p:grpSpPr>
      <p:grpSp>
        <p:nvGrpSpPr>
          <p:cNvPr name="Group 2" id="2"/>
          <p:cNvGrpSpPr/>
          <p:nvPr/>
        </p:nvGrpSpPr>
        <p:grpSpPr>
          <a:xfrm rot="0">
            <a:off x="-219435" y="-239354"/>
            <a:ext cx="1248135" cy="1829265"/>
            <a:chOff x="0" y="0"/>
            <a:chExt cx="328727" cy="481782"/>
          </a:xfrm>
        </p:grpSpPr>
        <p:sp>
          <p:nvSpPr>
            <p:cNvPr name="Freeform 3" id="3"/>
            <p:cNvSpPr/>
            <p:nvPr/>
          </p:nvSpPr>
          <p:spPr>
            <a:xfrm flipH="false" flipV="false" rot="0">
              <a:off x="0" y="0"/>
              <a:ext cx="328727" cy="481782"/>
            </a:xfrm>
            <a:custGeom>
              <a:avLst/>
              <a:gdLst/>
              <a:ahLst/>
              <a:cxnLst/>
              <a:rect r="r" b="b" t="t" l="l"/>
              <a:pathLst>
                <a:path h="481782" w="328727">
                  <a:moveTo>
                    <a:pt x="0" y="0"/>
                  </a:moveTo>
                  <a:lnTo>
                    <a:pt x="328727" y="0"/>
                  </a:lnTo>
                  <a:lnTo>
                    <a:pt x="328727" y="481782"/>
                  </a:lnTo>
                  <a:lnTo>
                    <a:pt x="0" y="481782"/>
                  </a:lnTo>
                  <a:close/>
                </a:path>
              </a:pathLst>
            </a:custGeom>
            <a:solidFill>
              <a:srgbClr val="ACA18F"/>
            </a:solidFill>
          </p:spPr>
        </p:sp>
        <p:sp>
          <p:nvSpPr>
            <p:cNvPr name="TextBox 4" id="4"/>
            <p:cNvSpPr txBox="true"/>
            <p:nvPr/>
          </p:nvSpPr>
          <p:spPr>
            <a:xfrm>
              <a:off x="0" y="-38100"/>
              <a:ext cx="328727" cy="519882"/>
            </a:xfrm>
            <a:prstGeom prst="rect">
              <a:avLst/>
            </a:prstGeom>
          </p:spPr>
          <p:txBody>
            <a:bodyPr anchor="ctr" rtlCol="false" tIns="50800" lIns="50800" bIns="50800" rIns="50800"/>
            <a:lstStyle/>
            <a:p>
              <a:pPr algn="ctr">
                <a:lnSpc>
                  <a:spcPts val="2277"/>
                </a:lnSpc>
              </a:pPr>
            </a:p>
          </p:txBody>
        </p:sp>
      </p:grpSp>
      <p:sp>
        <p:nvSpPr>
          <p:cNvPr name="TextBox 5" id="5"/>
          <p:cNvSpPr txBox="true"/>
          <p:nvPr/>
        </p:nvSpPr>
        <p:spPr>
          <a:xfrm rot="0">
            <a:off x="10888365" y="1794140"/>
            <a:ext cx="6272190" cy="2285365"/>
          </a:xfrm>
          <a:prstGeom prst="rect">
            <a:avLst/>
          </a:prstGeom>
        </p:spPr>
        <p:txBody>
          <a:bodyPr anchor="t" rtlCol="false" tIns="0" lIns="0" bIns="0" rIns="0">
            <a:spAutoFit/>
          </a:bodyPr>
          <a:lstStyle/>
          <a:p>
            <a:pPr algn="ctr">
              <a:lnSpc>
                <a:spcPts val="8959"/>
              </a:lnSpc>
            </a:pPr>
            <a:r>
              <a:rPr lang="en-US" sz="6399">
                <a:solidFill>
                  <a:srgbClr val="000000"/>
                </a:solidFill>
                <a:latin typeface="Poppins"/>
                <a:ea typeface="Poppins"/>
                <a:cs typeface="Poppins"/>
                <a:sym typeface="Poppins"/>
              </a:rPr>
              <a:t>AGILE METHODOLOGY</a:t>
            </a:r>
          </a:p>
        </p:txBody>
      </p:sp>
      <p:sp>
        <p:nvSpPr>
          <p:cNvPr name="TextBox 6" id="6"/>
          <p:cNvSpPr txBox="true"/>
          <p:nvPr/>
        </p:nvSpPr>
        <p:spPr>
          <a:xfrm rot="0">
            <a:off x="14031979" y="971550"/>
            <a:ext cx="3311757" cy="375285"/>
          </a:xfrm>
          <a:prstGeom prst="rect">
            <a:avLst/>
          </a:prstGeom>
        </p:spPr>
        <p:txBody>
          <a:bodyPr anchor="t" rtlCol="false" tIns="0" lIns="0" bIns="0" rIns="0">
            <a:spAutoFit/>
          </a:bodyPr>
          <a:lstStyle/>
          <a:p>
            <a:pPr algn="r">
              <a:lnSpc>
                <a:spcPts val="2940"/>
              </a:lnSpc>
            </a:pPr>
            <a:r>
              <a:rPr lang="en-US" sz="2100" b="true">
                <a:solidFill>
                  <a:srgbClr val="000000"/>
                </a:solidFill>
                <a:latin typeface="Poppins Bold"/>
                <a:ea typeface="Poppins Bold"/>
                <a:cs typeface="Poppins Bold"/>
                <a:sym typeface="Poppins Bold"/>
              </a:rPr>
              <a:t>NeuroVoice</a:t>
            </a:r>
          </a:p>
        </p:txBody>
      </p:sp>
      <p:sp>
        <p:nvSpPr>
          <p:cNvPr name="TextBox 7" id="7"/>
          <p:cNvSpPr txBox="true"/>
          <p:nvPr/>
        </p:nvSpPr>
        <p:spPr>
          <a:xfrm rot="0">
            <a:off x="476326" y="4959087"/>
            <a:ext cx="9446449" cy="3733798"/>
          </a:xfrm>
          <a:prstGeom prst="rect">
            <a:avLst/>
          </a:prstGeom>
        </p:spPr>
        <p:txBody>
          <a:bodyPr anchor="t" rtlCol="false" tIns="0" lIns="0" bIns="0" rIns="0">
            <a:spAutoFit/>
          </a:bodyPr>
          <a:lstStyle/>
          <a:p>
            <a:pPr algn="just">
              <a:lnSpc>
                <a:spcPts val="4200"/>
              </a:lnSpc>
            </a:pPr>
            <a:r>
              <a:rPr lang="en-US" sz="3000">
                <a:solidFill>
                  <a:srgbClr val="242424"/>
                </a:solidFill>
                <a:latin typeface="TT Chocolates"/>
                <a:ea typeface="TT Chocolates"/>
                <a:cs typeface="TT Chocolates"/>
                <a:sym typeface="TT Chocolates"/>
              </a:rPr>
              <a:t>Work is carried out in short sprints, integrating features such as new cards, UI improvements, audio, and personalization. Continuous integration and testing on real devices are applied, with flexibility to adjust based on specialist recommendations. Incremental deliveries allow accessibility and usability to be validated from an early stage.</a:t>
            </a:r>
          </a:p>
        </p:txBody>
      </p:sp>
      <p:grpSp>
        <p:nvGrpSpPr>
          <p:cNvPr name="Group 8" id="8"/>
          <p:cNvGrpSpPr/>
          <p:nvPr/>
        </p:nvGrpSpPr>
        <p:grpSpPr>
          <a:xfrm rot="0">
            <a:off x="404632" y="1975115"/>
            <a:ext cx="9589835" cy="2679172"/>
            <a:chOff x="0" y="0"/>
            <a:chExt cx="12786447" cy="3572229"/>
          </a:xfrm>
        </p:grpSpPr>
        <p:grpSp>
          <p:nvGrpSpPr>
            <p:cNvPr name="Group 9" id="9"/>
            <p:cNvGrpSpPr/>
            <p:nvPr/>
          </p:nvGrpSpPr>
          <p:grpSpPr>
            <a:xfrm rot="0">
              <a:off x="0" y="0"/>
              <a:ext cx="12786447" cy="3572229"/>
              <a:chOff x="0" y="0"/>
              <a:chExt cx="4539912" cy="1268343"/>
            </a:xfrm>
          </p:grpSpPr>
          <p:sp>
            <p:nvSpPr>
              <p:cNvPr name="Freeform 10" id="10"/>
              <p:cNvSpPr/>
              <p:nvPr/>
            </p:nvSpPr>
            <p:spPr>
              <a:xfrm flipH="false" flipV="false" rot="0">
                <a:off x="0" y="0"/>
                <a:ext cx="4539912" cy="1268343"/>
              </a:xfrm>
              <a:custGeom>
                <a:avLst/>
                <a:gdLst/>
                <a:ahLst/>
                <a:cxnLst/>
                <a:rect r="r" b="b" t="t" l="l"/>
                <a:pathLst>
                  <a:path h="1268343" w="4539912">
                    <a:moveTo>
                      <a:pt x="0" y="0"/>
                    </a:moveTo>
                    <a:lnTo>
                      <a:pt x="4539912" y="0"/>
                    </a:lnTo>
                    <a:lnTo>
                      <a:pt x="4539912" y="1268343"/>
                    </a:lnTo>
                    <a:lnTo>
                      <a:pt x="0" y="1268343"/>
                    </a:lnTo>
                    <a:close/>
                  </a:path>
                </a:pathLst>
              </a:custGeom>
              <a:solidFill>
                <a:srgbClr val="000000">
                  <a:alpha val="0"/>
                </a:srgbClr>
              </a:solidFill>
              <a:ln w="85725" cap="sq">
                <a:solidFill>
                  <a:srgbClr val="ACA18F"/>
                </a:solidFill>
                <a:prstDash val="solid"/>
                <a:miter/>
              </a:ln>
            </p:spPr>
          </p:sp>
          <p:sp>
            <p:nvSpPr>
              <p:cNvPr name="TextBox 11" id="11"/>
              <p:cNvSpPr txBox="true"/>
              <p:nvPr/>
            </p:nvSpPr>
            <p:spPr>
              <a:xfrm>
                <a:off x="0" y="-47625"/>
                <a:ext cx="4539912" cy="1315968"/>
              </a:xfrm>
              <a:prstGeom prst="rect">
                <a:avLst/>
              </a:prstGeom>
            </p:spPr>
            <p:txBody>
              <a:bodyPr anchor="ctr" rtlCol="false" tIns="48876" lIns="48876" bIns="48876" rIns="48876"/>
              <a:lstStyle/>
              <a:p>
                <a:pPr algn="ctr">
                  <a:lnSpc>
                    <a:spcPts val="1588"/>
                  </a:lnSpc>
                </a:pPr>
              </a:p>
            </p:txBody>
          </p:sp>
        </p:grpSp>
        <p:sp>
          <p:nvSpPr>
            <p:cNvPr name="Freeform 12" id="12"/>
            <p:cNvSpPr/>
            <p:nvPr/>
          </p:nvSpPr>
          <p:spPr>
            <a:xfrm flipH="false" flipV="false" rot="0">
              <a:off x="3823252" y="2695459"/>
              <a:ext cx="1044810" cy="316055"/>
            </a:xfrm>
            <a:custGeom>
              <a:avLst/>
              <a:gdLst/>
              <a:ahLst/>
              <a:cxnLst/>
              <a:rect r="r" b="b" t="t" l="l"/>
              <a:pathLst>
                <a:path h="316055" w="1044810">
                  <a:moveTo>
                    <a:pt x="0" y="0"/>
                  </a:moveTo>
                  <a:lnTo>
                    <a:pt x="1044810" y="0"/>
                  </a:lnTo>
                  <a:lnTo>
                    <a:pt x="1044810" y="316056"/>
                  </a:lnTo>
                  <a:lnTo>
                    <a:pt x="0" y="3160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4667684" y="2535564"/>
              <a:ext cx="3642260" cy="578697"/>
            </a:xfrm>
            <a:prstGeom prst="rect">
              <a:avLst/>
            </a:prstGeom>
          </p:spPr>
          <p:txBody>
            <a:bodyPr anchor="t" rtlCol="false" tIns="0" lIns="0" bIns="0" rIns="0">
              <a:spAutoFit/>
            </a:bodyPr>
            <a:lstStyle/>
            <a:p>
              <a:pPr algn="ctr">
                <a:lnSpc>
                  <a:spcPts val="3640"/>
                </a:lnSpc>
              </a:pPr>
              <a:r>
                <a:rPr lang="en-US" sz="2600">
                  <a:solidFill>
                    <a:srgbClr val="000000"/>
                  </a:solidFill>
                  <a:latin typeface="Open Sans"/>
                  <a:ea typeface="Open Sans"/>
                  <a:cs typeface="Open Sans"/>
                  <a:sym typeface="Open Sans"/>
                </a:rPr>
                <a:t>Scrum Master</a:t>
              </a:r>
            </a:p>
          </p:txBody>
        </p:sp>
        <p:sp>
          <p:nvSpPr>
            <p:cNvPr name="TextBox 14" id="14"/>
            <p:cNvSpPr txBox="true"/>
            <p:nvPr/>
          </p:nvSpPr>
          <p:spPr>
            <a:xfrm rot="0">
              <a:off x="8703645" y="2535564"/>
              <a:ext cx="3928015" cy="578697"/>
            </a:xfrm>
            <a:prstGeom prst="rect">
              <a:avLst/>
            </a:prstGeom>
          </p:spPr>
          <p:txBody>
            <a:bodyPr anchor="t" rtlCol="false" tIns="0" lIns="0" bIns="0" rIns="0">
              <a:spAutoFit/>
            </a:bodyPr>
            <a:lstStyle/>
            <a:p>
              <a:pPr algn="ctr">
                <a:lnSpc>
                  <a:spcPts val="3640"/>
                </a:lnSpc>
              </a:pPr>
              <a:r>
                <a:rPr lang="en-US" sz="2600">
                  <a:solidFill>
                    <a:srgbClr val="000000"/>
                  </a:solidFill>
                  <a:latin typeface="Open Sans"/>
                  <a:ea typeface="Open Sans"/>
                  <a:cs typeface="Open Sans"/>
                  <a:sym typeface="Open Sans"/>
                </a:rPr>
                <a:t>Scrum Team</a:t>
              </a:r>
            </a:p>
          </p:txBody>
        </p:sp>
        <p:sp>
          <p:nvSpPr>
            <p:cNvPr name="Freeform 15" id="15"/>
            <p:cNvSpPr/>
            <p:nvPr/>
          </p:nvSpPr>
          <p:spPr>
            <a:xfrm flipH="false" flipV="false" rot="0">
              <a:off x="8181240" y="2695459"/>
              <a:ext cx="1044810" cy="316055"/>
            </a:xfrm>
            <a:custGeom>
              <a:avLst/>
              <a:gdLst/>
              <a:ahLst/>
              <a:cxnLst/>
              <a:rect r="r" b="b" t="t" l="l"/>
              <a:pathLst>
                <a:path h="316055" w="1044810">
                  <a:moveTo>
                    <a:pt x="0" y="0"/>
                  </a:moveTo>
                  <a:lnTo>
                    <a:pt x="1044810" y="0"/>
                  </a:lnTo>
                  <a:lnTo>
                    <a:pt x="1044810" y="316056"/>
                  </a:lnTo>
                  <a:lnTo>
                    <a:pt x="0" y="3160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5216958" y="815304"/>
              <a:ext cx="2352530" cy="1440925"/>
            </a:xfrm>
            <a:custGeom>
              <a:avLst/>
              <a:gdLst/>
              <a:ahLst/>
              <a:cxnLst/>
              <a:rect r="r" b="b" t="t" l="l"/>
              <a:pathLst>
                <a:path h="1440925" w="2352530">
                  <a:moveTo>
                    <a:pt x="0" y="0"/>
                  </a:moveTo>
                  <a:lnTo>
                    <a:pt x="2352531" y="0"/>
                  </a:lnTo>
                  <a:lnTo>
                    <a:pt x="2352531" y="1440924"/>
                  </a:lnTo>
                  <a:lnTo>
                    <a:pt x="0" y="14409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1625733" y="815304"/>
              <a:ext cx="1210377" cy="1440925"/>
            </a:xfrm>
            <a:custGeom>
              <a:avLst/>
              <a:gdLst/>
              <a:ahLst/>
              <a:cxnLst/>
              <a:rect r="r" b="b" t="t" l="l"/>
              <a:pathLst>
                <a:path h="1440925" w="1210377">
                  <a:moveTo>
                    <a:pt x="0" y="0"/>
                  </a:moveTo>
                  <a:lnTo>
                    <a:pt x="1210376" y="0"/>
                  </a:lnTo>
                  <a:lnTo>
                    <a:pt x="1210376" y="1440924"/>
                  </a:lnTo>
                  <a:lnTo>
                    <a:pt x="0" y="14409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9864151" y="649227"/>
              <a:ext cx="1607001" cy="1607001"/>
            </a:xfrm>
            <a:custGeom>
              <a:avLst/>
              <a:gdLst/>
              <a:ahLst/>
              <a:cxnLst/>
              <a:rect r="r" b="b" t="t" l="l"/>
              <a:pathLst>
                <a:path h="1607001" w="1607001">
                  <a:moveTo>
                    <a:pt x="0" y="0"/>
                  </a:moveTo>
                  <a:lnTo>
                    <a:pt x="1607002" y="0"/>
                  </a:lnTo>
                  <a:lnTo>
                    <a:pt x="1607002" y="1607001"/>
                  </a:lnTo>
                  <a:lnTo>
                    <a:pt x="0" y="16070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9" id="19"/>
            <p:cNvSpPr txBox="true"/>
            <p:nvPr/>
          </p:nvSpPr>
          <p:spPr>
            <a:xfrm rot="0">
              <a:off x="191182" y="268228"/>
              <a:ext cx="8308950" cy="685797"/>
            </a:xfrm>
            <a:prstGeom prst="rect">
              <a:avLst/>
            </a:prstGeom>
          </p:spPr>
          <p:txBody>
            <a:bodyPr anchor="t" rtlCol="false" tIns="0" lIns="0" bIns="0" rIns="0">
              <a:spAutoFit/>
            </a:bodyPr>
            <a:lstStyle/>
            <a:p>
              <a:pPr algn="just">
                <a:lnSpc>
                  <a:spcPts val="4200"/>
                </a:lnSpc>
              </a:pPr>
              <a:r>
                <a:rPr lang="en-US" b="true" sz="3000" i="true">
                  <a:solidFill>
                    <a:srgbClr val="242424"/>
                  </a:solidFill>
                  <a:latin typeface="TT Chocolates Bold Italics"/>
                  <a:ea typeface="TT Chocolates Bold Italics"/>
                  <a:cs typeface="TT Chocolates Bold Italics"/>
                  <a:sym typeface="TT Chocolates Bold Italics"/>
                </a:rPr>
                <a:t>Roles:</a:t>
              </a:r>
            </a:p>
          </p:txBody>
        </p:sp>
        <p:sp>
          <p:nvSpPr>
            <p:cNvPr name="TextBox 20" id="20"/>
            <p:cNvSpPr txBox="true"/>
            <p:nvPr/>
          </p:nvSpPr>
          <p:spPr>
            <a:xfrm rot="0">
              <a:off x="155561" y="2535564"/>
              <a:ext cx="4114508" cy="578696"/>
            </a:xfrm>
            <a:prstGeom prst="rect">
              <a:avLst/>
            </a:prstGeom>
          </p:spPr>
          <p:txBody>
            <a:bodyPr anchor="t" rtlCol="false" tIns="0" lIns="0" bIns="0" rIns="0">
              <a:spAutoFit/>
            </a:bodyPr>
            <a:lstStyle/>
            <a:p>
              <a:pPr algn="ctr">
                <a:lnSpc>
                  <a:spcPts val="3640"/>
                </a:lnSpc>
              </a:pPr>
              <a:r>
                <a:rPr lang="en-US" sz="2600">
                  <a:solidFill>
                    <a:srgbClr val="000000"/>
                  </a:solidFill>
                  <a:latin typeface="Open Sans"/>
                  <a:ea typeface="Open Sans"/>
                  <a:cs typeface="Open Sans"/>
                  <a:sym typeface="Open Sans"/>
                </a:rPr>
                <a:t>Product Owner</a:t>
              </a:r>
            </a:p>
          </p:txBody>
        </p:sp>
      </p:grpSp>
      <p:grpSp>
        <p:nvGrpSpPr>
          <p:cNvPr name="Group 21" id="21"/>
          <p:cNvGrpSpPr/>
          <p:nvPr/>
        </p:nvGrpSpPr>
        <p:grpSpPr>
          <a:xfrm rot="0">
            <a:off x="10705183" y="4308609"/>
            <a:ext cx="6638553" cy="4388480"/>
            <a:chOff x="0" y="0"/>
            <a:chExt cx="8851404" cy="5851307"/>
          </a:xfrm>
        </p:grpSpPr>
        <p:grpSp>
          <p:nvGrpSpPr>
            <p:cNvPr name="Group 22" id="22"/>
            <p:cNvGrpSpPr/>
            <p:nvPr/>
          </p:nvGrpSpPr>
          <p:grpSpPr>
            <a:xfrm rot="0">
              <a:off x="0" y="0"/>
              <a:ext cx="8851404" cy="5851307"/>
              <a:chOff x="0" y="0"/>
              <a:chExt cx="3142749" cy="2077545"/>
            </a:xfrm>
          </p:grpSpPr>
          <p:sp>
            <p:nvSpPr>
              <p:cNvPr name="Freeform 23" id="23"/>
              <p:cNvSpPr/>
              <p:nvPr/>
            </p:nvSpPr>
            <p:spPr>
              <a:xfrm flipH="false" flipV="false" rot="0">
                <a:off x="0" y="0"/>
                <a:ext cx="3142749" cy="2077545"/>
              </a:xfrm>
              <a:custGeom>
                <a:avLst/>
                <a:gdLst/>
                <a:ahLst/>
                <a:cxnLst/>
                <a:rect r="r" b="b" t="t" l="l"/>
                <a:pathLst>
                  <a:path h="2077545" w="3142749">
                    <a:moveTo>
                      <a:pt x="0" y="0"/>
                    </a:moveTo>
                    <a:lnTo>
                      <a:pt x="3142749" y="0"/>
                    </a:lnTo>
                    <a:lnTo>
                      <a:pt x="3142749" y="2077545"/>
                    </a:lnTo>
                    <a:lnTo>
                      <a:pt x="0" y="2077545"/>
                    </a:lnTo>
                    <a:close/>
                  </a:path>
                </a:pathLst>
              </a:custGeom>
              <a:solidFill>
                <a:srgbClr val="000000">
                  <a:alpha val="0"/>
                </a:srgbClr>
              </a:solidFill>
              <a:ln w="85725" cap="sq">
                <a:solidFill>
                  <a:srgbClr val="ACA18F"/>
                </a:solidFill>
                <a:prstDash val="solid"/>
                <a:miter/>
              </a:ln>
            </p:spPr>
          </p:sp>
          <p:sp>
            <p:nvSpPr>
              <p:cNvPr name="TextBox 24" id="24"/>
              <p:cNvSpPr txBox="true"/>
              <p:nvPr/>
            </p:nvSpPr>
            <p:spPr>
              <a:xfrm>
                <a:off x="0" y="-47625"/>
                <a:ext cx="3142749" cy="2125170"/>
              </a:xfrm>
              <a:prstGeom prst="rect">
                <a:avLst/>
              </a:prstGeom>
            </p:spPr>
            <p:txBody>
              <a:bodyPr anchor="ctr" rtlCol="false" tIns="48876" lIns="48876" bIns="48876" rIns="48876"/>
              <a:lstStyle/>
              <a:p>
                <a:pPr algn="ctr">
                  <a:lnSpc>
                    <a:spcPts val="1588"/>
                  </a:lnSpc>
                </a:pPr>
              </a:p>
            </p:txBody>
          </p:sp>
        </p:grpSp>
        <p:sp>
          <p:nvSpPr>
            <p:cNvPr name="TextBox 25" id="25"/>
            <p:cNvSpPr txBox="true"/>
            <p:nvPr/>
          </p:nvSpPr>
          <p:spPr>
            <a:xfrm rot="0">
              <a:off x="412527" y="415361"/>
              <a:ext cx="7993401" cy="4952997"/>
            </a:xfrm>
            <a:prstGeom prst="rect">
              <a:avLst/>
            </a:prstGeom>
          </p:spPr>
          <p:txBody>
            <a:bodyPr anchor="t" rtlCol="false" tIns="0" lIns="0" bIns="0" rIns="0">
              <a:spAutoFit/>
            </a:bodyPr>
            <a:lstStyle/>
            <a:p>
              <a:pPr algn="just">
                <a:lnSpc>
                  <a:spcPts val="4200"/>
                </a:lnSpc>
              </a:pPr>
              <a:r>
                <a:rPr lang="en-US" sz="3000">
                  <a:solidFill>
                    <a:srgbClr val="242424"/>
                  </a:solidFill>
                  <a:latin typeface="TT Chocolates"/>
                  <a:ea typeface="TT Chocolates"/>
                  <a:cs typeface="TT Chocolates"/>
                  <a:sym typeface="TT Chocolates"/>
                </a:rPr>
                <a:t>Epics focus on:</a:t>
              </a:r>
            </a:p>
            <a:p>
              <a:pPr algn="just" marL="647716" indent="-323858" lvl="1">
                <a:lnSpc>
                  <a:spcPts val="4200"/>
                </a:lnSpc>
                <a:buFont typeface="Arial"/>
                <a:buChar char="•"/>
              </a:pPr>
              <a:r>
                <a:rPr lang="en-US" sz="3000">
                  <a:solidFill>
                    <a:srgbClr val="242424"/>
                  </a:solidFill>
                  <a:latin typeface="TT Chocolates"/>
                  <a:ea typeface="TT Chocolates"/>
                  <a:cs typeface="TT Chocolates"/>
                  <a:sym typeface="TT Chocolates"/>
                </a:rPr>
                <a:t>Accessible interface</a:t>
              </a:r>
            </a:p>
            <a:p>
              <a:pPr algn="just" marL="647716" indent="-323858" lvl="1">
                <a:lnSpc>
                  <a:spcPts val="4200"/>
                </a:lnSpc>
                <a:buFont typeface="Arial"/>
                <a:buChar char="•"/>
              </a:pPr>
              <a:r>
                <a:rPr lang="en-US" sz="3000">
                  <a:solidFill>
                    <a:srgbClr val="242424"/>
                  </a:solidFill>
                  <a:latin typeface="TT Chocolates"/>
                  <a:ea typeface="TT Chocolates"/>
                  <a:cs typeface="TT Chocolates"/>
                  <a:sym typeface="TT Chocolates"/>
                </a:rPr>
                <a:t>Digital cards</a:t>
              </a:r>
            </a:p>
            <a:p>
              <a:pPr algn="just" marL="647716" indent="-323858" lvl="1">
                <a:lnSpc>
                  <a:spcPts val="4200"/>
                </a:lnSpc>
                <a:buFont typeface="Arial"/>
                <a:buChar char="•"/>
              </a:pPr>
              <a:r>
                <a:rPr lang="en-US" sz="3000">
                  <a:solidFill>
                    <a:srgbClr val="242424"/>
                  </a:solidFill>
                  <a:latin typeface="TT Chocolates"/>
                  <a:ea typeface="TT Chocolates"/>
                  <a:cs typeface="TT Chocolates"/>
                  <a:sym typeface="TT Chocolates"/>
                </a:rPr>
                <a:t>Assisted c</a:t>
              </a:r>
              <a:r>
                <a:rPr lang="en-US" sz="3000">
                  <a:solidFill>
                    <a:srgbClr val="242424"/>
                  </a:solidFill>
                  <a:latin typeface="TT Chocolates"/>
                  <a:ea typeface="TT Chocolates"/>
                  <a:cs typeface="TT Chocolates"/>
                  <a:sym typeface="TT Chocolates"/>
                </a:rPr>
                <a:t>ommunication</a:t>
              </a:r>
            </a:p>
            <a:p>
              <a:pPr algn="just" marL="647716" indent="-323858" lvl="1">
                <a:lnSpc>
                  <a:spcPts val="4200"/>
                </a:lnSpc>
                <a:buFont typeface="Arial"/>
                <a:buChar char="•"/>
              </a:pPr>
              <a:r>
                <a:rPr lang="en-US" sz="3000">
                  <a:solidFill>
                    <a:srgbClr val="242424"/>
                  </a:solidFill>
                  <a:latin typeface="TT Chocolates"/>
                  <a:ea typeface="TT Chocolates"/>
                  <a:cs typeface="TT Chocolates"/>
                  <a:sym typeface="TT Chocolates"/>
                </a:rPr>
                <a:t>Personalization</a:t>
              </a:r>
            </a:p>
            <a:p>
              <a:pPr algn="just">
                <a:lnSpc>
                  <a:spcPts val="4200"/>
                </a:lnSpc>
              </a:pPr>
              <a:r>
                <a:rPr lang="en-US" sz="3000">
                  <a:solidFill>
                    <a:srgbClr val="242424"/>
                  </a:solidFill>
                  <a:latin typeface="TT Chocolates"/>
                  <a:ea typeface="TT Chocolates"/>
                  <a:cs typeface="TT Chocolates"/>
                  <a:sym typeface="TT Chocolates"/>
                </a:rPr>
                <a:t>E</a:t>
              </a:r>
              <a:r>
                <a:rPr lang="en-US" sz="3000">
                  <a:solidFill>
                    <a:srgbClr val="242424"/>
                  </a:solidFill>
                  <a:latin typeface="TT Chocolates"/>
                  <a:ea typeface="TT Chocolates"/>
                  <a:cs typeface="TT Chocolates"/>
                  <a:sym typeface="TT Chocolates"/>
                </a:rPr>
                <a:t>ach epic is broken down into clear and measurable user stories.</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7F6"/>
        </a:solidFill>
      </p:bgPr>
    </p:bg>
    <p:spTree>
      <p:nvGrpSpPr>
        <p:cNvPr id="1" name=""/>
        <p:cNvGrpSpPr/>
        <p:nvPr/>
      </p:nvGrpSpPr>
      <p:grpSpPr>
        <a:xfrm>
          <a:off x="0" y="0"/>
          <a:ext cx="0" cy="0"/>
          <a:chOff x="0" y="0"/>
          <a:chExt cx="0" cy="0"/>
        </a:xfrm>
      </p:grpSpPr>
      <p:grpSp>
        <p:nvGrpSpPr>
          <p:cNvPr name="Group 2" id="2"/>
          <p:cNvGrpSpPr/>
          <p:nvPr/>
        </p:nvGrpSpPr>
        <p:grpSpPr>
          <a:xfrm rot="0">
            <a:off x="245989" y="1188950"/>
            <a:ext cx="2866248" cy="120678"/>
            <a:chOff x="0" y="0"/>
            <a:chExt cx="1462009" cy="61555"/>
          </a:xfrm>
        </p:grpSpPr>
        <p:sp>
          <p:nvSpPr>
            <p:cNvPr name="Freeform 3" id="3"/>
            <p:cNvSpPr/>
            <p:nvPr/>
          </p:nvSpPr>
          <p:spPr>
            <a:xfrm flipH="false" flipV="false" rot="0">
              <a:off x="0" y="0"/>
              <a:ext cx="1462009" cy="61555"/>
            </a:xfrm>
            <a:custGeom>
              <a:avLst/>
              <a:gdLst/>
              <a:ahLst/>
              <a:cxnLst/>
              <a:rect r="r" b="b" t="t" l="l"/>
              <a:pathLst>
                <a:path h="61555" w="1462009">
                  <a:moveTo>
                    <a:pt x="0" y="0"/>
                  </a:moveTo>
                  <a:lnTo>
                    <a:pt x="1462009" y="0"/>
                  </a:lnTo>
                  <a:lnTo>
                    <a:pt x="1462009" y="61555"/>
                  </a:lnTo>
                  <a:lnTo>
                    <a:pt x="0" y="61555"/>
                  </a:lnTo>
                  <a:close/>
                </a:path>
              </a:pathLst>
            </a:custGeom>
            <a:solidFill>
              <a:srgbClr val="ACA18F"/>
            </a:solidFill>
          </p:spPr>
        </p:sp>
        <p:sp>
          <p:nvSpPr>
            <p:cNvPr name="TextBox 4" id="4"/>
            <p:cNvSpPr txBox="true"/>
            <p:nvPr/>
          </p:nvSpPr>
          <p:spPr>
            <a:xfrm>
              <a:off x="0" y="-38100"/>
              <a:ext cx="1462009" cy="99655"/>
            </a:xfrm>
            <a:prstGeom prst="rect">
              <a:avLst/>
            </a:prstGeom>
          </p:spPr>
          <p:txBody>
            <a:bodyPr anchor="ctr" rtlCol="false" tIns="50800" lIns="50800" bIns="50800" rIns="50800"/>
            <a:lstStyle/>
            <a:p>
              <a:pPr algn="ctr">
                <a:lnSpc>
                  <a:spcPts val="2277"/>
                </a:lnSpc>
              </a:pPr>
            </a:p>
          </p:txBody>
        </p:sp>
      </p:grpSp>
      <p:grpSp>
        <p:nvGrpSpPr>
          <p:cNvPr name="Group 5" id="5"/>
          <p:cNvGrpSpPr/>
          <p:nvPr/>
        </p:nvGrpSpPr>
        <p:grpSpPr>
          <a:xfrm rot="0">
            <a:off x="9411384" y="1188950"/>
            <a:ext cx="2866248" cy="120678"/>
            <a:chOff x="0" y="0"/>
            <a:chExt cx="1462009" cy="61555"/>
          </a:xfrm>
        </p:grpSpPr>
        <p:sp>
          <p:nvSpPr>
            <p:cNvPr name="Freeform 6" id="6"/>
            <p:cNvSpPr/>
            <p:nvPr/>
          </p:nvSpPr>
          <p:spPr>
            <a:xfrm flipH="false" flipV="false" rot="0">
              <a:off x="0" y="0"/>
              <a:ext cx="1462009" cy="61555"/>
            </a:xfrm>
            <a:custGeom>
              <a:avLst/>
              <a:gdLst/>
              <a:ahLst/>
              <a:cxnLst/>
              <a:rect r="r" b="b" t="t" l="l"/>
              <a:pathLst>
                <a:path h="61555" w="1462009">
                  <a:moveTo>
                    <a:pt x="0" y="0"/>
                  </a:moveTo>
                  <a:lnTo>
                    <a:pt x="1462009" y="0"/>
                  </a:lnTo>
                  <a:lnTo>
                    <a:pt x="1462009" y="61555"/>
                  </a:lnTo>
                  <a:lnTo>
                    <a:pt x="0" y="61555"/>
                  </a:lnTo>
                  <a:close/>
                </a:path>
              </a:pathLst>
            </a:custGeom>
            <a:solidFill>
              <a:srgbClr val="ACA18F"/>
            </a:solidFill>
          </p:spPr>
        </p:sp>
        <p:sp>
          <p:nvSpPr>
            <p:cNvPr name="TextBox 7" id="7"/>
            <p:cNvSpPr txBox="true"/>
            <p:nvPr/>
          </p:nvSpPr>
          <p:spPr>
            <a:xfrm>
              <a:off x="0" y="-38100"/>
              <a:ext cx="1462009" cy="99655"/>
            </a:xfrm>
            <a:prstGeom prst="rect">
              <a:avLst/>
            </a:prstGeom>
          </p:spPr>
          <p:txBody>
            <a:bodyPr anchor="ctr" rtlCol="false" tIns="50800" lIns="50800" bIns="50800" rIns="50800"/>
            <a:lstStyle/>
            <a:p>
              <a:pPr algn="ctr">
                <a:lnSpc>
                  <a:spcPts val="2277"/>
                </a:lnSpc>
              </a:pPr>
            </a:p>
          </p:txBody>
        </p:sp>
      </p:grpSp>
      <p:sp>
        <p:nvSpPr>
          <p:cNvPr name="Freeform 8" id="8"/>
          <p:cNvSpPr/>
          <p:nvPr/>
        </p:nvSpPr>
        <p:spPr>
          <a:xfrm flipH="false" flipV="false" rot="7998935">
            <a:off x="16979822" y="-1839365"/>
            <a:ext cx="2093405" cy="4114800"/>
          </a:xfrm>
          <a:custGeom>
            <a:avLst/>
            <a:gdLst/>
            <a:ahLst/>
            <a:cxnLst/>
            <a:rect r="r" b="b" t="t" l="l"/>
            <a:pathLst>
              <a:path h="4114800" w="2093405">
                <a:moveTo>
                  <a:pt x="0" y="0"/>
                </a:moveTo>
                <a:lnTo>
                  <a:pt x="2093405" y="0"/>
                </a:lnTo>
                <a:lnTo>
                  <a:pt x="209340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Object 9" id="9"/>
          <p:cNvGraphicFramePr/>
          <p:nvPr/>
        </p:nvGraphicFramePr>
        <p:xfrm>
          <a:off x="9411384" y="187866"/>
          <a:ext cx="10560796" cy="2154205"/>
        </p:xfrm>
        <a:graphic>
          <a:graphicData uri="http://schemas.openxmlformats.org/presentationml/2006/ole">
            <p:oleObj imgW="12661900" imgH="42672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Freeform 10" id="10"/>
          <p:cNvSpPr/>
          <p:nvPr/>
        </p:nvSpPr>
        <p:spPr>
          <a:xfrm flipH="false" flipV="false" rot="-8100000">
            <a:off x="16979822" y="8063572"/>
            <a:ext cx="2093405" cy="4114800"/>
          </a:xfrm>
          <a:custGeom>
            <a:avLst/>
            <a:gdLst/>
            <a:ahLst/>
            <a:cxnLst/>
            <a:rect r="r" b="b" t="t" l="l"/>
            <a:pathLst>
              <a:path h="4114800" w="2093405">
                <a:moveTo>
                  <a:pt x="0" y="0"/>
                </a:moveTo>
                <a:lnTo>
                  <a:pt x="2093405" y="0"/>
                </a:lnTo>
                <a:lnTo>
                  <a:pt x="209340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Object 11" id="11"/>
          <p:cNvGraphicFramePr/>
          <p:nvPr/>
        </p:nvGraphicFramePr>
        <p:xfrm>
          <a:off x="525529" y="1625871"/>
          <a:ext cx="23888700" cy="2933700"/>
        </p:xfrm>
        <a:graphic>
          <a:graphicData uri="http://schemas.openxmlformats.org/presentationml/2006/ole">
            <p:oleObj imgW="28663900" imgH="77089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12" id="12"/>
          <p:cNvSpPr txBox="true"/>
          <p:nvPr/>
        </p:nvSpPr>
        <p:spPr>
          <a:xfrm rot="0">
            <a:off x="245989" y="37060"/>
            <a:ext cx="7988991" cy="1151890"/>
          </a:xfrm>
          <a:prstGeom prst="rect">
            <a:avLst/>
          </a:prstGeom>
        </p:spPr>
        <p:txBody>
          <a:bodyPr anchor="t" rtlCol="false" tIns="0" lIns="0" bIns="0" rIns="0">
            <a:spAutoFit/>
          </a:bodyPr>
          <a:lstStyle/>
          <a:p>
            <a:pPr algn="l">
              <a:lnSpc>
                <a:spcPts val="8959"/>
              </a:lnSpc>
            </a:pPr>
            <a:r>
              <a:rPr lang="en-US" sz="6399">
                <a:solidFill>
                  <a:srgbClr val="000000"/>
                </a:solidFill>
                <a:latin typeface="Poppins"/>
                <a:ea typeface="Poppins"/>
                <a:cs typeface="Poppins"/>
                <a:sym typeface="Poppins"/>
              </a:rPr>
              <a:t>PROJECT SCHEDULE</a:t>
            </a:r>
          </a:p>
        </p:txBody>
      </p:sp>
      <p:grpSp>
        <p:nvGrpSpPr>
          <p:cNvPr name="Group 13" id="13"/>
          <p:cNvGrpSpPr/>
          <p:nvPr/>
        </p:nvGrpSpPr>
        <p:grpSpPr>
          <a:xfrm rot="0">
            <a:off x="1408589" y="7284532"/>
            <a:ext cx="7632786" cy="1451578"/>
            <a:chOff x="0" y="0"/>
            <a:chExt cx="3613428" cy="687190"/>
          </a:xfrm>
        </p:grpSpPr>
        <p:sp>
          <p:nvSpPr>
            <p:cNvPr name="Freeform 14" id="14"/>
            <p:cNvSpPr/>
            <p:nvPr/>
          </p:nvSpPr>
          <p:spPr>
            <a:xfrm flipH="false" flipV="false" rot="0">
              <a:off x="0" y="0"/>
              <a:ext cx="3613428" cy="687190"/>
            </a:xfrm>
            <a:custGeom>
              <a:avLst/>
              <a:gdLst/>
              <a:ahLst/>
              <a:cxnLst/>
              <a:rect r="r" b="b" t="t" l="l"/>
              <a:pathLst>
                <a:path h="687190" w="3613428">
                  <a:moveTo>
                    <a:pt x="0" y="0"/>
                  </a:moveTo>
                  <a:lnTo>
                    <a:pt x="3613428" y="0"/>
                  </a:lnTo>
                  <a:lnTo>
                    <a:pt x="3613428" y="687190"/>
                  </a:lnTo>
                  <a:lnTo>
                    <a:pt x="0" y="687190"/>
                  </a:lnTo>
                  <a:close/>
                </a:path>
              </a:pathLst>
            </a:custGeom>
            <a:solidFill>
              <a:srgbClr val="000000">
                <a:alpha val="0"/>
              </a:srgbClr>
            </a:solidFill>
            <a:ln w="57150" cap="sq">
              <a:solidFill>
                <a:srgbClr val="ACA18F"/>
              </a:solidFill>
              <a:prstDash val="solid"/>
              <a:miter/>
            </a:ln>
          </p:spPr>
        </p:sp>
        <p:sp>
          <p:nvSpPr>
            <p:cNvPr name="TextBox 15" id="15"/>
            <p:cNvSpPr txBox="true"/>
            <p:nvPr/>
          </p:nvSpPr>
          <p:spPr>
            <a:xfrm>
              <a:off x="0" y="-47625"/>
              <a:ext cx="3613428" cy="734815"/>
            </a:xfrm>
            <a:prstGeom prst="rect">
              <a:avLst/>
            </a:prstGeom>
          </p:spPr>
          <p:txBody>
            <a:bodyPr anchor="ctr" rtlCol="false" tIns="48876" lIns="48876" bIns="48876" rIns="48876"/>
            <a:lstStyle/>
            <a:p>
              <a:pPr algn="ctr">
                <a:lnSpc>
                  <a:spcPts val="1588"/>
                </a:lnSpc>
              </a:pPr>
            </a:p>
          </p:txBody>
        </p:sp>
      </p:grpSp>
      <p:sp>
        <p:nvSpPr>
          <p:cNvPr name="TextBox 16" id="16"/>
          <p:cNvSpPr txBox="true"/>
          <p:nvPr/>
        </p:nvSpPr>
        <p:spPr>
          <a:xfrm rot="0">
            <a:off x="1480068" y="7308976"/>
            <a:ext cx="5601382" cy="1362210"/>
          </a:xfrm>
          <a:prstGeom prst="rect">
            <a:avLst/>
          </a:prstGeom>
        </p:spPr>
        <p:txBody>
          <a:bodyPr anchor="t" rtlCol="false" tIns="0" lIns="0" bIns="0" rIns="0">
            <a:spAutoFit/>
          </a:bodyPr>
          <a:lstStyle/>
          <a:p>
            <a:pPr algn="l" marL="0" indent="0" lvl="0">
              <a:lnSpc>
                <a:spcPts val="3667"/>
              </a:lnSpc>
            </a:pPr>
            <a:r>
              <a:rPr lang="en-US" b="true" sz="2619">
                <a:solidFill>
                  <a:srgbClr val="242424"/>
                </a:solidFill>
                <a:latin typeface="TT Chocolates Bold"/>
                <a:ea typeface="TT Chocolates Bold"/>
                <a:cs typeface="TT Chocolates Bold"/>
                <a:sym typeface="TT Chocolates Bold"/>
              </a:rPr>
              <a:t>Phase1 :   </a:t>
            </a:r>
            <a:r>
              <a:rPr lang="en-US" sz="2619">
                <a:solidFill>
                  <a:srgbClr val="242424"/>
                </a:solidFill>
                <a:latin typeface="TT Chocolates"/>
                <a:ea typeface="TT Chocolates"/>
                <a:cs typeface="TT Chocolates"/>
                <a:sym typeface="TT Chocolates"/>
              </a:rPr>
              <a:t>Defining the main idea</a:t>
            </a:r>
          </a:p>
          <a:p>
            <a:pPr algn="l" marL="0" indent="0" lvl="0">
              <a:lnSpc>
                <a:spcPts val="3667"/>
              </a:lnSpc>
            </a:pPr>
            <a:r>
              <a:rPr lang="en-US" sz="2619">
                <a:solidFill>
                  <a:srgbClr val="242424"/>
                </a:solidFill>
                <a:latin typeface="TT Chocolates"/>
                <a:ea typeface="TT Chocolates"/>
                <a:cs typeface="TT Chocolates"/>
                <a:sym typeface="TT Chocolates"/>
              </a:rPr>
              <a:t>                   Role assignment.</a:t>
            </a:r>
          </a:p>
          <a:p>
            <a:pPr algn="l" marL="0" indent="0" lvl="0">
              <a:lnSpc>
                <a:spcPts val="3667"/>
              </a:lnSpc>
            </a:pPr>
            <a:r>
              <a:rPr lang="en-US" sz="2619">
                <a:solidFill>
                  <a:srgbClr val="242424"/>
                </a:solidFill>
                <a:latin typeface="TT Chocolates"/>
                <a:ea typeface="TT Chocolates"/>
                <a:cs typeface="TT Chocolates"/>
                <a:sym typeface="TT Chocolates"/>
              </a:rPr>
              <a:t>                   Methodology selection.</a:t>
            </a:r>
          </a:p>
        </p:txBody>
      </p:sp>
      <p:grpSp>
        <p:nvGrpSpPr>
          <p:cNvPr name="Group 17" id="17"/>
          <p:cNvGrpSpPr/>
          <p:nvPr/>
        </p:nvGrpSpPr>
        <p:grpSpPr>
          <a:xfrm rot="0">
            <a:off x="2431477" y="7366126"/>
            <a:ext cx="382320" cy="334530"/>
            <a:chOff x="0" y="0"/>
            <a:chExt cx="812800" cy="711200"/>
          </a:xfrm>
        </p:grpSpPr>
        <p:sp>
          <p:nvSpPr>
            <p:cNvPr name="Freeform 18" id="18"/>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9" id="19"/>
            <p:cNvSpPr txBox="true"/>
            <p:nvPr/>
          </p:nvSpPr>
          <p:spPr>
            <a:xfrm>
              <a:off x="127000" y="292100"/>
              <a:ext cx="558800" cy="368300"/>
            </a:xfrm>
            <a:prstGeom prst="rect">
              <a:avLst/>
            </a:prstGeom>
          </p:spPr>
          <p:txBody>
            <a:bodyPr anchor="ctr" rtlCol="false" tIns="50800" lIns="50800" bIns="50800" rIns="50800"/>
            <a:lstStyle/>
            <a:p>
              <a:pPr algn="ctr">
                <a:lnSpc>
                  <a:spcPts val="2277"/>
                </a:lnSpc>
              </a:pPr>
            </a:p>
          </p:txBody>
        </p:sp>
      </p:grpSp>
      <p:grpSp>
        <p:nvGrpSpPr>
          <p:cNvPr name="Group 20" id="20"/>
          <p:cNvGrpSpPr/>
          <p:nvPr/>
        </p:nvGrpSpPr>
        <p:grpSpPr>
          <a:xfrm rot="0">
            <a:off x="2431477" y="7829493"/>
            <a:ext cx="382320" cy="334530"/>
            <a:chOff x="0" y="0"/>
            <a:chExt cx="812800" cy="711200"/>
          </a:xfrm>
        </p:grpSpPr>
        <p:sp>
          <p:nvSpPr>
            <p:cNvPr name="Freeform 21" id="21"/>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22" id="22"/>
            <p:cNvSpPr txBox="true"/>
            <p:nvPr/>
          </p:nvSpPr>
          <p:spPr>
            <a:xfrm>
              <a:off x="127000" y="292100"/>
              <a:ext cx="558800" cy="368300"/>
            </a:xfrm>
            <a:prstGeom prst="rect">
              <a:avLst/>
            </a:prstGeom>
          </p:spPr>
          <p:txBody>
            <a:bodyPr anchor="ctr" rtlCol="false" tIns="50800" lIns="50800" bIns="50800" rIns="50800"/>
            <a:lstStyle/>
            <a:p>
              <a:pPr algn="ctr">
                <a:lnSpc>
                  <a:spcPts val="2277"/>
                </a:lnSpc>
              </a:pPr>
            </a:p>
          </p:txBody>
        </p:sp>
      </p:grpSp>
      <p:grpSp>
        <p:nvGrpSpPr>
          <p:cNvPr name="Group 23" id="23"/>
          <p:cNvGrpSpPr/>
          <p:nvPr/>
        </p:nvGrpSpPr>
        <p:grpSpPr>
          <a:xfrm rot="0">
            <a:off x="2431477" y="8296078"/>
            <a:ext cx="382320" cy="334530"/>
            <a:chOff x="0" y="0"/>
            <a:chExt cx="812800" cy="711200"/>
          </a:xfrm>
        </p:grpSpPr>
        <p:sp>
          <p:nvSpPr>
            <p:cNvPr name="Freeform 24" id="24"/>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25" id="25"/>
            <p:cNvSpPr txBox="true"/>
            <p:nvPr/>
          </p:nvSpPr>
          <p:spPr>
            <a:xfrm>
              <a:off x="127000" y="292100"/>
              <a:ext cx="558800" cy="368300"/>
            </a:xfrm>
            <a:prstGeom prst="rect">
              <a:avLst/>
            </a:prstGeom>
          </p:spPr>
          <p:txBody>
            <a:bodyPr anchor="ctr" rtlCol="false" tIns="50800" lIns="50800" bIns="50800" rIns="50800"/>
            <a:lstStyle/>
            <a:p>
              <a:pPr algn="ctr">
                <a:lnSpc>
                  <a:spcPts val="2277"/>
                </a:lnSpc>
              </a:pPr>
            </a:p>
          </p:txBody>
        </p:sp>
      </p:grpSp>
      <p:grpSp>
        <p:nvGrpSpPr>
          <p:cNvPr name="Group 26" id="26"/>
          <p:cNvGrpSpPr/>
          <p:nvPr/>
        </p:nvGrpSpPr>
        <p:grpSpPr>
          <a:xfrm rot="0">
            <a:off x="1389539" y="8840885"/>
            <a:ext cx="8611324" cy="1208473"/>
            <a:chOff x="0" y="0"/>
            <a:chExt cx="11481766" cy="1611298"/>
          </a:xfrm>
        </p:grpSpPr>
        <p:sp>
          <p:nvSpPr>
            <p:cNvPr name="TextBox 27" id="27"/>
            <p:cNvSpPr txBox="true"/>
            <p:nvPr/>
          </p:nvSpPr>
          <p:spPr>
            <a:xfrm rot="0">
              <a:off x="120705" y="66675"/>
              <a:ext cx="11361061" cy="1226478"/>
            </a:xfrm>
            <a:prstGeom prst="rect">
              <a:avLst/>
            </a:prstGeom>
          </p:spPr>
          <p:txBody>
            <a:bodyPr anchor="t" rtlCol="false" tIns="0" lIns="0" bIns="0" rIns="0">
              <a:spAutoFit/>
            </a:bodyPr>
            <a:lstStyle/>
            <a:p>
              <a:pPr algn="l" marL="0" indent="0" lvl="0">
                <a:lnSpc>
                  <a:spcPts val="3767"/>
                </a:lnSpc>
              </a:pPr>
              <a:r>
                <a:rPr lang="en-US" b="true" sz="2691">
                  <a:solidFill>
                    <a:srgbClr val="242424"/>
                  </a:solidFill>
                  <a:latin typeface="TT Chocolates Bold"/>
                  <a:ea typeface="TT Chocolates Bold"/>
                  <a:cs typeface="TT Chocolates Bold"/>
                  <a:sym typeface="TT Chocolates Bold"/>
                </a:rPr>
                <a:t>Phase2 :   </a:t>
              </a:r>
              <a:r>
                <a:rPr lang="en-US" sz="2691">
                  <a:solidFill>
                    <a:srgbClr val="242424"/>
                  </a:solidFill>
                  <a:latin typeface="TT Chocolates"/>
                  <a:ea typeface="TT Chocolates"/>
                  <a:cs typeface="TT Chocolates"/>
                  <a:sym typeface="TT Chocolates"/>
                </a:rPr>
                <a:t> Base documentation</a:t>
              </a:r>
            </a:p>
            <a:p>
              <a:pPr algn="l" marL="0" indent="0" lvl="0">
                <a:lnSpc>
                  <a:spcPts val="3767"/>
                </a:lnSpc>
              </a:pPr>
              <a:r>
                <a:rPr lang="en-US" sz="2691">
                  <a:solidFill>
                    <a:srgbClr val="242424"/>
                  </a:solidFill>
                  <a:latin typeface="TT Chocolates"/>
                  <a:ea typeface="TT Chocolates"/>
                  <a:cs typeface="TT Chocolates"/>
                  <a:sym typeface="TT Chocolates"/>
                </a:rPr>
                <a:t>                    Project programming and construction</a:t>
              </a:r>
            </a:p>
          </p:txBody>
        </p:sp>
        <p:grpSp>
          <p:nvGrpSpPr>
            <p:cNvPr name="Group 28" id="28"/>
            <p:cNvGrpSpPr/>
            <p:nvPr/>
          </p:nvGrpSpPr>
          <p:grpSpPr>
            <a:xfrm rot="0">
              <a:off x="1575879" y="116242"/>
              <a:ext cx="509760" cy="446040"/>
              <a:chOff x="0" y="0"/>
              <a:chExt cx="812800" cy="711200"/>
            </a:xfrm>
          </p:grpSpPr>
          <p:sp>
            <p:nvSpPr>
              <p:cNvPr name="Freeform 29" id="2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30" id="30"/>
              <p:cNvSpPr txBox="true"/>
              <p:nvPr/>
            </p:nvSpPr>
            <p:spPr>
              <a:xfrm>
                <a:off x="127000" y="292100"/>
                <a:ext cx="558800" cy="368300"/>
              </a:xfrm>
              <a:prstGeom prst="rect">
                <a:avLst/>
              </a:prstGeom>
            </p:spPr>
            <p:txBody>
              <a:bodyPr anchor="ctr" rtlCol="false" tIns="50800" lIns="50800" bIns="50800" rIns="50800"/>
              <a:lstStyle/>
              <a:p>
                <a:pPr algn="ctr">
                  <a:lnSpc>
                    <a:spcPts val="2277"/>
                  </a:lnSpc>
                </a:pPr>
              </a:p>
            </p:txBody>
          </p:sp>
        </p:grpSp>
        <p:grpSp>
          <p:nvGrpSpPr>
            <p:cNvPr name="Group 31" id="31"/>
            <p:cNvGrpSpPr/>
            <p:nvPr/>
          </p:nvGrpSpPr>
          <p:grpSpPr>
            <a:xfrm rot="0">
              <a:off x="1575879" y="734064"/>
              <a:ext cx="509760" cy="446040"/>
              <a:chOff x="0" y="0"/>
              <a:chExt cx="812800" cy="711200"/>
            </a:xfrm>
          </p:grpSpPr>
          <p:sp>
            <p:nvSpPr>
              <p:cNvPr name="Freeform 32" id="3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33" id="33"/>
              <p:cNvSpPr txBox="true"/>
              <p:nvPr/>
            </p:nvSpPr>
            <p:spPr>
              <a:xfrm>
                <a:off x="127000" y="292100"/>
                <a:ext cx="558800" cy="368300"/>
              </a:xfrm>
              <a:prstGeom prst="rect">
                <a:avLst/>
              </a:prstGeom>
            </p:spPr>
            <p:txBody>
              <a:bodyPr anchor="ctr" rtlCol="false" tIns="50800" lIns="50800" bIns="50800" rIns="50800"/>
              <a:lstStyle/>
              <a:p>
                <a:pPr algn="ctr">
                  <a:lnSpc>
                    <a:spcPts val="2277"/>
                  </a:lnSpc>
                </a:pPr>
              </a:p>
            </p:txBody>
          </p:sp>
        </p:grpSp>
        <p:grpSp>
          <p:nvGrpSpPr>
            <p:cNvPr name="Group 34" id="34"/>
            <p:cNvGrpSpPr/>
            <p:nvPr/>
          </p:nvGrpSpPr>
          <p:grpSpPr>
            <a:xfrm rot="0">
              <a:off x="0" y="0"/>
              <a:ext cx="10450713" cy="1611298"/>
              <a:chOff x="0" y="0"/>
              <a:chExt cx="3710594" cy="572102"/>
            </a:xfrm>
          </p:grpSpPr>
          <p:sp>
            <p:nvSpPr>
              <p:cNvPr name="Freeform 35" id="35"/>
              <p:cNvSpPr/>
              <p:nvPr/>
            </p:nvSpPr>
            <p:spPr>
              <a:xfrm flipH="false" flipV="false" rot="0">
                <a:off x="0" y="0"/>
                <a:ext cx="3710594" cy="572102"/>
              </a:xfrm>
              <a:custGeom>
                <a:avLst/>
                <a:gdLst/>
                <a:ahLst/>
                <a:cxnLst/>
                <a:rect r="r" b="b" t="t" l="l"/>
                <a:pathLst>
                  <a:path h="572102" w="3710594">
                    <a:moveTo>
                      <a:pt x="0" y="0"/>
                    </a:moveTo>
                    <a:lnTo>
                      <a:pt x="3710594" y="0"/>
                    </a:lnTo>
                    <a:lnTo>
                      <a:pt x="3710594" y="572102"/>
                    </a:lnTo>
                    <a:lnTo>
                      <a:pt x="0" y="572102"/>
                    </a:lnTo>
                    <a:close/>
                  </a:path>
                </a:pathLst>
              </a:custGeom>
              <a:solidFill>
                <a:srgbClr val="000000">
                  <a:alpha val="0"/>
                </a:srgbClr>
              </a:solidFill>
              <a:ln w="57150" cap="sq">
                <a:solidFill>
                  <a:srgbClr val="ACA18F"/>
                </a:solidFill>
                <a:prstDash val="solid"/>
                <a:miter/>
              </a:ln>
            </p:spPr>
          </p:sp>
          <p:sp>
            <p:nvSpPr>
              <p:cNvPr name="TextBox 36" id="36"/>
              <p:cNvSpPr txBox="true"/>
              <p:nvPr/>
            </p:nvSpPr>
            <p:spPr>
              <a:xfrm>
                <a:off x="0" y="-47625"/>
                <a:ext cx="3710594" cy="619727"/>
              </a:xfrm>
              <a:prstGeom prst="rect">
                <a:avLst/>
              </a:prstGeom>
            </p:spPr>
            <p:txBody>
              <a:bodyPr anchor="ctr" rtlCol="false" tIns="48876" lIns="48876" bIns="48876" rIns="48876"/>
              <a:lstStyle/>
              <a:p>
                <a:pPr algn="ctr">
                  <a:lnSpc>
                    <a:spcPts val="1588"/>
                  </a:lnSpc>
                </a:pPr>
              </a:p>
            </p:txBody>
          </p:sp>
        </p:grpSp>
      </p:grpSp>
      <p:grpSp>
        <p:nvGrpSpPr>
          <p:cNvPr name="Group 37" id="37"/>
          <p:cNvGrpSpPr/>
          <p:nvPr/>
        </p:nvGrpSpPr>
        <p:grpSpPr>
          <a:xfrm rot="0">
            <a:off x="9246624" y="7279523"/>
            <a:ext cx="7632786" cy="1451578"/>
            <a:chOff x="0" y="0"/>
            <a:chExt cx="3613428" cy="687190"/>
          </a:xfrm>
        </p:grpSpPr>
        <p:sp>
          <p:nvSpPr>
            <p:cNvPr name="Freeform 38" id="38"/>
            <p:cNvSpPr/>
            <p:nvPr/>
          </p:nvSpPr>
          <p:spPr>
            <a:xfrm flipH="false" flipV="false" rot="0">
              <a:off x="0" y="0"/>
              <a:ext cx="3613428" cy="687190"/>
            </a:xfrm>
            <a:custGeom>
              <a:avLst/>
              <a:gdLst/>
              <a:ahLst/>
              <a:cxnLst/>
              <a:rect r="r" b="b" t="t" l="l"/>
              <a:pathLst>
                <a:path h="687190" w="3613428">
                  <a:moveTo>
                    <a:pt x="0" y="0"/>
                  </a:moveTo>
                  <a:lnTo>
                    <a:pt x="3613428" y="0"/>
                  </a:lnTo>
                  <a:lnTo>
                    <a:pt x="3613428" y="687190"/>
                  </a:lnTo>
                  <a:lnTo>
                    <a:pt x="0" y="687190"/>
                  </a:lnTo>
                  <a:close/>
                </a:path>
              </a:pathLst>
            </a:custGeom>
            <a:solidFill>
              <a:srgbClr val="000000">
                <a:alpha val="0"/>
              </a:srgbClr>
            </a:solidFill>
            <a:ln w="57150" cap="sq">
              <a:solidFill>
                <a:srgbClr val="ACA18F"/>
              </a:solidFill>
              <a:prstDash val="solid"/>
              <a:miter/>
            </a:ln>
          </p:spPr>
        </p:sp>
        <p:sp>
          <p:nvSpPr>
            <p:cNvPr name="TextBox 39" id="39"/>
            <p:cNvSpPr txBox="true"/>
            <p:nvPr/>
          </p:nvSpPr>
          <p:spPr>
            <a:xfrm>
              <a:off x="0" y="-47625"/>
              <a:ext cx="3613428" cy="734815"/>
            </a:xfrm>
            <a:prstGeom prst="rect">
              <a:avLst/>
            </a:prstGeom>
          </p:spPr>
          <p:txBody>
            <a:bodyPr anchor="ctr" rtlCol="false" tIns="48876" lIns="48876" bIns="48876" rIns="48876"/>
            <a:lstStyle/>
            <a:p>
              <a:pPr algn="ctr">
                <a:lnSpc>
                  <a:spcPts val="1588"/>
                </a:lnSpc>
              </a:pPr>
            </a:p>
          </p:txBody>
        </p:sp>
      </p:grpSp>
      <p:sp>
        <p:nvSpPr>
          <p:cNvPr name="TextBox 40" id="40"/>
          <p:cNvSpPr txBox="true"/>
          <p:nvPr/>
        </p:nvSpPr>
        <p:spPr>
          <a:xfrm rot="0">
            <a:off x="9435895" y="7308976"/>
            <a:ext cx="7443515" cy="1335522"/>
          </a:xfrm>
          <a:prstGeom prst="rect">
            <a:avLst/>
          </a:prstGeom>
        </p:spPr>
        <p:txBody>
          <a:bodyPr anchor="t" rtlCol="false" tIns="0" lIns="0" bIns="0" rIns="0">
            <a:spAutoFit/>
          </a:bodyPr>
          <a:lstStyle/>
          <a:p>
            <a:pPr algn="l" marL="0" indent="0" lvl="0">
              <a:lnSpc>
                <a:spcPts val="3563"/>
              </a:lnSpc>
            </a:pPr>
            <a:r>
              <a:rPr lang="en-US" b="true" sz="2545">
                <a:solidFill>
                  <a:srgbClr val="242424"/>
                </a:solidFill>
                <a:latin typeface="TT Chocolates Bold"/>
                <a:ea typeface="TT Chocolates Bold"/>
                <a:cs typeface="TT Chocolates Bold"/>
                <a:sym typeface="TT Chocolates Bold"/>
              </a:rPr>
              <a:t>Phase3:      </a:t>
            </a:r>
            <a:r>
              <a:rPr lang="en-US" sz="2545">
                <a:solidFill>
                  <a:srgbClr val="242424"/>
                </a:solidFill>
                <a:latin typeface="TT Chocolates"/>
                <a:ea typeface="TT Chocolates"/>
                <a:cs typeface="TT Chocolates"/>
                <a:sym typeface="TT Chocolates"/>
              </a:rPr>
              <a:t>Final meeting with clients</a:t>
            </a:r>
          </a:p>
          <a:p>
            <a:pPr algn="l" marL="0" indent="0" lvl="0">
              <a:lnSpc>
                <a:spcPts val="3563"/>
              </a:lnSpc>
            </a:pPr>
            <a:r>
              <a:rPr lang="en-US" sz="2545">
                <a:solidFill>
                  <a:srgbClr val="242424"/>
                </a:solidFill>
                <a:latin typeface="TT Chocolates"/>
                <a:ea typeface="TT Chocolates"/>
                <a:cs typeface="TT Chocolates"/>
                <a:sym typeface="TT Chocolates"/>
              </a:rPr>
              <a:t>                     Final adjustments and improvements.</a:t>
            </a:r>
          </a:p>
          <a:p>
            <a:pPr algn="l" marL="0" indent="0" lvl="0">
              <a:lnSpc>
                <a:spcPts val="3563"/>
              </a:lnSpc>
            </a:pPr>
            <a:r>
              <a:rPr lang="en-US" sz="2545">
                <a:solidFill>
                  <a:srgbClr val="242424"/>
                </a:solidFill>
                <a:latin typeface="TT Chocolates"/>
                <a:ea typeface="TT Chocolates"/>
                <a:cs typeface="TT Chocolates"/>
                <a:sym typeface="TT Chocolates"/>
              </a:rPr>
              <a:t>                     Final documentation delivery.</a:t>
            </a:r>
          </a:p>
        </p:txBody>
      </p:sp>
      <p:grpSp>
        <p:nvGrpSpPr>
          <p:cNvPr name="Group 41" id="41"/>
          <p:cNvGrpSpPr/>
          <p:nvPr/>
        </p:nvGrpSpPr>
        <p:grpSpPr>
          <a:xfrm rot="0">
            <a:off x="10454634" y="7366126"/>
            <a:ext cx="382320" cy="334530"/>
            <a:chOff x="0" y="0"/>
            <a:chExt cx="812800" cy="711200"/>
          </a:xfrm>
        </p:grpSpPr>
        <p:sp>
          <p:nvSpPr>
            <p:cNvPr name="Freeform 42" id="4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43" id="43"/>
            <p:cNvSpPr txBox="true"/>
            <p:nvPr/>
          </p:nvSpPr>
          <p:spPr>
            <a:xfrm>
              <a:off x="127000" y="292100"/>
              <a:ext cx="558800" cy="368300"/>
            </a:xfrm>
            <a:prstGeom prst="rect">
              <a:avLst/>
            </a:prstGeom>
          </p:spPr>
          <p:txBody>
            <a:bodyPr anchor="ctr" rtlCol="false" tIns="50800" lIns="50800" bIns="50800" rIns="50800"/>
            <a:lstStyle/>
            <a:p>
              <a:pPr algn="ctr">
                <a:lnSpc>
                  <a:spcPts val="2277"/>
                </a:lnSpc>
              </a:pPr>
            </a:p>
          </p:txBody>
        </p:sp>
      </p:grpSp>
      <p:grpSp>
        <p:nvGrpSpPr>
          <p:cNvPr name="Group 44" id="44"/>
          <p:cNvGrpSpPr/>
          <p:nvPr/>
        </p:nvGrpSpPr>
        <p:grpSpPr>
          <a:xfrm rot="0">
            <a:off x="10454634" y="7832711"/>
            <a:ext cx="382320" cy="334530"/>
            <a:chOff x="0" y="0"/>
            <a:chExt cx="812800" cy="711200"/>
          </a:xfrm>
        </p:grpSpPr>
        <p:sp>
          <p:nvSpPr>
            <p:cNvPr name="Freeform 45" id="4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46" id="46"/>
            <p:cNvSpPr txBox="true"/>
            <p:nvPr/>
          </p:nvSpPr>
          <p:spPr>
            <a:xfrm>
              <a:off x="127000" y="292100"/>
              <a:ext cx="558800" cy="368300"/>
            </a:xfrm>
            <a:prstGeom prst="rect">
              <a:avLst/>
            </a:prstGeom>
          </p:spPr>
          <p:txBody>
            <a:bodyPr anchor="ctr" rtlCol="false" tIns="50800" lIns="50800" bIns="50800" rIns="50800"/>
            <a:lstStyle/>
            <a:p>
              <a:pPr algn="ctr">
                <a:lnSpc>
                  <a:spcPts val="2277"/>
                </a:lnSpc>
              </a:pPr>
            </a:p>
          </p:txBody>
        </p:sp>
      </p:grpSp>
      <p:grpSp>
        <p:nvGrpSpPr>
          <p:cNvPr name="Group 47" id="47"/>
          <p:cNvGrpSpPr/>
          <p:nvPr/>
        </p:nvGrpSpPr>
        <p:grpSpPr>
          <a:xfrm rot="0">
            <a:off x="10454634" y="8299296"/>
            <a:ext cx="382320" cy="334530"/>
            <a:chOff x="0" y="0"/>
            <a:chExt cx="812800" cy="711200"/>
          </a:xfrm>
        </p:grpSpPr>
        <p:sp>
          <p:nvSpPr>
            <p:cNvPr name="Freeform 48" id="48"/>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49" id="49"/>
            <p:cNvSpPr txBox="true"/>
            <p:nvPr/>
          </p:nvSpPr>
          <p:spPr>
            <a:xfrm>
              <a:off x="127000" y="292100"/>
              <a:ext cx="558800" cy="368300"/>
            </a:xfrm>
            <a:prstGeom prst="rect">
              <a:avLst/>
            </a:prstGeom>
          </p:spPr>
          <p:txBody>
            <a:bodyPr anchor="ctr" rtlCol="false" tIns="50800" lIns="50800" bIns="50800" rIns="50800"/>
            <a:lstStyle/>
            <a:p>
              <a:pPr algn="ctr">
                <a:lnSpc>
                  <a:spcPts val="2277"/>
                </a:lnSpc>
              </a:pPr>
            </a:p>
          </p:txBody>
        </p:sp>
      </p:grpSp>
      <p:sp>
        <p:nvSpPr>
          <p:cNvPr name="TextBox 50" id="50"/>
          <p:cNvSpPr txBox="true"/>
          <p:nvPr/>
        </p:nvSpPr>
        <p:spPr>
          <a:xfrm rot="0">
            <a:off x="13567653" y="9347725"/>
            <a:ext cx="3311757" cy="375285"/>
          </a:xfrm>
          <a:prstGeom prst="rect">
            <a:avLst/>
          </a:prstGeom>
        </p:spPr>
        <p:txBody>
          <a:bodyPr anchor="t" rtlCol="false" tIns="0" lIns="0" bIns="0" rIns="0">
            <a:spAutoFit/>
          </a:bodyPr>
          <a:lstStyle/>
          <a:p>
            <a:pPr algn="r">
              <a:lnSpc>
                <a:spcPts val="2940"/>
              </a:lnSpc>
            </a:pPr>
            <a:r>
              <a:rPr lang="en-US" sz="2100" b="true">
                <a:solidFill>
                  <a:srgbClr val="000000"/>
                </a:solidFill>
                <a:latin typeface="Poppins Bold"/>
                <a:ea typeface="Poppins Bold"/>
                <a:cs typeface="Poppins Bold"/>
                <a:sym typeface="Poppins Bold"/>
              </a:rPr>
              <a:t>NeuroVoice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7F6"/>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6883493" y="-2057400"/>
            <a:ext cx="2093405" cy="4114800"/>
          </a:xfrm>
          <a:custGeom>
            <a:avLst/>
            <a:gdLst/>
            <a:ahLst/>
            <a:cxnLst/>
            <a:rect r="r" b="b" t="t" l="l"/>
            <a:pathLst>
              <a:path h="4114800" w="2093405">
                <a:moveTo>
                  <a:pt x="0" y="0"/>
                </a:moveTo>
                <a:lnTo>
                  <a:pt x="2093404" y="0"/>
                </a:lnTo>
                <a:lnTo>
                  <a:pt x="209340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10192" y="8229600"/>
            <a:ext cx="2093405" cy="4114800"/>
          </a:xfrm>
          <a:custGeom>
            <a:avLst/>
            <a:gdLst/>
            <a:ahLst/>
            <a:cxnLst/>
            <a:rect r="r" b="b" t="t" l="l"/>
            <a:pathLst>
              <a:path h="4114800" w="2093405">
                <a:moveTo>
                  <a:pt x="0" y="0"/>
                </a:moveTo>
                <a:lnTo>
                  <a:pt x="2093404" y="0"/>
                </a:lnTo>
                <a:lnTo>
                  <a:pt x="209340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695256" y="1120117"/>
            <a:ext cx="13229069" cy="7474424"/>
          </a:xfrm>
          <a:custGeom>
            <a:avLst/>
            <a:gdLst/>
            <a:ahLst/>
            <a:cxnLst/>
            <a:rect r="r" b="b" t="t" l="l"/>
            <a:pathLst>
              <a:path h="7474424" w="13229069">
                <a:moveTo>
                  <a:pt x="0" y="0"/>
                </a:moveTo>
                <a:lnTo>
                  <a:pt x="13229069" y="0"/>
                </a:lnTo>
                <a:lnTo>
                  <a:pt x="13229069" y="7474424"/>
                </a:lnTo>
                <a:lnTo>
                  <a:pt x="0" y="7474424"/>
                </a:lnTo>
                <a:lnTo>
                  <a:pt x="0" y="0"/>
                </a:lnTo>
                <a:close/>
              </a:path>
            </a:pathLst>
          </a:custGeom>
          <a:blipFill>
            <a:blip r:embed="rId4"/>
            <a:stretch>
              <a:fillRect l="0" t="0" r="0" b="0"/>
            </a:stretch>
          </a:blipFill>
        </p:spPr>
      </p:sp>
      <p:sp>
        <p:nvSpPr>
          <p:cNvPr name="Freeform 5" id="5"/>
          <p:cNvSpPr/>
          <p:nvPr/>
        </p:nvSpPr>
        <p:spPr>
          <a:xfrm flipH="false" flipV="false" rot="0">
            <a:off x="14565447" y="7329003"/>
            <a:ext cx="960903" cy="1064239"/>
          </a:xfrm>
          <a:custGeom>
            <a:avLst/>
            <a:gdLst/>
            <a:ahLst/>
            <a:cxnLst/>
            <a:rect r="r" b="b" t="t" l="l"/>
            <a:pathLst>
              <a:path h="1064239" w="960903">
                <a:moveTo>
                  <a:pt x="0" y="0"/>
                </a:moveTo>
                <a:lnTo>
                  <a:pt x="960904" y="0"/>
                </a:lnTo>
                <a:lnTo>
                  <a:pt x="960904" y="1064238"/>
                </a:lnTo>
                <a:lnTo>
                  <a:pt x="0" y="106423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030278" y="3012903"/>
            <a:ext cx="1452976" cy="1112187"/>
          </a:xfrm>
          <a:custGeom>
            <a:avLst/>
            <a:gdLst/>
            <a:ahLst/>
            <a:cxnLst/>
            <a:rect r="r" b="b" t="t" l="l"/>
            <a:pathLst>
              <a:path h="1112187" w="1452976">
                <a:moveTo>
                  <a:pt x="0" y="0"/>
                </a:moveTo>
                <a:lnTo>
                  <a:pt x="1452975" y="0"/>
                </a:lnTo>
                <a:lnTo>
                  <a:pt x="1452975" y="1112187"/>
                </a:lnTo>
                <a:lnTo>
                  <a:pt x="0" y="1112187"/>
                </a:lnTo>
                <a:lnTo>
                  <a:pt x="0" y="0"/>
                </a:lnTo>
                <a:close/>
              </a:path>
            </a:pathLst>
          </a:custGeom>
          <a:blipFill>
            <a:blip r:embed="rId7"/>
            <a:stretch>
              <a:fillRect l="0" t="0" r="0" b="0"/>
            </a:stretch>
          </a:blipFill>
        </p:spPr>
      </p:sp>
      <p:sp>
        <p:nvSpPr>
          <p:cNvPr name="Freeform 7" id="7"/>
          <p:cNvSpPr/>
          <p:nvPr/>
        </p:nvSpPr>
        <p:spPr>
          <a:xfrm flipH="false" flipV="false" rot="0">
            <a:off x="14165035" y="1575801"/>
            <a:ext cx="1227513" cy="1163615"/>
          </a:xfrm>
          <a:custGeom>
            <a:avLst/>
            <a:gdLst/>
            <a:ahLst/>
            <a:cxnLst/>
            <a:rect r="r" b="b" t="t" l="l"/>
            <a:pathLst>
              <a:path h="1163615" w="1227513">
                <a:moveTo>
                  <a:pt x="0" y="0"/>
                </a:moveTo>
                <a:lnTo>
                  <a:pt x="1227514" y="0"/>
                </a:lnTo>
                <a:lnTo>
                  <a:pt x="1227514" y="1163615"/>
                </a:lnTo>
                <a:lnTo>
                  <a:pt x="0" y="11636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336510" y="-123190"/>
            <a:ext cx="6088214" cy="1151890"/>
          </a:xfrm>
          <a:prstGeom prst="rect">
            <a:avLst/>
          </a:prstGeom>
        </p:spPr>
        <p:txBody>
          <a:bodyPr anchor="t" rtlCol="false" tIns="0" lIns="0" bIns="0" rIns="0">
            <a:spAutoFit/>
          </a:bodyPr>
          <a:lstStyle/>
          <a:p>
            <a:pPr algn="l">
              <a:lnSpc>
                <a:spcPts val="8959"/>
              </a:lnSpc>
            </a:pPr>
            <a:r>
              <a:rPr lang="en-US" sz="6399">
                <a:solidFill>
                  <a:srgbClr val="000000"/>
                </a:solidFill>
                <a:latin typeface="Poppins"/>
                <a:ea typeface="Poppins"/>
                <a:cs typeface="Poppins"/>
                <a:sym typeface="Poppins"/>
              </a:rPr>
              <a:t>ARCHITECTURE</a:t>
            </a:r>
          </a:p>
        </p:txBody>
      </p:sp>
      <p:sp>
        <p:nvSpPr>
          <p:cNvPr name="TextBox 9" id="9"/>
          <p:cNvSpPr txBox="true"/>
          <p:nvPr/>
        </p:nvSpPr>
        <p:spPr>
          <a:xfrm rot="0">
            <a:off x="3573681" y="8628808"/>
            <a:ext cx="11472217" cy="1363389"/>
          </a:xfrm>
          <a:prstGeom prst="rect">
            <a:avLst/>
          </a:prstGeom>
        </p:spPr>
        <p:txBody>
          <a:bodyPr anchor="t" rtlCol="false" tIns="0" lIns="0" bIns="0" rIns="0">
            <a:spAutoFit/>
          </a:bodyPr>
          <a:lstStyle/>
          <a:p>
            <a:pPr algn="just">
              <a:lnSpc>
                <a:spcPts val="3602"/>
              </a:lnSpc>
            </a:pPr>
            <a:r>
              <a:rPr lang="en-US" sz="2573">
                <a:solidFill>
                  <a:srgbClr val="242424"/>
                </a:solidFill>
                <a:latin typeface="TT Chocolates"/>
                <a:ea typeface="TT Chocolates"/>
                <a:cs typeface="TT Chocolates"/>
                <a:sym typeface="TT Chocolates"/>
              </a:rPr>
              <a:t>The architecture is based on two separate repositories.</a:t>
            </a:r>
          </a:p>
          <a:p>
            <a:pPr algn="just">
              <a:lnSpc>
                <a:spcPts val="3602"/>
              </a:lnSpc>
            </a:pPr>
            <a:r>
              <a:rPr lang="en-US" sz="2573">
                <a:solidFill>
                  <a:srgbClr val="242424"/>
                </a:solidFill>
                <a:latin typeface="TT Chocolates"/>
                <a:ea typeface="TT Chocolates"/>
                <a:cs typeface="TT Chocolates"/>
                <a:sym typeface="TT Chocolates"/>
              </a:rPr>
              <a:t> Both communicate through an API, which is responsible for sending and receiving data between the application and the database, which is managed by the backend.</a:t>
            </a:r>
          </a:p>
        </p:txBody>
      </p:sp>
      <p:sp>
        <p:nvSpPr>
          <p:cNvPr name="TextBox 10" id="10"/>
          <p:cNvSpPr txBox="true"/>
          <p:nvPr/>
        </p:nvSpPr>
        <p:spPr>
          <a:xfrm rot="0">
            <a:off x="14165035" y="9348130"/>
            <a:ext cx="3311757" cy="375285"/>
          </a:xfrm>
          <a:prstGeom prst="rect">
            <a:avLst/>
          </a:prstGeom>
        </p:spPr>
        <p:txBody>
          <a:bodyPr anchor="t" rtlCol="false" tIns="0" lIns="0" bIns="0" rIns="0">
            <a:spAutoFit/>
          </a:bodyPr>
          <a:lstStyle/>
          <a:p>
            <a:pPr algn="r">
              <a:lnSpc>
                <a:spcPts val="2940"/>
              </a:lnSpc>
            </a:pPr>
            <a:r>
              <a:rPr lang="en-US" sz="2100" b="true">
                <a:solidFill>
                  <a:srgbClr val="000000"/>
                </a:solidFill>
                <a:latin typeface="Poppins Bold"/>
                <a:ea typeface="Poppins Bold"/>
                <a:cs typeface="Poppins Bold"/>
                <a:sym typeface="Poppins Bold"/>
              </a:rPr>
              <a:t>NeuroVoice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7F6"/>
        </a:solidFill>
      </p:bgPr>
    </p:bg>
    <p:spTree>
      <p:nvGrpSpPr>
        <p:cNvPr id="1" name=""/>
        <p:cNvGrpSpPr/>
        <p:nvPr/>
      </p:nvGrpSpPr>
      <p:grpSpPr>
        <a:xfrm>
          <a:off x="0" y="0"/>
          <a:ext cx="0" cy="0"/>
          <a:chOff x="0" y="0"/>
          <a:chExt cx="0" cy="0"/>
        </a:xfrm>
      </p:grpSpPr>
      <p:grpSp>
        <p:nvGrpSpPr>
          <p:cNvPr name="Group 2" id="2"/>
          <p:cNvGrpSpPr/>
          <p:nvPr/>
        </p:nvGrpSpPr>
        <p:grpSpPr>
          <a:xfrm rot="0">
            <a:off x="875551" y="2734077"/>
            <a:ext cx="243225" cy="261738"/>
            <a:chOff x="0" y="0"/>
            <a:chExt cx="64059" cy="68935"/>
          </a:xfrm>
        </p:grpSpPr>
        <p:sp>
          <p:nvSpPr>
            <p:cNvPr name="Freeform 3" id="3"/>
            <p:cNvSpPr/>
            <p:nvPr/>
          </p:nvSpPr>
          <p:spPr>
            <a:xfrm flipH="false" flipV="false" rot="0">
              <a:off x="0" y="0"/>
              <a:ext cx="64059" cy="68935"/>
            </a:xfrm>
            <a:custGeom>
              <a:avLst/>
              <a:gdLst/>
              <a:ahLst/>
              <a:cxnLst/>
              <a:rect r="r" b="b" t="t" l="l"/>
              <a:pathLst>
                <a:path h="68935" w="64059">
                  <a:moveTo>
                    <a:pt x="0" y="0"/>
                  </a:moveTo>
                  <a:lnTo>
                    <a:pt x="64059" y="0"/>
                  </a:lnTo>
                  <a:lnTo>
                    <a:pt x="64059" y="68935"/>
                  </a:lnTo>
                  <a:lnTo>
                    <a:pt x="0" y="68935"/>
                  </a:lnTo>
                  <a:close/>
                </a:path>
              </a:pathLst>
            </a:custGeom>
            <a:solidFill>
              <a:srgbClr val="000000"/>
            </a:solidFill>
          </p:spPr>
        </p:sp>
        <p:sp>
          <p:nvSpPr>
            <p:cNvPr name="TextBox 4" id="4"/>
            <p:cNvSpPr txBox="true"/>
            <p:nvPr/>
          </p:nvSpPr>
          <p:spPr>
            <a:xfrm>
              <a:off x="0" y="-38100"/>
              <a:ext cx="64059" cy="107035"/>
            </a:xfrm>
            <a:prstGeom prst="rect">
              <a:avLst/>
            </a:prstGeom>
          </p:spPr>
          <p:txBody>
            <a:bodyPr anchor="ctr" rtlCol="false" tIns="50800" lIns="50800" bIns="50800" rIns="50800"/>
            <a:lstStyle/>
            <a:p>
              <a:pPr algn="ctr">
                <a:lnSpc>
                  <a:spcPts val="2277"/>
                </a:lnSpc>
              </a:pPr>
            </a:p>
          </p:txBody>
        </p:sp>
      </p:grpSp>
      <p:sp>
        <p:nvSpPr>
          <p:cNvPr name="Freeform 5" id="5"/>
          <p:cNvSpPr/>
          <p:nvPr/>
        </p:nvSpPr>
        <p:spPr>
          <a:xfrm flipH="false" flipV="false" rot="-5400000">
            <a:off x="17310591" y="-357638"/>
            <a:ext cx="492984" cy="2279693"/>
          </a:xfrm>
          <a:custGeom>
            <a:avLst/>
            <a:gdLst/>
            <a:ahLst/>
            <a:cxnLst/>
            <a:rect r="r" b="b" t="t" l="l"/>
            <a:pathLst>
              <a:path h="2279693" w="492984">
                <a:moveTo>
                  <a:pt x="0" y="0"/>
                </a:moveTo>
                <a:lnTo>
                  <a:pt x="492984" y="0"/>
                </a:lnTo>
                <a:lnTo>
                  <a:pt x="492984" y="2279693"/>
                </a:lnTo>
                <a:lnTo>
                  <a:pt x="0" y="22796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617589" y="2180734"/>
            <a:ext cx="8373262" cy="2857991"/>
            <a:chOff x="0" y="0"/>
            <a:chExt cx="3963976" cy="1352998"/>
          </a:xfrm>
        </p:grpSpPr>
        <p:sp>
          <p:nvSpPr>
            <p:cNvPr name="Freeform 7" id="7"/>
            <p:cNvSpPr/>
            <p:nvPr/>
          </p:nvSpPr>
          <p:spPr>
            <a:xfrm flipH="false" flipV="false" rot="0">
              <a:off x="0" y="0"/>
              <a:ext cx="3963975" cy="1352998"/>
            </a:xfrm>
            <a:custGeom>
              <a:avLst/>
              <a:gdLst/>
              <a:ahLst/>
              <a:cxnLst/>
              <a:rect r="r" b="b" t="t" l="l"/>
              <a:pathLst>
                <a:path h="1352998" w="3963975">
                  <a:moveTo>
                    <a:pt x="0" y="0"/>
                  </a:moveTo>
                  <a:lnTo>
                    <a:pt x="3963975" y="0"/>
                  </a:lnTo>
                  <a:lnTo>
                    <a:pt x="3963975" y="1352998"/>
                  </a:lnTo>
                  <a:lnTo>
                    <a:pt x="0" y="1352998"/>
                  </a:lnTo>
                  <a:close/>
                </a:path>
              </a:pathLst>
            </a:custGeom>
            <a:solidFill>
              <a:srgbClr val="000000">
                <a:alpha val="0"/>
              </a:srgbClr>
            </a:solidFill>
            <a:ln w="85725" cap="sq">
              <a:solidFill>
                <a:srgbClr val="ACA18F"/>
              </a:solidFill>
              <a:prstDash val="solid"/>
              <a:miter/>
            </a:ln>
          </p:spPr>
        </p:sp>
        <p:sp>
          <p:nvSpPr>
            <p:cNvPr name="TextBox 8" id="8"/>
            <p:cNvSpPr txBox="true"/>
            <p:nvPr/>
          </p:nvSpPr>
          <p:spPr>
            <a:xfrm>
              <a:off x="0" y="-47625"/>
              <a:ext cx="3963976" cy="1400623"/>
            </a:xfrm>
            <a:prstGeom prst="rect">
              <a:avLst/>
            </a:prstGeom>
          </p:spPr>
          <p:txBody>
            <a:bodyPr anchor="ctr" rtlCol="false" tIns="48876" lIns="48876" bIns="48876" rIns="48876"/>
            <a:lstStyle/>
            <a:p>
              <a:pPr algn="ctr">
                <a:lnSpc>
                  <a:spcPts val="1588"/>
                </a:lnSpc>
              </a:pPr>
            </a:p>
          </p:txBody>
        </p:sp>
      </p:grpSp>
      <p:grpSp>
        <p:nvGrpSpPr>
          <p:cNvPr name="Group 9" id="9"/>
          <p:cNvGrpSpPr/>
          <p:nvPr/>
        </p:nvGrpSpPr>
        <p:grpSpPr>
          <a:xfrm rot="0">
            <a:off x="617589" y="5248275"/>
            <a:ext cx="8373262" cy="2857991"/>
            <a:chOff x="0" y="0"/>
            <a:chExt cx="3963976" cy="1352998"/>
          </a:xfrm>
        </p:grpSpPr>
        <p:sp>
          <p:nvSpPr>
            <p:cNvPr name="Freeform 10" id="10"/>
            <p:cNvSpPr/>
            <p:nvPr/>
          </p:nvSpPr>
          <p:spPr>
            <a:xfrm flipH="false" flipV="false" rot="0">
              <a:off x="0" y="0"/>
              <a:ext cx="3963975" cy="1352998"/>
            </a:xfrm>
            <a:custGeom>
              <a:avLst/>
              <a:gdLst/>
              <a:ahLst/>
              <a:cxnLst/>
              <a:rect r="r" b="b" t="t" l="l"/>
              <a:pathLst>
                <a:path h="1352998" w="3963975">
                  <a:moveTo>
                    <a:pt x="0" y="0"/>
                  </a:moveTo>
                  <a:lnTo>
                    <a:pt x="3963975" y="0"/>
                  </a:lnTo>
                  <a:lnTo>
                    <a:pt x="3963975" y="1352998"/>
                  </a:lnTo>
                  <a:lnTo>
                    <a:pt x="0" y="1352998"/>
                  </a:lnTo>
                  <a:close/>
                </a:path>
              </a:pathLst>
            </a:custGeom>
            <a:solidFill>
              <a:srgbClr val="000000">
                <a:alpha val="0"/>
              </a:srgbClr>
            </a:solidFill>
            <a:ln w="85725" cap="sq">
              <a:solidFill>
                <a:srgbClr val="ACA18F"/>
              </a:solidFill>
              <a:prstDash val="solid"/>
              <a:miter/>
            </a:ln>
          </p:spPr>
        </p:sp>
        <p:sp>
          <p:nvSpPr>
            <p:cNvPr name="TextBox 11" id="11"/>
            <p:cNvSpPr txBox="true"/>
            <p:nvPr/>
          </p:nvSpPr>
          <p:spPr>
            <a:xfrm>
              <a:off x="0" y="-47625"/>
              <a:ext cx="3963976" cy="1400623"/>
            </a:xfrm>
            <a:prstGeom prst="rect">
              <a:avLst/>
            </a:prstGeom>
          </p:spPr>
          <p:txBody>
            <a:bodyPr anchor="ctr" rtlCol="false" tIns="48876" lIns="48876" bIns="48876" rIns="48876"/>
            <a:lstStyle/>
            <a:p>
              <a:pPr algn="ctr">
                <a:lnSpc>
                  <a:spcPts val="1588"/>
                </a:lnSpc>
              </a:pPr>
            </a:p>
          </p:txBody>
        </p:sp>
      </p:grpSp>
      <p:grpSp>
        <p:nvGrpSpPr>
          <p:cNvPr name="Group 12" id="12"/>
          <p:cNvGrpSpPr/>
          <p:nvPr/>
        </p:nvGrpSpPr>
        <p:grpSpPr>
          <a:xfrm rot="0">
            <a:off x="875551" y="5626041"/>
            <a:ext cx="243225" cy="261738"/>
            <a:chOff x="0" y="0"/>
            <a:chExt cx="64059" cy="68935"/>
          </a:xfrm>
        </p:grpSpPr>
        <p:sp>
          <p:nvSpPr>
            <p:cNvPr name="Freeform 13" id="13"/>
            <p:cNvSpPr/>
            <p:nvPr/>
          </p:nvSpPr>
          <p:spPr>
            <a:xfrm flipH="false" flipV="false" rot="0">
              <a:off x="0" y="0"/>
              <a:ext cx="64059" cy="68935"/>
            </a:xfrm>
            <a:custGeom>
              <a:avLst/>
              <a:gdLst/>
              <a:ahLst/>
              <a:cxnLst/>
              <a:rect r="r" b="b" t="t" l="l"/>
              <a:pathLst>
                <a:path h="68935" w="64059">
                  <a:moveTo>
                    <a:pt x="0" y="0"/>
                  </a:moveTo>
                  <a:lnTo>
                    <a:pt x="64059" y="0"/>
                  </a:lnTo>
                  <a:lnTo>
                    <a:pt x="64059" y="68935"/>
                  </a:lnTo>
                  <a:lnTo>
                    <a:pt x="0" y="68935"/>
                  </a:lnTo>
                  <a:close/>
                </a:path>
              </a:pathLst>
            </a:custGeom>
            <a:solidFill>
              <a:srgbClr val="000000"/>
            </a:solidFill>
          </p:spPr>
        </p:sp>
        <p:sp>
          <p:nvSpPr>
            <p:cNvPr name="TextBox 14" id="14"/>
            <p:cNvSpPr txBox="true"/>
            <p:nvPr/>
          </p:nvSpPr>
          <p:spPr>
            <a:xfrm>
              <a:off x="0" y="-38100"/>
              <a:ext cx="64059" cy="107035"/>
            </a:xfrm>
            <a:prstGeom prst="rect">
              <a:avLst/>
            </a:prstGeom>
          </p:spPr>
          <p:txBody>
            <a:bodyPr anchor="ctr" rtlCol="false" tIns="50800" lIns="50800" bIns="50800" rIns="50800"/>
            <a:lstStyle/>
            <a:p>
              <a:pPr algn="ctr">
                <a:lnSpc>
                  <a:spcPts val="2277"/>
                </a:lnSpc>
              </a:pPr>
            </a:p>
          </p:txBody>
        </p:sp>
      </p:grpSp>
      <p:sp>
        <p:nvSpPr>
          <p:cNvPr name="TextBox 15" id="15"/>
          <p:cNvSpPr txBox="true"/>
          <p:nvPr/>
        </p:nvSpPr>
        <p:spPr>
          <a:xfrm rot="0">
            <a:off x="1403648" y="6230302"/>
            <a:ext cx="7893502" cy="1118235"/>
          </a:xfrm>
          <a:prstGeom prst="rect">
            <a:avLst/>
          </a:prstGeom>
        </p:spPr>
        <p:txBody>
          <a:bodyPr anchor="t" rtlCol="false" tIns="0" lIns="0" bIns="0" rIns="0">
            <a:spAutoFit/>
          </a:bodyPr>
          <a:lstStyle/>
          <a:p>
            <a:pPr algn="l" marL="453390" indent="-226695" lvl="1">
              <a:lnSpc>
                <a:spcPts val="2940"/>
              </a:lnSpc>
              <a:buFont typeface="Arial"/>
              <a:buChar char="•"/>
            </a:pPr>
            <a:r>
              <a:rPr lang="en-US" b="true" sz="2100">
                <a:solidFill>
                  <a:srgbClr val="000000"/>
                </a:solidFill>
                <a:latin typeface="Poppins Bold"/>
                <a:ea typeface="Poppins Bold"/>
                <a:cs typeface="Poppins Bold"/>
                <a:sym typeface="Poppins Bold"/>
              </a:rPr>
              <a:t>Graphic Resources:</a:t>
            </a:r>
            <a:r>
              <a:rPr lang="en-US" sz="2100">
                <a:solidFill>
                  <a:srgbClr val="000000"/>
                </a:solidFill>
                <a:latin typeface="Poppins"/>
                <a:ea typeface="Poppins"/>
                <a:cs typeface="Poppins"/>
                <a:sym typeface="Poppins"/>
              </a:rPr>
              <a:t> Free-to-use icons and images</a:t>
            </a:r>
          </a:p>
          <a:p>
            <a:pPr algn="l" marL="453390" indent="-226695" lvl="1">
              <a:lnSpc>
                <a:spcPts val="2940"/>
              </a:lnSpc>
              <a:buFont typeface="Arial"/>
              <a:buChar char="•"/>
            </a:pPr>
            <a:r>
              <a:rPr lang="en-US" b="true" sz="2100">
                <a:solidFill>
                  <a:srgbClr val="000000"/>
                </a:solidFill>
                <a:latin typeface="Poppins Bold"/>
                <a:ea typeface="Poppins Bold"/>
                <a:cs typeface="Poppins Bold"/>
                <a:sym typeface="Poppins Bold"/>
              </a:rPr>
              <a:t>Target Devices</a:t>
            </a:r>
            <a:r>
              <a:rPr lang="en-US" sz="2100">
                <a:solidFill>
                  <a:srgbClr val="000000"/>
                </a:solidFill>
                <a:latin typeface="Poppins"/>
                <a:ea typeface="Poppins"/>
                <a:cs typeface="Poppins"/>
                <a:sym typeface="Poppins"/>
              </a:rPr>
              <a:t>: Android / iOS</a:t>
            </a:r>
          </a:p>
          <a:p>
            <a:pPr algn="l">
              <a:lnSpc>
                <a:spcPts val="2940"/>
              </a:lnSpc>
            </a:pPr>
          </a:p>
        </p:txBody>
      </p:sp>
      <p:sp>
        <p:nvSpPr>
          <p:cNvPr name="TextBox 16" id="16"/>
          <p:cNvSpPr txBox="true"/>
          <p:nvPr/>
        </p:nvSpPr>
        <p:spPr>
          <a:xfrm rot="0">
            <a:off x="1403648" y="5324475"/>
            <a:ext cx="3946751" cy="750570"/>
          </a:xfrm>
          <a:prstGeom prst="rect">
            <a:avLst/>
          </a:prstGeom>
        </p:spPr>
        <p:txBody>
          <a:bodyPr anchor="t" rtlCol="false" tIns="0" lIns="0" bIns="0" rIns="0">
            <a:spAutoFit/>
          </a:bodyPr>
          <a:lstStyle/>
          <a:p>
            <a:pPr algn="l">
              <a:lnSpc>
                <a:spcPts val="5880"/>
              </a:lnSpc>
            </a:pPr>
            <a:r>
              <a:rPr lang="en-US" sz="4200">
                <a:solidFill>
                  <a:srgbClr val="000000"/>
                </a:solidFill>
                <a:latin typeface="Poppins"/>
                <a:ea typeface="Poppins"/>
                <a:cs typeface="Poppins"/>
                <a:sym typeface="Poppins"/>
              </a:rPr>
              <a:t>TOOLS</a:t>
            </a:r>
          </a:p>
        </p:txBody>
      </p:sp>
      <p:grpSp>
        <p:nvGrpSpPr>
          <p:cNvPr name="Group 17" id="17"/>
          <p:cNvGrpSpPr/>
          <p:nvPr/>
        </p:nvGrpSpPr>
        <p:grpSpPr>
          <a:xfrm rot="0">
            <a:off x="9297149" y="2180734"/>
            <a:ext cx="8373262" cy="2857991"/>
            <a:chOff x="0" y="0"/>
            <a:chExt cx="3963976" cy="1352998"/>
          </a:xfrm>
        </p:grpSpPr>
        <p:sp>
          <p:nvSpPr>
            <p:cNvPr name="Freeform 18" id="18"/>
            <p:cNvSpPr/>
            <p:nvPr/>
          </p:nvSpPr>
          <p:spPr>
            <a:xfrm flipH="false" flipV="false" rot="0">
              <a:off x="0" y="0"/>
              <a:ext cx="3963975" cy="1352998"/>
            </a:xfrm>
            <a:custGeom>
              <a:avLst/>
              <a:gdLst/>
              <a:ahLst/>
              <a:cxnLst/>
              <a:rect r="r" b="b" t="t" l="l"/>
              <a:pathLst>
                <a:path h="1352998" w="3963975">
                  <a:moveTo>
                    <a:pt x="0" y="0"/>
                  </a:moveTo>
                  <a:lnTo>
                    <a:pt x="3963975" y="0"/>
                  </a:lnTo>
                  <a:lnTo>
                    <a:pt x="3963975" y="1352998"/>
                  </a:lnTo>
                  <a:lnTo>
                    <a:pt x="0" y="1352998"/>
                  </a:lnTo>
                  <a:close/>
                </a:path>
              </a:pathLst>
            </a:custGeom>
            <a:solidFill>
              <a:srgbClr val="000000">
                <a:alpha val="0"/>
              </a:srgbClr>
            </a:solidFill>
            <a:ln w="85725" cap="sq">
              <a:solidFill>
                <a:srgbClr val="ACA18F"/>
              </a:solidFill>
              <a:prstDash val="solid"/>
              <a:miter/>
            </a:ln>
          </p:spPr>
        </p:sp>
        <p:sp>
          <p:nvSpPr>
            <p:cNvPr name="TextBox 19" id="19"/>
            <p:cNvSpPr txBox="true"/>
            <p:nvPr/>
          </p:nvSpPr>
          <p:spPr>
            <a:xfrm>
              <a:off x="0" y="-47625"/>
              <a:ext cx="3963976" cy="1400623"/>
            </a:xfrm>
            <a:prstGeom prst="rect">
              <a:avLst/>
            </a:prstGeom>
          </p:spPr>
          <p:txBody>
            <a:bodyPr anchor="ctr" rtlCol="false" tIns="48876" lIns="48876" bIns="48876" rIns="48876"/>
            <a:lstStyle/>
            <a:p>
              <a:pPr algn="ctr">
                <a:lnSpc>
                  <a:spcPts val="1588"/>
                </a:lnSpc>
              </a:pPr>
            </a:p>
          </p:txBody>
        </p:sp>
      </p:grpSp>
      <p:grpSp>
        <p:nvGrpSpPr>
          <p:cNvPr name="Group 20" id="20"/>
          <p:cNvGrpSpPr/>
          <p:nvPr/>
        </p:nvGrpSpPr>
        <p:grpSpPr>
          <a:xfrm rot="0">
            <a:off x="9654833" y="2734077"/>
            <a:ext cx="243225" cy="261738"/>
            <a:chOff x="0" y="0"/>
            <a:chExt cx="64059" cy="68935"/>
          </a:xfrm>
        </p:grpSpPr>
        <p:sp>
          <p:nvSpPr>
            <p:cNvPr name="Freeform 21" id="21"/>
            <p:cNvSpPr/>
            <p:nvPr/>
          </p:nvSpPr>
          <p:spPr>
            <a:xfrm flipH="false" flipV="false" rot="0">
              <a:off x="0" y="0"/>
              <a:ext cx="64059" cy="68935"/>
            </a:xfrm>
            <a:custGeom>
              <a:avLst/>
              <a:gdLst/>
              <a:ahLst/>
              <a:cxnLst/>
              <a:rect r="r" b="b" t="t" l="l"/>
              <a:pathLst>
                <a:path h="68935" w="64059">
                  <a:moveTo>
                    <a:pt x="0" y="0"/>
                  </a:moveTo>
                  <a:lnTo>
                    <a:pt x="64059" y="0"/>
                  </a:lnTo>
                  <a:lnTo>
                    <a:pt x="64059" y="68935"/>
                  </a:lnTo>
                  <a:lnTo>
                    <a:pt x="0" y="68935"/>
                  </a:lnTo>
                  <a:close/>
                </a:path>
              </a:pathLst>
            </a:custGeom>
            <a:solidFill>
              <a:srgbClr val="000000"/>
            </a:solidFill>
          </p:spPr>
        </p:sp>
        <p:sp>
          <p:nvSpPr>
            <p:cNvPr name="TextBox 22" id="22"/>
            <p:cNvSpPr txBox="true"/>
            <p:nvPr/>
          </p:nvSpPr>
          <p:spPr>
            <a:xfrm>
              <a:off x="0" y="-38100"/>
              <a:ext cx="64059" cy="107035"/>
            </a:xfrm>
            <a:prstGeom prst="rect">
              <a:avLst/>
            </a:prstGeom>
          </p:spPr>
          <p:txBody>
            <a:bodyPr anchor="ctr" rtlCol="false" tIns="50800" lIns="50800" bIns="50800" rIns="50800"/>
            <a:lstStyle/>
            <a:p>
              <a:pPr algn="ctr">
                <a:lnSpc>
                  <a:spcPts val="2277"/>
                </a:lnSpc>
              </a:pPr>
            </a:p>
          </p:txBody>
        </p:sp>
      </p:grpSp>
      <p:sp>
        <p:nvSpPr>
          <p:cNvPr name="TextBox 23" id="23"/>
          <p:cNvSpPr txBox="true"/>
          <p:nvPr/>
        </p:nvSpPr>
        <p:spPr>
          <a:xfrm rot="0">
            <a:off x="10182930" y="3338339"/>
            <a:ext cx="5153938" cy="1489710"/>
          </a:xfrm>
          <a:prstGeom prst="rect">
            <a:avLst/>
          </a:prstGeom>
        </p:spPr>
        <p:txBody>
          <a:bodyPr anchor="t" rtlCol="false" tIns="0" lIns="0" bIns="0" rIns="0">
            <a:spAutoFit/>
          </a:bodyPr>
          <a:lstStyle/>
          <a:p>
            <a:pPr algn="l" marL="453390" indent="-226695" lvl="1">
              <a:lnSpc>
                <a:spcPts val="2940"/>
              </a:lnSpc>
              <a:buFont typeface="Arial"/>
              <a:buChar char="•"/>
            </a:pPr>
            <a:r>
              <a:rPr lang="en-US" b="true" sz="2100">
                <a:solidFill>
                  <a:srgbClr val="000000"/>
                </a:solidFill>
                <a:latin typeface="Poppins Bold"/>
                <a:ea typeface="Poppins Bold"/>
                <a:cs typeface="Poppins Bold"/>
                <a:sym typeface="Poppins Bold"/>
              </a:rPr>
              <a:t>Framework</a:t>
            </a:r>
            <a:r>
              <a:rPr lang="en-US" sz="2100">
                <a:solidFill>
                  <a:srgbClr val="000000"/>
                </a:solidFill>
                <a:latin typeface="Poppins"/>
                <a:ea typeface="Poppins"/>
                <a:cs typeface="Poppins"/>
                <a:sym typeface="Poppins"/>
              </a:rPr>
              <a:t>: Ionic</a:t>
            </a:r>
          </a:p>
          <a:p>
            <a:pPr algn="l" marL="453390" indent="-226695" lvl="1">
              <a:lnSpc>
                <a:spcPts val="2940"/>
              </a:lnSpc>
              <a:buFont typeface="Arial"/>
              <a:buChar char="•"/>
            </a:pPr>
            <a:r>
              <a:rPr lang="en-US" b="true" sz="2100">
                <a:solidFill>
                  <a:srgbClr val="000000"/>
                </a:solidFill>
                <a:latin typeface="Poppins Bold"/>
                <a:ea typeface="Poppins Bold"/>
                <a:cs typeface="Poppins Bold"/>
                <a:sym typeface="Poppins Bold"/>
              </a:rPr>
              <a:t>Lenguaje</a:t>
            </a:r>
            <a:r>
              <a:rPr lang="en-US" sz="2100">
                <a:solidFill>
                  <a:srgbClr val="000000"/>
                </a:solidFill>
                <a:latin typeface="Poppins"/>
                <a:ea typeface="Poppins"/>
                <a:cs typeface="Poppins"/>
                <a:sym typeface="Poppins"/>
              </a:rPr>
              <a:t>: TypeScript</a:t>
            </a:r>
          </a:p>
          <a:p>
            <a:pPr algn="l" marL="453390" indent="-226695" lvl="1">
              <a:lnSpc>
                <a:spcPts val="2940"/>
              </a:lnSpc>
              <a:buFont typeface="Arial"/>
              <a:buChar char="•"/>
            </a:pPr>
            <a:r>
              <a:rPr lang="en-US" b="true" sz="2100">
                <a:solidFill>
                  <a:srgbClr val="000000"/>
                </a:solidFill>
                <a:latin typeface="Poppins Bold"/>
                <a:ea typeface="Poppins Bold"/>
                <a:cs typeface="Poppins Bold"/>
                <a:sym typeface="Poppins Bold"/>
              </a:rPr>
              <a:t>Loc</a:t>
            </a:r>
            <a:r>
              <a:rPr lang="en-US" b="true" sz="2100">
                <a:solidFill>
                  <a:srgbClr val="000000"/>
                </a:solidFill>
                <a:latin typeface="Poppins Bold"/>
                <a:ea typeface="Poppins Bold"/>
                <a:cs typeface="Poppins Bold"/>
                <a:sym typeface="Poppins Bold"/>
              </a:rPr>
              <a:t>al Database:</a:t>
            </a:r>
            <a:r>
              <a:rPr lang="en-US" sz="2100">
                <a:solidFill>
                  <a:srgbClr val="000000"/>
                </a:solidFill>
                <a:latin typeface="Poppins"/>
                <a:ea typeface="Poppins"/>
                <a:cs typeface="Poppins"/>
                <a:sym typeface="Poppins"/>
              </a:rPr>
              <a:t> IndexedDB</a:t>
            </a:r>
          </a:p>
          <a:p>
            <a:pPr algn="l">
              <a:lnSpc>
                <a:spcPts val="2940"/>
              </a:lnSpc>
            </a:pPr>
          </a:p>
        </p:txBody>
      </p:sp>
      <p:sp>
        <p:nvSpPr>
          <p:cNvPr name="TextBox 24" id="24"/>
          <p:cNvSpPr txBox="true"/>
          <p:nvPr/>
        </p:nvSpPr>
        <p:spPr>
          <a:xfrm rot="0">
            <a:off x="10182930" y="2432511"/>
            <a:ext cx="3025859" cy="750570"/>
          </a:xfrm>
          <a:prstGeom prst="rect">
            <a:avLst/>
          </a:prstGeom>
        </p:spPr>
        <p:txBody>
          <a:bodyPr anchor="t" rtlCol="false" tIns="0" lIns="0" bIns="0" rIns="0">
            <a:spAutoFit/>
          </a:bodyPr>
          <a:lstStyle/>
          <a:p>
            <a:pPr algn="l">
              <a:lnSpc>
                <a:spcPts val="5880"/>
              </a:lnSpc>
            </a:pPr>
            <a:r>
              <a:rPr lang="en-US" sz="4200">
                <a:solidFill>
                  <a:srgbClr val="000000"/>
                </a:solidFill>
                <a:latin typeface="Poppins"/>
                <a:ea typeface="Poppins"/>
                <a:cs typeface="Poppins"/>
                <a:sym typeface="Poppins"/>
              </a:rPr>
              <a:t>FRONTEND</a:t>
            </a:r>
          </a:p>
        </p:txBody>
      </p:sp>
      <p:sp>
        <p:nvSpPr>
          <p:cNvPr name="Freeform 25" id="25"/>
          <p:cNvSpPr/>
          <p:nvPr/>
        </p:nvSpPr>
        <p:spPr>
          <a:xfrm flipH="false" flipV="false" rot="0">
            <a:off x="7122237" y="2409482"/>
            <a:ext cx="1528504" cy="1661417"/>
          </a:xfrm>
          <a:custGeom>
            <a:avLst/>
            <a:gdLst/>
            <a:ahLst/>
            <a:cxnLst/>
            <a:rect r="r" b="b" t="t" l="l"/>
            <a:pathLst>
              <a:path h="1661417" w="1528504">
                <a:moveTo>
                  <a:pt x="0" y="0"/>
                </a:moveTo>
                <a:lnTo>
                  <a:pt x="1528504" y="0"/>
                </a:lnTo>
                <a:lnTo>
                  <a:pt x="1528504" y="1661416"/>
                </a:lnTo>
                <a:lnTo>
                  <a:pt x="0" y="16614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0">
            <a:off x="15622618" y="2475087"/>
            <a:ext cx="1636682" cy="1636682"/>
          </a:xfrm>
          <a:custGeom>
            <a:avLst/>
            <a:gdLst/>
            <a:ahLst/>
            <a:cxnLst/>
            <a:rect r="r" b="b" t="t" l="l"/>
            <a:pathLst>
              <a:path h="1636682" w="1636682">
                <a:moveTo>
                  <a:pt x="0" y="0"/>
                </a:moveTo>
                <a:lnTo>
                  <a:pt x="1636682" y="0"/>
                </a:lnTo>
                <a:lnTo>
                  <a:pt x="1636682" y="1636682"/>
                </a:lnTo>
                <a:lnTo>
                  <a:pt x="0" y="16366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1709475" y="6029325"/>
            <a:ext cx="5960936" cy="2000885"/>
          </a:xfrm>
          <a:prstGeom prst="rect">
            <a:avLst/>
          </a:prstGeom>
        </p:spPr>
        <p:txBody>
          <a:bodyPr anchor="t" rtlCol="false" tIns="0" lIns="0" bIns="0" rIns="0">
            <a:spAutoFit/>
          </a:bodyPr>
          <a:lstStyle/>
          <a:p>
            <a:pPr algn="r">
              <a:lnSpc>
                <a:spcPts val="7840"/>
              </a:lnSpc>
            </a:pPr>
            <a:r>
              <a:rPr lang="en-US" sz="5600">
                <a:solidFill>
                  <a:srgbClr val="000000"/>
                </a:solidFill>
                <a:latin typeface="Poppins"/>
                <a:ea typeface="Poppins"/>
                <a:cs typeface="Poppins"/>
                <a:sym typeface="Poppins"/>
              </a:rPr>
              <a:t>TECHNOLOGIES USED</a:t>
            </a:r>
          </a:p>
        </p:txBody>
      </p:sp>
      <p:sp>
        <p:nvSpPr>
          <p:cNvPr name="TextBox 28" id="28"/>
          <p:cNvSpPr txBox="true"/>
          <p:nvPr/>
        </p:nvSpPr>
        <p:spPr>
          <a:xfrm rot="0">
            <a:off x="1403648" y="3338339"/>
            <a:ext cx="5432840" cy="1489710"/>
          </a:xfrm>
          <a:prstGeom prst="rect">
            <a:avLst/>
          </a:prstGeom>
        </p:spPr>
        <p:txBody>
          <a:bodyPr anchor="t" rtlCol="false" tIns="0" lIns="0" bIns="0" rIns="0">
            <a:spAutoFit/>
          </a:bodyPr>
          <a:lstStyle/>
          <a:p>
            <a:pPr algn="l" marL="453390" indent="-226695" lvl="1">
              <a:lnSpc>
                <a:spcPts val="2940"/>
              </a:lnSpc>
              <a:buFont typeface="Arial"/>
              <a:buChar char="•"/>
            </a:pPr>
            <a:r>
              <a:rPr lang="en-US" b="true" sz="2100">
                <a:solidFill>
                  <a:srgbClr val="000000"/>
                </a:solidFill>
                <a:latin typeface="Poppins Bold"/>
                <a:ea typeface="Poppins Bold"/>
                <a:cs typeface="Poppins Bold"/>
                <a:sym typeface="Poppins Bold"/>
              </a:rPr>
              <a:t>Framework</a:t>
            </a:r>
            <a:r>
              <a:rPr lang="en-US" sz="2100">
                <a:solidFill>
                  <a:srgbClr val="000000"/>
                </a:solidFill>
                <a:latin typeface="Poppins"/>
                <a:ea typeface="Poppins"/>
                <a:cs typeface="Poppins"/>
                <a:sym typeface="Poppins"/>
              </a:rPr>
              <a:t>: Flask</a:t>
            </a:r>
          </a:p>
          <a:p>
            <a:pPr algn="l" marL="453390" indent="-226695" lvl="1">
              <a:lnSpc>
                <a:spcPts val="2940"/>
              </a:lnSpc>
              <a:buFont typeface="Arial"/>
              <a:buChar char="•"/>
            </a:pPr>
            <a:r>
              <a:rPr lang="en-US" b="true" sz="2100">
                <a:solidFill>
                  <a:srgbClr val="000000"/>
                </a:solidFill>
                <a:latin typeface="Poppins Bold"/>
                <a:ea typeface="Poppins Bold"/>
                <a:cs typeface="Poppins Bold"/>
                <a:sym typeface="Poppins Bold"/>
              </a:rPr>
              <a:t>Lenguaje</a:t>
            </a:r>
            <a:r>
              <a:rPr lang="en-US" sz="2100">
                <a:solidFill>
                  <a:srgbClr val="000000"/>
                </a:solidFill>
                <a:latin typeface="Poppins"/>
                <a:ea typeface="Poppins"/>
                <a:cs typeface="Poppins"/>
                <a:sym typeface="Poppins"/>
              </a:rPr>
              <a:t>: Python</a:t>
            </a:r>
          </a:p>
          <a:p>
            <a:pPr algn="l" marL="453390" indent="-226695" lvl="1">
              <a:lnSpc>
                <a:spcPts val="2940"/>
              </a:lnSpc>
              <a:buFont typeface="Arial"/>
              <a:buChar char="•"/>
            </a:pPr>
            <a:r>
              <a:rPr lang="en-US" b="true" sz="2100">
                <a:solidFill>
                  <a:srgbClr val="000000"/>
                </a:solidFill>
                <a:latin typeface="Poppins Bold"/>
                <a:ea typeface="Poppins Bold"/>
                <a:cs typeface="Poppins Bold"/>
                <a:sym typeface="Poppins Bold"/>
              </a:rPr>
              <a:t>Database</a:t>
            </a:r>
            <a:r>
              <a:rPr lang="en-US" sz="2100">
                <a:solidFill>
                  <a:srgbClr val="000000"/>
                </a:solidFill>
                <a:latin typeface="Poppins"/>
                <a:ea typeface="Poppins"/>
                <a:cs typeface="Poppins"/>
                <a:sym typeface="Poppins"/>
              </a:rPr>
              <a:t>: SQLite</a:t>
            </a:r>
          </a:p>
          <a:p>
            <a:pPr algn="l">
              <a:lnSpc>
                <a:spcPts val="2940"/>
              </a:lnSpc>
            </a:pPr>
          </a:p>
        </p:txBody>
      </p:sp>
      <p:sp>
        <p:nvSpPr>
          <p:cNvPr name="TextBox 29" id="29"/>
          <p:cNvSpPr txBox="true"/>
          <p:nvPr/>
        </p:nvSpPr>
        <p:spPr>
          <a:xfrm rot="0">
            <a:off x="1403648" y="2432511"/>
            <a:ext cx="3025859" cy="750570"/>
          </a:xfrm>
          <a:prstGeom prst="rect">
            <a:avLst/>
          </a:prstGeom>
        </p:spPr>
        <p:txBody>
          <a:bodyPr anchor="t" rtlCol="false" tIns="0" lIns="0" bIns="0" rIns="0">
            <a:spAutoFit/>
          </a:bodyPr>
          <a:lstStyle/>
          <a:p>
            <a:pPr algn="l">
              <a:lnSpc>
                <a:spcPts val="5880"/>
              </a:lnSpc>
            </a:pPr>
            <a:r>
              <a:rPr lang="en-US" sz="4200">
                <a:solidFill>
                  <a:srgbClr val="000000"/>
                </a:solidFill>
                <a:latin typeface="Poppins"/>
                <a:ea typeface="Poppins"/>
                <a:cs typeface="Poppins"/>
                <a:sym typeface="Poppins"/>
              </a:rPr>
              <a:t>BACKEND</a:t>
            </a:r>
          </a:p>
        </p:txBody>
      </p:sp>
      <p:sp>
        <p:nvSpPr>
          <p:cNvPr name="TextBox 30" id="30"/>
          <p:cNvSpPr txBox="true"/>
          <p:nvPr/>
        </p:nvSpPr>
        <p:spPr>
          <a:xfrm rot="0">
            <a:off x="808310" y="9614247"/>
            <a:ext cx="3311757" cy="375285"/>
          </a:xfrm>
          <a:prstGeom prst="rect">
            <a:avLst/>
          </a:prstGeom>
        </p:spPr>
        <p:txBody>
          <a:bodyPr anchor="t" rtlCol="false" tIns="0" lIns="0" bIns="0" rIns="0">
            <a:spAutoFit/>
          </a:bodyPr>
          <a:lstStyle/>
          <a:p>
            <a:pPr algn="just">
              <a:lnSpc>
                <a:spcPts val="2940"/>
              </a:lnSpc>
            </a:pPr>
            <a:r>
              <a:rPr lang="en-US" sz="2100" b="true">
                <a:solidFill>
                  <a:srgbClr val="000000"/>
                </a:solidFill>
                <a:latin typeface="Poppins Bold"/>
                <a:ea typeface="Poppins Bold"/>
                <a:cs typeface="Poppins Bold"/>
                <a:sym typeface="Poppins Bold"/>
              </a:rPr>
              <a:t>NeuroVoice</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7F7F6"/>
        </a:solidFill>
      </p:bgPr>
    </p:bg>
    <p:spTree>
      <p:nvGrpSpPr>
        <p:cNvPr id="1" name=""/>
        <p:cNvGrpSpPr/>
        <p:nvPr/>
      </p:nvGrpSpPr>
      <p:grpSpPr>
        <a:xfrm>
          <a:off x="0" y="0"/>
          <a:ext cx="0" cy="0"/>
          <a:chOff x="0" y="0"/>
          <a:chExt cx="0" cy="0"/>
        </a:xfrm>
      </p:grpSpPr>
      <p:grpSp>
        <p:nvGrpSpPr>
          <p:cNvPr name="Group 2" id="2"/>
          <p:cNvGrpSpPr/>
          <p:nvPr/>
        </p:nvGrpSpPr>
        <p:grpSpPr>
          <a:xfrm rot="0">
            <a:off x="3675949" y="5760538"/>
            <a:ext cx="10667520" cy="47625"/>
            <a:chOff x="0" y="0"/>
            <a:chExt cx="2809553" cy="12543"/>
          </a:xfrm>
        </p:grpSpPr>
        <p:sp>
          <p:nvSpPr>
            <p:cNvPr name="Freeform 3" id="3"/>
            <p:cNvSpPr/>
            <p:nvPr/>
          </p:nvSpPr>
          <p:spPr>
            <a:xfrm flipH="false" flipV="false" rot="0">
              <a:off x="0" y="0"/>
              <a:ext cx="2809553" cy="12543"/>
            </a:xfrm>
            <a:custGeom>
              <a:avLst/>
              <a:gdLst/>
              <a:ahLst/>
              <a:cxnLst/>
              <a:rect r="r" b="b" t="t" l="l"/>
              <a:pathLst>
                <a:path h="12543" w="2809553">
                  <a:moveTo>
                    <a:pt x="0" y="0"/>
                  </a:moveTo>
                  <a:lnTo>
                    <a:pt x="2809553" y="0"/>
                  </a:lnTo>
                  <a:lnTo>
                    <a:pt x="2809553" y="12543"/>
                  </a:lnTo>
                  <a:lnTo>
                    <a:pt x="0" y="12543"/>
                  </a:lnTo>
                  <a:close/>
                </a:path>
              </a:pathLst>
            </a:custGeom>
            <a:solidFill>
              <a:srgbClr val="ACA18F"/>
            </a:solidFill>
          </p:spPr>
        </p:sp>
        <p:sp>
          <p:nvSpPr>
            <p:cNvPr name="TextBox 4" id="4"/>
            <p:cNvSpPr txBox="true"/>
            <p:nvPr/>
          </p:nvSpPr>
          <p:spPr>
            <a:xfrm>
              <a:off x="0" y="-38100"/>
              <a:ext cx="2809553" cy="50643"/>
            </a:xfrm>
            <a:prstGeom prst="rect">
              <a:avLst/>
            </a:prstGeom>
          </p:spPr>
          <p:txBody>
            <a:bodyPr anchor="ctr" rtlCol="false" tIns="50800" lIns="50800" bIns="50800" rIns="50800"/>
            <a:lstStyle/>
            <a:p>
              <a:pPr algn="ctr">
                <a:lnSpc>
                  <a:spcPts val="2277"/>
                </a:lnSpc>
              </a:pPr>
            </a:p>
          </p:txBody>
        </p:sp>
      </p:grpSp>
      <p:sp>
        <p:nvSpPr>
          <p:cNvPr name="TextBox 5" id="5"/>
          <p:cNvSpPr txBox="true"/>
          <p:nvPr/>
        </p:nvSpPr>
        <p:spPr>
          <a:xfrm rot="0">
            <a:off x="3015769" y="4557395"/>
            <a:ext cx="12256462" cy="1010285"/>
          </a:xfrm>
          <a:prstGeom prst="rect">
            <a:avLst/>
          </a:prstGeom>
        </p:spPr>
        <p:txBody>
          <a:bodyPr anchor="t" rtlCol="false" tIns="0" lIns="0" bIns="0" rIns="0">
            <a:spAutoFit/>
          </a:bodyPr>
          <a:lstStyle/>
          <a:p>
            <a:pPr algn="ctr">
              <a:lnSpc>
                <a:spcPts val="7840"/>
              </a:lnSpc>
            </a:pPr>
            <a:r>
              <a:rPr lang="en-US" sz="5600">
                <a:solidFill>
                  <a:srgbClr val="000000"/>
                </a:solidFill>
                <a:latin typeface="Poppins"/>
                <a:ea typeface="Poppins"/>
                <a:cs typeface="Poppins"/>
                <a:sym typeface="Poppins"/>
              </a:rPr>
              <a:t>APPLICATION DEMONSTRATION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7F6"/>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0" y="0"/>
            <a:ext cx="18288000" cy="10287000"/>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7F7F6"/>
        </a:solidFill>
      </p:bgPr>
    </p:bg>
    <p:spTree>
      <p:nvGrpSpPr>
        <p:cNvPr id="1" name=""/>
        <p:cNvGrpSpPr/>
        <p:nvPr/>
      </p:nvGrpSpPr>
      <p:grpSpPr>
        <a:xfrm>
          <a:off x="0" y="0"/>
          <a:ext cx="0" cy="0"/>
          <a:chOff x="0" y="0"/>
          <a:chExt cx="0" cy="0"/>
        </a:xfrm>
      </p:grpSpPr>
      <p:grpSp>
        <p:nvGrpSpPr>
          <p:cNvPr name="Group 2" id="2"/>
          <p:cNvGrpSpPr/>
          <p:nvPr/>
        </p:nvGrpSpPr>
        <p:grpSpPr>
          <a:xfrm rot="0">
            <a:off x="-2508049" y="9258300"/>
            <a:ext cx="5899432" cy="2206858"/>
            <a:chOff x="0" y="0"/>
            <a:chExt cx="1553760" cy="581230"/>
          </a:xfrm>
        </p:grpSpPr>
        <p:sp>
          <p:nvSpPr>
            <p:cNvPr name="Freeform 3" id="3"/>
            <p:cNvSpPr/>
            <p:nvPr/>
          </p:nvSpPr>
          <p:spPr>
            <a:xfrm flipH="false" flipV="false" rot="0">
              <a:off x="0" y="0"/>
              <a:ext cx="1553760" cy="581230"/>
            </a:xfrm>
            <a:custGeom>
              <a:avLst/>
              <a:gdLst/>
              <a:ahLst/>
              <a:cxnLst/>
              <a:rect r="r" b="b" t="t" l="l"/>
              <a:pathLst>
                <a:path h="581230" w="1553760">
                  <a:moveTo>
                    <a:pt x="0" y="0"/>
                  </a:moveTo>
                  <a:lnTo>
                    <a:pt x="1553760" y="0"/>
                  </a:lnTo>
                  <a:lnTo>
                    <a:pt x="1553760" y="581230"/>
                  </a:lnTo>
                  <a:lnTo>
                    <a:pt x="0" y="581230"/>
                  </a:lnTo>
                  <a:close/>
                </a:path>
              </a:pathLst>
            </a:custGeom>
            <a:solidFill>
              <a:srgbClr val="ACA18F"/>
            </a:solidFill>
          </p:spPr>
        </p:sp>
        <p:sp>
          <p:nvSpPr>
            <p:cNvPr name="TextBox 4" id="4"/>
            <p:cNvSpPr txBox="true"/>
            <p:nvPr/>
          </p:nvSpPr>
          <p:spPr>
            <a:xfrm>
              <a:off x="0" y="-38100"/>
              <a:ext cx="1553760" cy="619330"/>
            </a:xfrm>
            <a:prstGeom prst="rect">
              <a:avLst/>
            </a:prstGeom>
          </p:spPr>
          <p:txBody>
            <a:bodyPr anchor="ctr" rtlCol="false" tIns="50800" lIns="50800" bIns="50800" rIns="50800"/>
            <a:lstStyle/>
            <a:p>
              <a:pPr algn="ctr">
                <a:lnSpc>
                  <a:spcPts val="2277"/>
                </a:lnSpc>
              </a:pPr>
            </a:p>
          </p:txBody>
        </p:sp>
      </p:grpSp>
      <p:sp>
        <p:nvSpPr>
          <p:cNvPr name="Freeform 5" id="5"/>
          <p:cNvSpPr/>
          <p:nvPr/>
        </p:nvSpPr>
        <p:spPr>
          <a:xfrm flipH="false" flipV="false" rot="-5400000">
            <a:off x="15976071" y="-1864147"/>
            <a:ext cx="1028700" cy="4756994"/>
          </a:xfrm>
          <a:custGeom>
            <a:avLst/>
            <a:gdLst/>
            <a:ahLst/>
            <a:cxnLst/>
            <a:rect r="r" b="b" t="t" l="l"/>
            <a:pathLst>
              <a:path h="4756994" w="1028700">
                <a:moveTo>
                  <a:pt x="0" y="0"/>
                </a:moveTo>
                <a:lnTo>
                  <a:pt x="1028700" y="0"/>
                </a:lnTo>
                <a:lnTo>
                  <a:pt x="1028700" y="4756994"/>
                </a:lnTo>
                <a:lnTo>
                  <a:pt x="0" y="47569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69001" y="2945585"/>
            <a:ext cx="5769049" cy="6152851"/>
            <a:chOff x="0" y="0"/>
            <a:chExt cx="3037749" cy="3239843"/>
          </a:xfrm>
        </p:grpSpPr>
        <p:sp>
          <p:nvSpPr>
            <p:cNvPr name="Freeform 7" id="7"/>
            <p:cNvSpPr/>
            <p:nvPr/>
          </p:nvSpPr>
          <p:spPr>
            <a:xfrm flipH="false" flipV="false" rot="0">
              <a:off x="0" y="0"/>
              <a:ext cx="3037749" cy="3239844"/>
            </a:xfrm>
            <a:custGeom>
              <a:avLst/>
              <a:gdLst/>
              <a:ahLst/>
              <a:cxnLst/>
              <a:rect r="r" b="b" t="t" l="l"/>
              <a:pathLst>
                <a:path h="3239844" w="3037749">
                  <a:moveTo>
                    <a:pt x="0" y="0"/>
                  </a:moveTo>
                  <a:lnTo>
                    <a:pt x="3037749" y="0"/>
                  </a:lnTo>
                  <a:lnTo>
                    <a:pt x="3037749" y="3239844"/>
                  </a:lnTo>
                  <a:lnTo>
                    <a:pt x="0" y="3239844"/>
                  </a:lnTo>
                  <a:close/>
                </a:path>
              </a:pathLst>
            </a:custGeom>
            <a:solidFill>
              <a:srgbClr val="000000">
                <a:alpha val="0"/>
              </a:srgbClr>
            </a:solidFill>
            <a:ln w="85725" cap="sq">
              <a:solidFill>
                <a:srgbClr val="ACA18F"/>
              </a:solidFill>
              <a:prstDash val="solid"/>
              <a:miter/>
            </a:ln>
          </p:spPr>
        </p:sp>
        <p:sp>
          <p:nvSpPr>
            <p:cNvPr name="TextBox 8" id="8"/>
            <p:cNvSpPr txBox="true"/>
            <p:nvPr/>
          </p:nvSpPr>
          <p:spPr>
            <a:xfrm>
              <a:off x="0" y="-47625"/>
              <a:ext cx="3037749" cy="3287468"/>
            </a:xfrm>
            <a:prstGeom prst="rect">
              <a:avLst/>
            </a:prstGeom>
          </p:spPr>
          <p:txBody>
            <a:bodyPr anchor="ctr" rtlCol="false" tIns="43942" lIns="43942" bIns="43942" rIns="43942"/>
            <a:lstStyle/>
            <a:p>
              <a:pPr algn="ctr">
                <a:lnSpc>
                  <a:spcPts val="1588"/>
                </a:lnSpc>
              </a:pPr>
            </a:p>
          </p:txBody>
        </p:sp>
      </p:grpSp>
      <p:grpSp>
        <p:nvGrpSpPr>
          <p:cNvPr name="Group 9" id="9"/>
          <p:cNvGrpSpPr/>
          <p:nvPr/>
        </p:nvGrpSpPr>
        <p:grpSpPr>
          <a:xfrm rot="0">
            <a:off x="6261801" y="2945585"/>
            <a:ext cx="5769049" cy="6152851"/>
            <a:chOff x="0" y="0"/>
            <a:chExt cx="3037749" cy="3239843"/>
          </a:xfrm>
        </p:grpSpPr>
        <p:sp>
          <p:nvSpPr>
            <p:cNvPr name="Freeform 10" id="10"/>
            <p:cNvSpPr/>
            <p:nvPr/>
          </p:nvSpPr>
          <p:spPr>
            <a:xfrm flipH="false" flipV="false" rot="0">
              <a:off x="0" y="0"/>
              <a:ext cx="3037749" cy="3239844"/>
            </a:xfrm>
            <a:custGeom>
              <a:avLst/>
              <a:gdLst/>
              <a:ahLst/>
              <a:cxnLst/>
              <a:rect r="r" b="b" t="t" l="l"/>
              <a:pathLst>
                <a:path h="3239844" w="3037749">
                  <a:moveTo>
                    <a:pt x="0" y="0"/>
                  </a:moveTo>
                  <a:lnTo>
                    <a:pt x="3037749" y="0"/>
                  </a:lnTo>
                  <a:lnTo>
                    <a:pt x="3037749" y="3239844"/>
                  </a:lnTo>
                  <a:lnTo>
                    <a:pt x="0" y="3239844"/>
                  </a:lnTo>
                  <a:close/>
                </a:path>
              </a:pathLst>
            </a:custGeom>
            <a:solidFill>
              <a:srgbClr val="000000">
                <a:alpha val="0"/>
              </a:srgbClr>
            </a:solidFill>
            <a:ln w="85725" cap="sq">
              <a:solidFill>
                <a:srgbClr val="ACA18F"/>
              </a:solidFill>
              <a:prstDash val="solid"/>
              <a:miter/>
            </a:ln>
          </p:spPr>
        </p:sp>
        <p:sp>
          <p:nvSpPr>
            <p:cNvPr name="TextBox 11" id="11"/>
            <p:cNvSpPr txBox="true"/>
            <p:nvPr/>
          </p:nvSpPr>
          <p:spPr>
            <a:xfrm>
              <a:off x="0" y="-47625"/>
              <a:ext cx="3037749" cy="3287468"/>
            </a:xfrm>
            <a:prstGeom prst="rect">
              <a:avLst/>
            </a:prstGeom>
          </p:spPr>
          <p:txBody>
            <a:bodyPr anchor="ctr" rtlCol="false" tIns="43942" lIns="43942" bIns="43942" rIns="43942"/>
            <a:lstStyle/>
            <a:p>
              <a:pPr algn="ctr">
                <a:lnSpc>
                  <a:spcPts val="1588"/>
                </a:lnSpc>
              </a:pPr>
            </a:p>
          </p:txBody>
        </p:sp>
      </p:grpSp>
      <p:grpSp>
        <p:nvGrpSpPr>
          <p:cNvPr name="Group 12" id="12"/>
          <p:cNvGrpSpPr/>
          <p:nvPr/>
        </p:nvGrpSpPr>
        <p:grpSpPr>
          <a:xfrm rot="0">
            <a:off x="12449950" y="2945585"/>
            <a:ext cx="5769049" cy="6152851"/>
            <a:chOff x="0" y="0"/>
            <a:chExt cx="3037749" cy="3239843"/>
          </a:xfrm>
        </p:grpSpPr>
        <p:sp>
          <p:nvSpPr>
            <p:cNvPr name="Freeform 13" id="13"/>
            <p:cNvSpPr/>
            <p:nvPr/>
          </p:nvSpPr>
          <p:spPr>
            <a:xfrm flipH="false" flipV="false" rot="0">
              <a:off x="0" y="0"/>
              <a:ext cx="3037749" cy="3239844"/>
            </a:xfrm>
            <a:custGeom>
              <a:avLst/>
              <a:gdLst/>
              <a:ahLst/>
              <a:cxnLst/>
              <a:rect r="r" b="b" t="t" l="l"/>
              <a:pathLst>
                <a:path h="3239844" w="3037749">
                  <a:moveTo>
                    <a:pt x="0" y="0"/>
                  </a:moveTo>
                  <a:lnTo>
                    <a:pt x="3037749" y="0"/>
                  </a:lnTo>
                  <a:lnTo>
                    <a:pt x="3037749" y="3239844"/>
                  </a:lnTo>
                  <a:lnTo>
                    <a:pt x="0" y="3239844"/>
                  </a:lnTo>
                  <a:close/>
                </a:path>
              </a:pathLst>
            </a:custGeom>
            <a:solidFill>
              <a:srgbClr val="000000">
                <a:alpha val="0"/>
              </a:srgbClr>
            </a:solidFill>
            <a:ln w="85725" cap="sq">
              <a:solidFill>
                <a:srgbClr val="ACA18F"/>
              </a:solidFill>
              <a:prstDash val="solid"/>
              <a:miter/>
            </a:ln>
          </p:spPr>
        </p:sp>
        <p:sp>
          <p:nvSpPr>
            <p:cNvPr name="TextBox 14" id="14"/>
            <p:cNvSpPr txBox="true"/>
            <p:nvPr/>
          </p:nvSpPr>
          <p:spPr>
            <a:xfrm>
              <a:off x="0" y="-47625"/>
              <a:ext cx="3037749" cy="3287468"/>
            </a:xfrm>
            <a:prstGeom prst="rect">
              <a:avLst/>
            </a:prstGeom>
          </p:spPr>
          <p:txBody>
            <a:bodyPr anchor="ctr" rtlCol="false" tIns="43942" lIns="43942" bIns="43942" rIns="43942"/>
            <a:lstStyle/>
            <a:p>
              <a:pPr algn="ctr">
                <a:lnSpc>
                  <a:spcPts val="1588"/>
                </a:lnSpc>
              </a:pPr>
            </a:p>
          </p:txBody>
        </p:sp>
      </p:grpSp>
      <p:sp>
        <p:nvSpPr>
          <p:cNvPr name="Freeform 15" id="15"/>
          <p:cNvSpPr/>
          <p:nvPr/>
        </p:nvSpPr>
        <p:spPr>
          <a:xfrm flipH="false" flipV="false" rot="0">
            <a:off x="2127638" y="7001921"/>
            <a:ext cx="1651776" cy="1717348"/>
          </a:xfrm>
          <a:custGeom>
            <a:avLst/>
            <a:gdLst/>
            <a:ahLst/>
            <a:cxnLst/>
            <a:rect r="r" b="b" t="t" l="l"/>
            <a:pathLst>
              <a:path h="1717348" w="1651776">
                <a:moveTo>
                  <a:pt x="0" y="0"/>
                </a:moveTo>
                <a:lnTo>
                  <a:pt x="1651776" y="0"/>
                </a:lnTo>
                <a:lnTo>
                  <a:pt x="1651776" y="1717348"/>
                </a:lnTo>
                <a:lnTo>
                  <a:pt x="0" y="17173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7972837" y="6485643"/>
            <a:ext cx="2346976" cy="2346976"/>
          </a:xfrm>
          <a:custGeom>
            <a:avLst/>
            <a:gdLst/>
            <a:ahLst/>
            <a:cxnLst/>
            <a:rect r="r" b="b" t="t" l="l"/>
            <a:pathLst>
              <a:path h="2346976" w="2346976">
                <a:moveTo>
                  <a:pt x="0" y="0"/>
                </a:moveTo>
                <a:lnTo>
                  <a:pt x="2346976" y="0"/>
                </a:lnTo>
                <a:lnTo>
                  <a:pt x="2346976" y="2346976"/>
                </a:lnTo>
                <a:lnTo>
                  <a:pt x="0" y="23469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4333511" y="6819336"/>
            <a:ext cx="2001925" cy="1969167"/>
          </a:xfrm>
          <a:custGeom>
            <a:avLst/>
            <a:gdLst/>
            <a:ahLst/>
            <a:cxnLst/>
            <a:rect r="r" b="b" t="t" l="l"/>
            <a:pathLst>
              <a:path h="1969167" w="2001925">
                <a:moveTo>
                  <a:pt x="0" y="0"/>
                </a:moveTo>
                <a:lnTo>
                  <a:pt x="2001926" y="0"/>
                </a:lnTo>
                <a:lnTo>
                  <a:pt x="2001926" y="1969167"/>
                </a:lnTo>
                <a:lnTo>
                  <a:pt x="0" y="19691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441667" y="194029"/>
            <a:ext cx="12027040" cy="1010285"/>
          </a:xfrm>
          <a:prstGeom prst="rect">
            <a:avLst/>
          </a:prstGeom>
        </p:spPr>
        <p:txBody>
          <a:bodyPr anchor="t" rtlCol="false" tIns="0" lIns="0" bIns="0" rIns="0">
            <a:spAutoFit/>
          </a:bodyPr>
          <a:lstStyle/>
          <a:p>
            <a:pPr algn="l">
              <a:lnSpc>
                <a:spcPts val="7840"/>
              </a:lnSpc>
            </a:pPr>
            <a:r>
              <a:rPr lang="en-US" sz="5600">
                <a:solidFill>
                  <a:srgbClr val="000000"/>
                </a:solidFill>
                <a:latin typeface="Poppins"/>
                <a:ea typeface="Poppins"/>
                <a:cs typeface="Poppins"/>
                <a:sym typeface="Poppins"/>
              </a:rPr>
              <a:t>DEVELOPMENT OBSTACLES</a:t>
            </a:r>
          </a:p>
        </p:txBody>
      </p:sp>
      <p:sp>
        <p:nvSpPr>
          <p:cNvPr name="TextBox 19" id="19"/>
          <p:cNvSpPr txBox="true"/>
          <p:nvPr/>
        </p:nvSpPr>
        <p:spPr>
          <a:xfrm rot="0">
            <a:off x="602404" y="1494130"/>
            <a:ext cx="11847546" cy="843915"/>
          </a:xfrm>
          <a:prstGeom prst="rect">
            <a:avLst/>
          </a:prstGeom>
        </p:spPr>
        <p:txBody>
          <a:bodyPr anchor="t" rtlCol="false" tIns="0" lIns="0" bIns="0" rIns="0">
            <a:spAutoFit/>
          </a:bodyPr>
          <a:lstStyle/>
          <a:p>
            <a:pPr algn="just">
              <a:lnSpc>
                <a:spcPts val="3359"/>
              </a:lnSpc>
            </a:pPr>
            <a:r>
              <a:rPr lang="en-US" sz="2400">
                <a:solidFill>
                  <a:srgbClr val="000000"/>
                </a:solidFill>
                <a:latin typeface="Poppins"/>
                <a:ea typeface="Poppins"/>
                <a:cs typeface="Poppins"/>
                <a:sym typeface="Poppins"/>
              </a:rPr>
              <a:t>During the development of the project, we faced several challenges that affected its progress:</a:t>
            </a:r>
          </a:p>
        </p:txBody>
      </p:sp>
      <p:sp>
        <p:nvSpPr>
          <p:cNvPr name="TextBox 20" id="20"/>
          <p:cNvSpPr txBox="true"/>
          <p:nvPr/>
        </p:nvSpPr>
        <p:spPr>
          <a:xfrm rot="0">
            <a:off x="441667" y="9536378"/>
            <a:ext cx="3311757" cy="375285"/>
          </a:xfrm>
          <a:prstGeom prst="rect">
            <a:avLst/>
          </a:prstGeom>
        </p:spPr>
        <p:txBody>
          <a:bodyPr anchor="t" rtlCol="false" tIns="0" lIns="0" bIns="0" rIns="0">
            <a:spAutoFit/>
          </a:bodyPr>
          <a:lstStyle/>
          <a:p>
            <a:pPr algn="just">
              <a:lnSpc>
                <a:spcPts val="2940"/>
              </a:lnSpc>
            </a:pPr>
            <a:r>
              <a:rPr lang="en-US" sz="2100" b="true">
                <a:solidFill>
                  <a:srgbClr val="000000"/>
                </a:solidFill>
                <a:latin typeface="Poppins Bold"/>
                <a:ea typeface="Poppins Bold"/>
                <a:cs typeface="Poppins Bold"/>
                <a:sym typeface="Poppins Bold"/>
              </a:rPr>
              <a:t>NeuroVoice</a:t>
            </a:r>
          </a:p>
        </p:txBody>
      </p:sp>
      <p:sp>
        <p:nvSpPr>
          <p:cNvPr name="TextBox 21" id="21"/>
          <p:cNvSpPr txBox="true"/>
          <p:nvPr/>
        </p:nvSpPr>
        <p:spPr>
          <a:xfrm rot="0">
            <a:off x="6455187" y="3224306"/>
            <a:ext cx="5378039" cy="2101215"/>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000000"/>
                </a:solidFill>
                <a:latin typeface="Poppins"/>
                <a:ea typeface="Poppins"/>
                <a:cs typeface="Poppins"/>
                <a:sym typeface="Poppins"/>
              </a:rPr>
              <a:t>Team coordination and sprint planning.</a:t>
            </a:r>
          </a:p>
          <a:p>
            <a:pPr algn="just" marL="518160" indent="-259080" lvl="1">
              <a:lnSpc>
                <a:spcPts val="3359"/>
              </a:lnSpc>
              <a:buFont typeface="Arial"/>
              <a:buChar char="•"/>
            </a:pPr>
            <a:r>
              <a:rPr lang="en-US" sz="2400">
                <a:solidFill>
                  <a:srgbClr val="000000"/>
                </a:solidFill>
                <a:latin typeface="Poppins"/>
                <a:ea typeface="Poppins"/>
                <a:cs typeface="Poppins"/>
                <a:sym typeface="Poppins"/>
              </a:rPr>
              <a:t>Frequent changes in requirements.</a:t>
            </a:r>
          </a:p>
          <a:p>
            <a:pPr algn="just" marL="518160" indent="-259080" lvl="1">
              <a:lnSpc>
                <a:spcPts val="3359"/>
              </a:lnSpc>
              <a:buFont typeface="Arial"/>
              <a:buChar char="•"/>
            </a:pPr>
            <a:r>
              <a:rPr lang="en-US" sz="2400">
                <a:solidFill>
                  <a:srgbClr val="000000"/>
                </a:solidFill>
                <a:latin typeface="Poppins"/>
                <a:ea typeface="Poppins"/>
                <a:cs typeface="Poppins"/>
                <a:sym typeface="Poppins"/>
              </a:rPr>
              <a:t>Difficulty prioritizing tasks.</a:t>
            </a:r>
          </a:p>
        </p:txBody>
      </p:sp>
      <p:sp>
        <p:nvSpPr>
          <p:cNvPr name="TextBox 22" id="22"/>
          <p:cNvSpPr txBox="true"/>
          <p:nvPr/>
        </p:nvSpPr>
        <p:spPr>
          <a:xfrm rot="0">
            <a:off x="12649975" y="3224306"/>
            <a:ext cx="5378039" cy="2520315"/>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000000"/>
                </a:solidFill>
                <a:latin typeface="Poppins"/>
                <a:ea typeface="Poppins"/>
                <a:cs typeface="Poppins"/>
                <a:sym typeface="Poppins"/>
              </a:rPr>
              <a:t>Time constraints.</a:t>
            </a:r>
          </a:p>
          <a:p>
            <a:pPr algn="just" marL="518160" indent="-259080" lvl="1">
              <a:lnSpc>
                <a:spcPts val="3359"/>
              </a:lnSpc>
              <a:buFont typeface="Arial"/>
              <a:buChar char="•"/>
            </a:pPr>
            <a:r>
              <a:rPr lang="en-US" sz="2400">
                <a:solidFill>
                  <a:srgbClr val="000000"/>
                </a:solidFill>
                <a:latin typeface="Poppins"/>
                <a:ea typeface="Poppins"/>
                <a:cs typeface="Poppins"/>
                <a:sym typeface="Poppins"/>
              </a:rPr>
              <a:t>Difficulties in decision-making at critical moments.</a:t>
            </a:r>
          </a:p>
          <a:p>
            <a:pPr algn="just" marL="518160" indent="-259080" lvl="1">
              <a:lnSpc>
                <a:spcPts val="3359"/>
              </a:lnSpc>
              <a:buFont typeface="Arial"/>
              <a:buChar char="•"/>
            </a:pPr>
            <a:r>
              <a:rPr lang="en-US" sz="2400">
                <a:solidFill>
                  <a:srgbClr val="000000"/>
                </a:solidFill>
                <a:latin typeface="Poppins"/>
                <a:ea typeface="Poppins"/>
                <a:cs typeface="Poppins"/>
                <a:sym typeface="Poppins"/>
              </a:rPr>
              <a:t>Personal situations that affected concentration and availability.</a:t>
            </a:r>
          </a:p>
        </p:txBody>
      </p:sp>
      <p:sp>
        <p:nvSpPr>
          <p:cNvPr name="TextBox 23" id="23"/>
          <p:cNvSpPr txBox="true"/>
          <p:nvPr/>
        </p:nvSpPr>
        <p:spPr>
          <a:xfrm rot="0">
            <a:off x="264637" y="3224306"/>
            <a:ext cx="5378039" cy="3358515"/>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000000"/>
                </a:solidFill>
                <a:latin typeface="Poppins"/>
                <a:ea typeface="Poppins"/>
                <a:cs typeface="Poppins"/>
                <a:sym typeface="Poppins"/>
              </a:rPr>
              <a:t>Errors and bugs in the code.</a:t>
            </a:r>
          </a:p>
          <a:p>
            <a:pPr algn="just" marL="518160" indent="-259080" lvl="1">
              <a:lnSpc>
                <a:spcPts val="3359"/>
              </a:lnSpc>
              <a:buFont typeface="Arial"/>
              <a:buChar char="•"/>
            </a:pPr>
            <a:r>
              <a:rPr lang="en-US" sz="2400">
                <a:solidFill>
                  <a:srgbClr val="000000"/>
                </a:solidFill>
                <a:latin typeface="Poppins"/>
                <a:ea typeface="Poppins"/>
                <a:cs typeface="Poppins"/>
                <a:sym typeface="Poppins"/>
              </a:rPr>
              <a:t>Integration of different technologies.</a:t>
            </a:r>
          </a:p>
          <a:p>
            <a:pPr algn="just" marL="518160" indent="-259080" lvl="1">
              <a:lnSpc>
                <a:spcPts val="3359"/>
              </a:lnSpc>
              <a:buFont typeface="Arial"/>
              <a:buChar char="•"/>
            </a:pPr>
            <a:r>
              <a:rPr lang="en-US" sz="2400">
                <a:solidFill>
                  <a:srgbClr val="000000"/>
                </a:solidFill>
                <a:latin typeface="Poppins"/>
                <a:ea typeface="Poppins"/>
                <a:cs typeface="Poppins"/>
                <a:sym typeface="Poppins"/>
              </a:rPr>
              <a:t>External offices and libraries.</a:t>
            </a:r>
          </a:p>
          <a:p>
            <a:pPr algn="just" marL="518160" indent="-259080" lvl="1">
              <a:lnSpc>
                <a:spcPts val="3359"/>
              </a:lnSpc>
              <a:buFont typeface="Arial"/>
              <a:buChar char="•"/>
            </a:pPr>
            <a:r>
              <a:rPr lang="en-US" sz="2400">
                <a:solidFill>
                  <a:srgbClr val="000000"/>
                </a:solidFill>
                <a:latin typeface="Poppins"/>
                <a:ea typeface="Poppins"/>
                <a:cs typeface="Poppins"/>
                <a:sym typeface="Poppins"/>
              </a:rPr>
              <a:t>Infrastructure and resource limitations.</a:t>
            </a:r>
          </a:p>
          <a:p>
            <a:pPr algn="just" marL="518160" indent="-259080" lvl="1">
              <a:lnSpc>
                <a:spcPts val="3359"/>
              </a:lnSpc>
              <a:buFont typeface="Arial"/>
              <a:buChar char="•"/>
            </a:pPr>
            <a:r>
              <a:rPr lang="en-US" sz="2400">
                <a:solidFill>
                  <a:srgbClr val="000000"/>
                </a:solidFill>
                <a:latin typeface="Poppins"/>
                <a:ea typeface="Poppins"/>
                <a:cs typeface="Poppins"/>
                <a:sym typeface="Poppins"/>
              </a:rPr>
              <a:t>Lack of documentation or references.</a:t>
            </a:r>
          </a:p>
        </p:txBody>
      </p:sp>
      <p:sp>
        <p:nvSpPr>
          <p:cNvPr name="TextBox 24" id="24"/>
          <p:cNvSpPr txBox="true"/>
          <p:nvPr/>
        </p:nvSpPr>
        <p:spPr>
          <a:xfrm rot="0">
            <a:off x="1802229" y="2421709"/>
            <a:ext cx="2128907" cy="523875"/>
          </a:xfrm>
          <a:prstGeom prst="rect">
            <a:avLst/>
          </a:prstGeom>
        </p:spPr>
        <p:txBody>
          <a:bodyPr anchor="t" rtlCol="false" tIns="0" lIns="0" bIns="0" rIns="0">
            <a:spAutoFit/>
          </a:bodyPr>
          <a:lstStyle/>
          <a:p>
            <a:pPr algn="ctr">
              <a:lnSpc>
                <a:spcPts val="4199"/>
              </a:lnSpc>
            </a:pPr>
            <a:r>
              <a:rPr lang="en-US" sz="2999" b="true">
                <a:solidFill>
                  <a:srgbClr val="000000"/>
                </a:solidFill>
                <a:latin typeface="Poppins Bold"/>
                <a:ea typeface="Poppins Bold"/>
                <a:cs typeface="Poppins Bold"/>
                <a:sym typeface="Poppins Bold"/>
              </a:rPr>
              <a:t>Technical</a:t>
            </a:r>
          </a:p>
        </p:txBody>
      </p:sp>
      <p:sp>
        <p:nvSpPr>
          <p:cNvPr name="TextBox 25" id="25"/>
          <p:cNvSpPr txBox="true"/>
          <p:nvPr/>
        </p:nvSpPr>
        <p:spPr>
          <a:xfrm rot="0">
            <a:off x="7623496" y="2421709"/>
            <a:ext cx="3041008" cy="523875"/>
          </a:xfrm>
          <a:prstGeom prst="rect">
            <a:avLst/>
          </a:prstGeom>
        </p:spPr>
        <p:txBody>
          <a:bodyPr anchor="t" rtlCol="false" tIns="0" lIns="0" bIns="0" rIns="0">
            <a:spAutoFit/>
          </a:bodyPr>
          <a:lstStyle/>
          <a:p>
            <a:pPr algn="ctr">
              <a:lnSpc>
                <a:spcPts val="4199"/>
              </a:lnSpc>
            </a:pPr>
            <a:r>
              <a:rPr lang="en-US" sz="2999" b="true">
                <a:solidFill>
                  <a:srgbClr val="000000"/>
                </a:solidFill>
                <a:latin typeface="Poppins Bold"/>
                <a:ea typeface="Poppins Bold"/>
                <a:cs typeface="Poppins Bold"/>
                <a:sym typeface="Poppins Bold"/>
              </a:rPr>
              <a:t>Organizational</a:t>
            </a:r>
          </a:p>
        </p:txBody>
      </p:sp>
      <p:sp>
        <p:nvSpPr>
          <p:cNvPr name="TextBox 26" id="26"/>
          <p:cNvSpPr txBox="true"/>
          <p:nvPr/>
        </p:nvSpPr>
        <p:spPr>
          <a:xfrm rot="0">
            <a:off x="14013618" y="2421709"/>
            <a:ext cx="2476803" cy="523875"/>
          </a:xfrm>
          <a:prstGeom prst="rect">
            <a:avLst/>
          </a:prstGeom>
        </p:spPr>
        <p:txBody>
          <a:bodyPr anchor="t" rtlCol="false" tIns="0" lIns="0" bIns="0" rIns="0">
            <a:spAutoFit/>
          </a:bodyPr>
          <a:lstStyle/>
          <a:p>
            <a:pPr algn="ctr">
              <a:lnSpc>
                <a:spcPts val="4199"/>
              </a:lnSpc>
            </a:pPr>
            <a:r>
              <a:rPr lang="en-US" sz="2999" b="true">
                <a:solidFill>
                  <a:srgbClr val="000000"/>
                </a:solidFill>
                <a:latin typeface="Poppins Bold"/>
                <a:ea typeface="Poppins Bold"/>
                <a:cs typeface="Poppins Bold"/>
                <a:sym typeface="Poppins Bold"/>
              </a:rPr>
              <a:t>Personal</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7F7F6"/>
        </a:solidFill>
      </p:bgPr>
    </p:bg>
    <p:spTree>
      <p:nvGrpSpPr>
        <p:cNvPr id="1" name=""/>
        <p:cNvGrpSpPr/>
        <p:nvPr/>
      </p:nvGrpSpPr>
      <p:grpSpPr>
        <a:xfrm>
          <a:off x="0" y="0"/>
          <a:ext cx="0" cy="0"/>
          <a:chOff x="0" y="0"/>
          <a:chExt cx="0" cy="0"/>
        </a:xfrm>
      </p:grpSpPr>
      <p:grpSp>
        <p:nvGrpSpPr>
          <p:cNvPr name="Group 2" id="2"/>
          <p:cNvGrpSpPr/>
          <p:nvPr/>
        </p:nvGrpSpPr>
        <p:grpSpPr>
          <a:xfrm rot="0">
            <a:off x="4869909" y="2286230"/>
            <a:ext cx="3086100" cy="85998"/>
            <a:chOff x="0" y="0"/>
            <a:chExt cx="812800" cy="22650"/>
          </a:xfrm>
        </p:grpSpPr>
        <p:sp>
          <p:nvSpPr>
            <p:cNvPr name="Freeform 3" id="3"/>
            <p:cNvSpPr/>
            <p:nvPr/>
          </p:nvSpPr>
          <p:spPr>
            <a:xfrm flipH="false" flipV="false" rot="0">
              <a:off x="0" y="0"/>
              <a:ext cx="812800" cy="22650"/>
            </a:xfrm>
            <a:custGeom>
              <a:avLst/>
              <a:gdLst/>
              <a:ahLst/>
              <a:cxnLst/>
              <a:rect r="r" b="b" t="t" l="l"/>
              <a:pathLst>
                <a:path h="22650" w="812800">
                  <a:moveTo>
                    <a:pt x="0" y="0"/>
                  </a:moveTo>
                  <a:lnTo>
                    <a:pt x="812800" y="0"/>
                  </a:lnTo>
                  <a:lnTo>
                    <a:pt x="812800" y="22650"/>
                  </a:lnTo>
                  <a:lnTo>
                    <a:pt x="0" y="22650"/>
                  </a:lnTo>
                  <a:close/>
                </a:path>
              </a:pathLst>
            </a:custGeom>
            <a:solidFill>
              <a:srgbClr val="ACA18F"/>
            </a:solidFill>
          </p:spPr>
        </p:sp>
        <p:sp>
          <p:nvSpPr>
            <p:cNvPr name="TextBox 4" id="4"/>
            <p:cNvSpPr txBox="true"/>
            <p:nvPr/>
          </p:nvSpPr>
          <p:spPr>
            <a:xfrm>
              <a:off x="0" y="-38100"/>
              <a:ext cx="812800" cy="60750"/>
            </a:xfrm>
            <a:prstGeom prst="rect">
              <a:avLst/>
            </a:prstGeom>
          </p:spPr>
          <p:txBody>
            <a:bodyPr anchor="ctr" rtlCol="false" tIns="50800" lIns="50800" bIns="50800" rIns="50800"/>
            <a:lstStyle/>
            <a:p>
              <a:pPr algn="ctr">
                <a:lnSpc>
                  <a:spcPts val="2277"/>
                </a:lnSpc>
              </a:pPr>
            </a:p>
          </p:txBody>
        </p:sp>
      </p:grpSp>
      <p:sp>
        <p:nvSpPr>
          <p:cNvPr name="TextBox 5" id="5"/>
          <p:cNvSpPr txBox="true"/>
          <p:nvPr/>
        </p:nvSpPr>
        <p:spPr>
          <a:xfrm rot="0">
            <a:off x="1009650" y="1275945"/>
            <a:ext cx="9891989" cy="1010285"/>
          </a:xfrm>
          <a:prstGeom prst="rect">
            <a:avLst/>
          </a:prstGeom>
        </p:spPr>
        <p:txBody>
          <a:bodyPr anchor="t" rtlCol="false" tIns="0" lIns="0" bIns="0" rIns="0">
            <a:spAutoFit/>
          </a:bodyPr>
          <a:lstStyle/>
          <a:p>
            <a:pPr algn="l" marL="0" indent="0" lvl="0">
              <a:lnSpc>
                <a:spcPts val="7840"/>
              </a:lnSpc>
            </a:pPr>
            <a:r>
              <a:rPr lang="en-US" sz="5600">
                <a:solidFill>
                  <a:srgbClr val="000000"/>
                </a:solidFill>
                <a:latin typeface="Poppins"/>
                <a:ea typeface="Poppins"/>
                <a:cs typeface="Poppins"/>
                <a:sym typeface="Poppins"/>
              </a:rPr>
              <a:t>LESSONS LEARNED</a:t>
            </a:r>
          </a:p>
        </p:txBody>
      </p:sp>
      <p:sp>
        <p:nvSpPr>
          <p:cNvPr name="TextBox 6" id="6"/>
          <p:cNvSpPr txBox="true"/>
          <p:nvPr/>
        </p:nvSpPr>
        <p:spPr>
          <a:xfrm rot="0">
            <a:off x="13947543" y="438231"/>
            <a:ext cx="3311757" cy="375285"/>
          </a:xfrm>
          <a:prstGeom prst="rect">
            <a:avLst/>
          </a:prstGeom>
        </p:spPr>
        <p:txBody>
          <a:bodyPr anchor="t" rtlCol="false" tIns="0" lIns="0" bIns="0" rIns="0">
            <a:spAutoFit/>
          </a:bodyPr>
          <a:lstStyle/>
          <a:p>
            <a:pPr algn="r">
              <a:lnSpc>
                <a:spcPts val="2940"/>
              </a:lnSpc>
            </a:pPr>
            <a:r>
              <a:rPr lang="en-US" sz="2100" b="true">
                <a:solidFill>
                  <a:srgbClr val="000000"/>
                </a:solidFill>
                <a:latin typeface="Poppins Bold"/>
                <a:ea typeface="Poppins Bold"/>
                <a:cs typeface="Poppins Bold"/>
                <a:sym typeface="Poppins Bold"/>
              </a:rPr>
              <a:t>NeuroVoice</a:t>
            </a:r>
          </a:p>
        </p:txBody>
      </p:sp>
      <p:grpSp>
        <p:nvGrpSpPr>
          <p:cNvPr name="Group 7" id="7"/>
          <p:cNvGrpSpPr/>
          <p:nvPr/>
        </p:nvGrpSpPr>
        <p:grpSpPr>
          <a:xfrm rot="0">
            <a:off x="1028700" y="3003467"/>
            <a:ext cx="4945995" cy="4752949"/>
            <a:chOff x="0" y="0"/>
            <a:chExt cx="2341477" cy="2250087"/>
          </a:xfrm>
        </p:grpSpPr>
        <p:sp>
          <p:nvSpPr>
            <p:cNvPr name="Freeform 8" id="8"/>
            <p:cNvSpPr/>
            <p:nvPr/>
          </p:nvSpPr>
          <p:spPr>
            <a:xfrm flipH="false" flipV="false" rot="0">
              <a:off x="0" y="0"/>
              <a:ext cx="2341477" cy="2250087"/>
            </a:xfrm>
            <a:custGeom>
              <a:avLst/>
              <a:gdLst/>
              <a:ahLst/>
              <a:cxnLst/>
              <a:rect r="r" b="b" t="t" l="l"/>
              <a:pathLst>
                <a:path h="2250087" w="2341477">
                  <a:moveTo>
                    <a:pt x="0" y="0"/>
                  </a:moveTo>
                  <a:lnTo>
                    <a:pt x="2341477" y="0"/>
                  </a:lnTo>
                  <a:lnTo>
                    <a:pt x="2341477" y="2250087"/>
                  </a:lnTo>
                  <a:lnTo>
                    <a:pt x="0" y="2250087"/>
                  </a:lnTo>
                  <a:close/>
                </a:path>
              </a:pathLst>
            </a:custGeom>
            <a:solidFill>
              <a:srgbClr val="000000">
                <a:alpha val="0"/>
              </a:srgbClr>
            </a:solidFill>
            <a:ln w="85725" cap="sq">
              <a:solidFill>
                <a:srgbClr val="ACA18F"/>
              </a:solidFill>
              <a:prstDash val="solid"/>
              <a:miter/>
            </a:ln>
          </p:spPr>
        </p:sp>
        <p:sp>
          <p:nvSpPr>
            <p:cNvPr name="TextBox 9" id="9"/>
            <p:cNvSpPr txBox="true"/>
            <p:nvPr/>
          </p:nvSpPr>
          <p:spPr>
            <a:xfrm>
              <a:off x="0" y="-47625"/>
              <a:ext cx="2341477" cy="2297712"/>
            </a:xfrm>
            <a:prstGeom prst="rect">
              <a:avLst/>
            </a:prstGeom>
          </p:spPr>
          <p:txBody>
            <a:bodyPr anchor="ctr" rtlCol="false" tIns="48876" lIns="48876" bIns="48876" rIns="48876"/>
            <a:lstStyle/>
            <a:p>
              <a:pPr algn="ctr">
                <a:lnSpc>
                  <a:spcPts val="1588"/>
                </a:lnSpc>
              </a:pPr>
            </a:p>
          </p:txBody>
        </p:sp>
      </p:grpSp>
      <p:sp>
        <p:nvSpPr>
          <p:cNvPr name="TextBox 10" id="10"/>
          <p:cNvSpPr txBox="true"/>
          <p:nvPr/>
        </p:nvSpPr>
        <p:spPr>
          <a:xfrm rot="0">
            <a:off x="1089447" y="3143987"/>
            <a:ext cx="4681166" cy="400125"/>
          </a:xfrm>
          <a:prstGeom prst="rect">
            <a:avLst/>
          </a:prstGeom>
        </p:spPr>
        <p:txBody>
          <a:bodyPr anchor="t" rtlCol="false" tIns="0" lIns="0" bIns="0" rIns="0">
            <a:spAutoFit/>
          </a:bodyPr>
          <a:lstStyle/>
          <a:p>
            <a:pPr algn="just" marL="0" indent="0" lvl="0">
              <a:lnSpc>
                <a:spcPts val="3145"/>
              </a:lnSpc>
            </a:pPr>
            <a:r>
              <a:rPr lang="en-US" b="true" sz="2247">
                <a:solidFill>
                  <a:srgbClr val="000000"/>
                </a:solidFill>
                <a:latin typeface="Poppins Bold"/>
                <a:ea typeface="Poppins Bold"/>
                <a:cs typeface="Poppins Bold"/>
                <a:sym typeface="Poppins Bold"/>
              </a:rPr>
              <a:t>Technologies and development</a:t>
            </a:r>
          </a:p>
        </p:txBody>
      </p:sp>
      <p:grpSp>
        <p:nvGrpSpPr>
          <p:cNvPr name="Group 11" id="11"/>
          <p:cNvGrpSpPr/>
          <p:nvPr/>
        </p:nvGrpSpPr>
        <p:grpSpPr>
          <a:xfrm rot="0">
            <a:off x="6512914" y="3003467"/>
            <a:ext cx="4945995" cy="4752949"/>
            <a:chOff x="0" y="0"/>
            <a:chExt cx="2341477" cy="2250087"/>
          </a:xfrm>
        </p:grpSpPr>
        <p:sp>
          <p:nvSpPr>
            <p:cNvPr name="Freeform 12" id="12"/>
            <p:cNvSpPr/>
            <p:nvPr/>
          </p:nvSpPr>
          <p:spPr>
            <a:xfrm flipH="false" flipV="false" rot="0">
              <a:off x="0" y="0"/>
              <a:ext cx="2341477" cy="2250087"/>
            </a:xfrm>
            <a:custGeom>
              <a:avLst/>
              <a:gdLst/>
              <a:ahLst/>
              <a:cxnLst/>
              <a:rect r="r" b="b" t="t" l="l"/>
              <a:pathLst>
                <a:path h="2250087" w="2341477">
                  <a:moveTo>
                    <a:pt x="0" y="0"/>
                  </a:moveTo>
                  <a:lnTo>
                    <a:pt x="2341477" y="0"/>
                  </a:lnTo>
                  <a:lnTo>
                    <a:pt x="2341477" y="2250087"/>
                  </a:lnTo>
                  <a:lnTo>
                    <a:pt x="0" y="2250087"/>
                  </a:lnTo>
                  <a:close/>
                </a:path>
              </a:pathLst>
            </a:custGeom>
            <a:solidFill>
              <a:srgbClr val="000000">
                <a:alpha val="0"/>
              </a:srgbClr>
            </a:solidFill>
            <a:ln w="85725" cap="sq">
              <a:solidFill>
                <a:srgbClr val="ACA18F"/>
              </a:solidFill>
              <a:prstDash val="solid"/>
              <a:miter/>
            </a:ln>
          </p:spPr>
        </p:sp>
        <p:sp>
          <p:nvSpPr>
            <p:cNvPr name="TextBox 13" id="13"/>
            <p:cNvSpPr txBox="true"/>
            <p:nvPr/>
          </p:nvSpPr>
          <p:spPr>
            <a:xfrm>
              <a:off x="0" y="-47625"/>
              <a:ext cx="2341477" cy="2297712"/>
            </a:xfrm>
            <a:prstGeom prst="rect">
              <a:avLst/>
            </a:prstGeom>
          </p:spPr>
          <p:txBody>
            <a:bodyPr anchor="ctr" rtlCol="false" tIns="48876" lIns="48876" bIns="48876" rIns="48876"/>
            <a:lstStyle/>
            <a:p>
              <a:pPr algn="ctr">
                <a:lnSpc>
                  <a:spcPts val="1588"/>
                </a:lnSpc>
              </a:pPr>
            </a:p>
          </p:txBody>
        </p:sp>
      </p:grpSp>
      <p:sp>
        <p:nvSpPr>
          <p:cNvPr name="TextBox 14" id="14"/>
          <p:cNvSpPr txBox="true"/>
          <p:nvPr/>
        </p:nvSpPr>
        <p:spPr>
          <a:xfrm rot="0">
            <a:off x="6573662" y="3173019"/>
            <a:ext cx="3894169" cy="516890"/>
          </a:xfrm>
          <a:prstGeom prst="rect">
            <a:avLst/>
          </a:prstGeom>
        </p:spPr>
        <p:txBody>
          <a:bodyPr anchor="t" rtlCol="false" tIns="0" lIns="0" bIns="0" rIns="0">
            <a:spAutoFit/>
          </a:bodyPr>
          <a:lstStyle/>
          <a:p>
            <a:pPr algn="l" marL="0" indent="0" lvl="0">
              <a:lnSpc>
                <a:spcPts val="4059"/>
              </a:lnSpc>
            </a:pPr>
            <a:r>
              <a:rPr lang="en-US" b="true" sz="2899">
                <a:solidFill>
                  <a:srgbClr val="000000"/>
                </a:solidFill>
                <a:latin typeface="Poppins Bold"/>
                <a:ea typeface="Poppins Bold"/>
                <a:cs typeface="Poppins Bold"/>
                <a:sym typeface="Poppins Bold"/>
              </a:rPr>
              <a:t>Methodology</a:t>
            </a:r>
          </a:p>
        </p:txBody>
      </p:sp>
      <p:grpSp>
        <p:nvGrpSpPr>
          <p:cNvPr name="Group 15" id="15"/>
          <p:cNvGrpSpPr/>
          <p:nvPr/>
        </p:nvGrpSpPr>
        <p:grpSpPr>
          <a:xfrm rot="0">
            <a:off x="11997129" y="3003467"/>
            <a:ext cx="4945995" cy="4752949"/>
            <a:chOff x="0" y="0"/>
            <a:chExt cx="2341477" cy="2250087"/>
          </a:xfrm>
        </p:grpSpPr>
        <p:sp>
          <p:nvSpPr>
            <p:cNvPr name="Freeform 16" id="16"/>
            <p:cNvSpPr/>
            <p:nvPr/>
          </p:nvSpPr>
          <p:spPr>
            <a:xfrm flipH="false" flipV="false" rot="0">
              <a:off x="0" y="0"/>
              <a:ext cx="2341477" cy="2250087"/>
            </a:xfrm>
            <a:custGeom>
              <a:avLst/>
              <a:gdLst/>
              <a:ahLst/>
              <a:cxnLst/>
              <a:rect r="r" b="b" t="t" l="l"/>
              <a:pathLst>
                <a:path h="2250087" w="2341477">
                  <a:moveTo>
                    <a:pt x="0" y="0"/>
                  </a:moveTo>
                  <a:lnTo>
                    <a:pt x="2341477" y="0"/>
                  </a:lnTo>
                  <a:lnTo>
                    <a:pt x="2341477" y="2250087"/>
                  </a:lnTo>
                  <a:lnTo>
                    <a:pt x="0" y="2250087"/>
                  </a:lnTo>
                  <a:close/>
                </a:path>
              </a:pathLst>
            </a:custGeom>
            <a:solidFill>
              <a:srgbClr val="000000">
                <a:alpha val="0"/>
              </a:srgbClr>
            </a:solidFill>
            <a:ln w="85725" cap="sq">
              <a:solidFill>
                <a:srgbClr val="ACA18F"/>
              </a:solidFill>
              <a:prstDash val="solid"/>
              <a:miter/>
            </a:ln>
          </p:spPr>
        </p:sp>
        <p:sp>
          <p:nvSpPr>
            <p:cNvPr name="TextBox 17" id="17"/>
            <p:cNvSpPr txBox="true"/>
            <p:nvPr/>
          </p:nvSpPr>
          <p:spPr>
            <a:xfrm>
              <a:off x="0" y="-47625"/>
              <a:ext cx="2341477" cy="2297712"/>
            </a:xfrm>
            <a:prstGeom prst="rect">
              <a:avLst/>
            </a:prstGeom>
          </p:spPr>
          <p:txBody>
            <a:bodyPr anchor="ctr" rtlCol="false" tIns="48876" lIns="48876" bIns="48876" rIns="48876"/>
            <a:lstStyle/>
            <a:p>
              <a:pPr algn="ctr">
                <a:lnSpc>
                  <a:spcPts val="1588"/>
                </a:lnSpc>
              </a:pPr>
            </a:p>
          </p:txBody>
        </p:sp>
      </p:grpSp>
      <p:sp>
        <p:nvSpPr>
          <p:cNvPr name="TextBox 18" id="18"/>
          <p:cNvSpPr txBox="true"/>
          <p:nvPr/>
        </p:nvSpPr>
        <p:spPr>
          <a:xfrm rot="0">
            <a:off x="11997129" y="3675770"/>
            <a:ext cx="4668852" cy="3078330"/>
          </a:xfrm>
          <a:prstGeom prst="rect">
            <a:avLst/>
          </a:prstGeom>
        </p:spPr>
        <p:txBody>
          <a:bodyPr anchor="t" rtlCol="false" tIns="0" lIns="0" bIns="0" rIns="0">
            <a:spAutoFit/>
          </a:bodyPr>
          <a:lstStyle/>
          <a:p>
            <a:pPr algn="just" marL="632785" indent="-316393" lvl="1">
              <a:lnSpc>
                <a:spcPts val="4103"/>
              </a:lnSpc>
              <a:buFont typeface="Arial"/>
              <a:buChar char="•"/>
            </a:pPr>
            <a:r>
              <a:rPr lang="en-US" sz="2930">
                <a:solidFill>
                  <a:srgbClr val="242424"/>
                </a:solidFill>
                <a:latin typeface="TT Chocolates"/>
                <a:ea typeface="TT Chocolates"/>
                <a:cs typeface="TT Chocolates"/>
                <a:sym typeface="TT Chocolates"/>
              </a:rPr>
              <a:t>Adaptation to schedules</a:t>
            </a:r>
          </a:p>
          <a:p>
            <a:pPr algn="just" marL="632785" indent="-316393" lvl="1">
              <a:lnSpc>
                <a:spcPts val="4103"/>
              </a:lnSpc>
              <a:buFont typeface="Arial"/>
              <a:buChar char="•"/>
            </a:pPr>
            <a:r>
              <a:rPr lang="en-US" sz="2930">
                <a:solidFill>
                  <a:srgbClr val="242424"/>
                </a:solidFill>
                <a:latin typeface="TT Chocolates"/>
                <a:ea typeface="TT Chocolates"/>
                <a:cs typeface="TT Chocolates"/>
                <a:sym typeface="TT Chocolates"/>
              </a:rPr>
              <a:t>Team coordination</a:t>
            </a:r>
          </a:p>
          <a:p>
            <a:pPr algn="just" marL="632785" indent="-316393" lvl="1">
              <a:lnSpc>
                <a:spcPts val="4103"/>
              </a:lnSpc>
              <a:buFont typeface="Arial"/>
              <a:buChar char="•"/>
            </a:pPr>
            <a:r>
              <a:rPr lang="en-US" sz="2930">
                <a:solidFill>
                  <a:srgbClr val="242424"/>
                </a:solidFill>
                <a:latin typeface="TT Chocolates"/>
                <a:ea typeface="TT Chocolates"/>
                <a:cs typeface="TT Chocolates"/>
                <a:sym typeface="TT Chocolates"/>
              </a:rPr>
              <a:t>Adaptability to change</a:t>
            </a:r>
          </a:p>
          <a:p>
            <a:pPr algn="just" marL="632785" indent="-316393" lvl="1">
              <a:lnSpc>
                <a:spcPts val="4103"/>
              </a:lnSpc>
              <a:buFont typeface="Arial"/>
              <a:buChar char="•"/>
            </a:pPr>
            <a:r>
              <a:rPr lang="en-US" sz="2930">
                <a:solidFill>
                  <a:srgbClr val="242424"/>
                </a:solidFill>
                <a:latin typeface="TT Chocolates"/>
                <a:ea typeface="TT Chocolates"/>
                <a:cs typeface="TT Chocolates"/>
                <a:sym typeface="TT Chocolates"/>
              </a:rPr>
              <a:t>Handling personal problems</a:t>
            </a:r>
          </a:p>
          <a:p>
            <a:pPr algn="just" marL="632785" indent="-316393" lvl="1">
              <a:lnSpc>
                <a:spcPts val="4103"/>
              </a:lnSpc>
              <a:buFont typeface="Arial"/>
              <a:buChar char="•"/>
            </a:pPr>
            <a:r>
              <a:rPr lang="en-US" sz="2930">
                <a:solidFill>
                  <a:srgbClr val="242424"/>
                </a:solidFill>
                <a:latin typeface="TT Chocolates"/>
                <a:ea typeface="TT Chocolates"/>
                <a:cs typeface="TT Chocolates"/>
                <a:sym typeface="TT Chocolates"/>
              </a:rPr>
              <a:t>Personal growth</a:t>
            </a:r>
          </a:p>
        </p:txBody>
      </p:sp>
      <p:sp>
        <p:nvSpPr>
          <p:cNvPr name="TextBox 19" id="19"/>
          <p:cNvSpPr txBox="true"/>
          <p:nvPr/>
        </p:nvSpPr>
        <p:spPr>
          <a:xfrm rot="0">
            <a:off x="11997129" y="3143987"/>
            <a:ext cx="4668852" cy="466646"/>
          </a:xfrm>
          <a:prstGeom prst="rect">
            <a:avLst/>
          </a:prstGeom>
        </p:spPr>
        <p:txBody>
          <a:bodyPr anchor="t" rtlCol="false" tIns="0" lIns="0" bIns="0" rIns="0">
            <a:spAutoFit/>
          </a:bodyPr>
          <a:lstStyle/>
          <a:p>
            <a:pPr algn="ctr" marL="0" indent="0" lvl="0">
              <a:lnSpc>
                <a:spcPts val="3679"/>
              </a:lnSpc>
            </a:pPr>
            <a:r>
              <a:rPr lang="en-US" b="true" sz="2628">
                <a:solidFill>
                  <a:srgbClr val="000000"/>
                </a:solidFill>
                <a:latin typeface="Poppins Bold"/>
                <a:ea typeface="Poppins Bold"/>
                <a:cs typeface="Poppins Bold"/>
                <a:sym typeface="Poppins Bold"/>
              </a:rPr>
              <a:t>Personal and professional</a:t>
            </a:r>
          </a:p>
        </p:txBody>
      </p:sp>
      <p:sp>
        <p:nvSpPr>
          <p:cNvPr name="TextBox 20" id="20"/>
          <p:cNvSpPr txBox="true"/>
          <p:nvPr/>
        </p:nvSpPr>
        <p:spPr>
          <a:xfrm rot="0">
            <a:off x="6512914" y="3780083"/>
            <a:ext cx="4879116" cy="2049630"/>
          </a:xfrm>
          <a:prstGeom prst="rect">
            <a:avLst/>
          </a:prstGeom>
        </p:spPr>
        <p:txBody>
          <a:bodyPr anchor="t" rtlCol="false" tIns="0" lIns="0" bIns="0" rIns="0">
            <a:spAutoFit/>
          </a:bodyPr>
          <a:lstStyle/>
          <a:p>
            <a:pPr algn="just" marL="632785" indent="-316393" lvl="1">
              <a:lnSpc>
                <a:spcPts val="4103"/>
              </a:lnSpc>
              <a:buFont typeface="Arial"/>
              <a:buChar char="•"/>
            </a:pPr>
            <a:r>
              <a:rPr lang="en-US" sz="2930">
                <a:solidFill>
                  <a:srgbClr val="242424"/>
                </a:solidFill>
                <a:latin typeface="TT Chocolates"/>
                <a:ea typeface="TT Chocolates"/>
                <a:cs typeface="TT Chocolates"/>
                <a:sym typeface="TT Chocolates"/>
              </a:rPr>
              <a:t>Epic-based management</a:t>
            </a:r>
          </a:p>
          <a:p>
            <a:pPr algn="just" marL="632785" indent="-316393" lvl="1">
              <a:lnSpc>
                <a:spcPts val="4103"/>
              </a:lnSpc>
              <a:buFont typeface="Arial"/>
              <a:buChar char="•"/>
            </a:pPr>
            <a:r>
              <a:rPr lang="en-US" sz="2930">
                <a:solidFill>
                  <a:srgbClr val="242424"/>
                </a:solidFill>
                <a:latin typeface="TT Chocolates"/>
                <a:ea typeface="TT Chocolates"/>
                <a:cs typeface="TT Chocolates"/>
                <a:sym typeface="TT Chocolates"/>
              </a:rPr>
              <a:t>Planning with Sprints</a:t>
            </a:r>
          </a:p>
          <a:p>
            <a:pPr algn="just" marL="632785" indent="-316393" lvl="1">
              <a:lnSpc>
                <a:spcPts val="4103"/>
              </a:lnSpc>
              <a:buFont typeface="Arial"/>
              <a:buChar char="•"/>
            </a:pPr>
            <a:r>
              <a:rPr lang="en-US" sz="2930">
                <a:solidFill>
                  <a:srgbClr val="242424"/>
                </a:solidFill>
                <a:latin typeface="TT Chocolates"/>
                <a:ea typeface="TT Chocolates"/>
                <a:cs typeface="TT Chocolates"/>
                <a:sym typeface="TT Chocolates"/>
              </a:rPr>
              <a:t>Agile methodology</a:t>
            </a:r>
          </a:p>
          <a:p>
            <a:pPr algn="just" marL="632785" indent="-316393" lvl="1">
              <a:lnSpc>
                <a:spcPts val="4103"/>
              </a:lnSpc>
              <a:buFont typeface="Arial"/>
              <a:buChar char="•"/>
            </a:pPr>
            <a:r>
              <a:rPr lang="en-US" sz="2930">
                <a:solidFill>
                  <a:srgbClr val="242424"/>
                </a:solidFill>
                <a:latin typeface="TT Chocolates"/>
                <a:ea typeface="TT Chocolates"/>
                <a:cs typeface="TT Chocolates"/>
                <a:sym typeface="TT Chocolates"/>
              </a:rPr>
              <a:t>Continuous feedback</a:t>
            </a:r>
          </a:p>
        </p:txBody>
      </p:sp>
      <p:sp>
        <p:nvSpPr>
          <p:cNvPr name="TextBox 21" id="21"/>
          <p:cNvSpPr txBox="true"/>
          <p:nvPr/>
        </p:nvSpPr>
        <p:spPr>
          <a:xfrm rot="0">
            <a:off x="1028700" y="3675770"/>
            <a:ext cx="5532859" cy="3592680"/>
          </a:xfrm>
          <a:prstGeom prst="rect">
            <a:avLst/>
          </a:prstGeom>
        </p:spPr>
        <p:txBody>
          <a:bodyPr anchor="t" rtlCol="false" tIns="0" lIns="0" bIns="0" rIns="0">
            <a:spAutoFit/>
          </a:bodyPr>
          <a:lstStyle/>
          <a:p>
            <a:pPr algn="just" marL="632785" indent="-316393" lvl="1">
              <a:lnSpc>
                <a:spcPts val="4103"/>
              </a:lnSpc>
              <a:buFont typeface="Arial"/>
              <a:buChar char="•"/>
            </a:pPr>
            <a:r>
              <a:rPr lang="en-US" sz="2930">
                <a:solidFill>
                  <a:srgbClr val="242424"/>
                </a:solidFill>
                <a:latin typeface="TT Chocolates"/>
                <a:ea typeface="TT Chocolates"/>
                <a:cs typeface="TT Chocolates"/>
                <a:sym typeface="TT Chocolates"/>
              </a:rPr>
              <a:t>Flask Handling</a:t>
            </a:r>
          </a:p>
          <a:p>
            <a:pPr algn="just" marL="632785" indent="-316393" lvl="1">
              <a:lnSpc>
                <a:spcPts val="4103"/>
              </a:lnSpc>
              <a:buFont typeface="Arial"/>
              <a:buChar char="•"/>
            </a:pPr>
            <a:r>
              <a:rPr lang="en-US" sz="2930">
                <a:solidFill>
                  <a:srgbClr val="242424"/>
                </a:solidFill>
                <a:latin typeface="TT Chocolates"/>
                <a:ea typeface="TT Chocolates"/>
                <a:cs typeface="TT Chocolates"/>
                <a:sym typeface="TT Chocolates"/>
              </a:rPr>
              <a:t>API creation</a:t>
            </a:r>
          </a:p>
          <a:p>
            <a:pPr algn="just" marL="632785" indent="-316393" lvl="1">
              <a:lnSpc>
                <a:spcPts val="4103"/>
              </a:lnSpc>
              <a:buFont typeface="Arial"/>
              <a:buChar char="•"/>
            </a:pPr>
            <a:r>
              <a:rPr lang="en-US" sz="2930">
                <a:solidFill>
                  <a:srgbClr val="242424"/>
                </a:solidFill>
                <a:latin typeface="TT Chocolates"/>
                <a:ea typeface="TT Chocolates"/>
                <a:cs typeface="TT Chocolates"/>
                <a:sym typeface="TT Chocolates"/>
              </a:rPr>
              <a:t>Using SQLite</a:t>
            </a:r>
          </a:p>
          <a:p>
            <a:pPr algn="just" marL="632785" indent="-316393" lvl="1">
              <a:lnSpc>
                <a:spcPts val="4103"/>
              </a:lnSpc>
              <a:buFont typeface="Arial"/>
              <a:buChar char="•"/>
            </a:pPr>
            <a:r>
              <a:rPr lang="en-US" sz="2930">
                <a:solidFill>
                  <a:srgbClr val="242424"/>
                </a:solidFill>
                <a:latin typeface="TT Chocolates"/>
                <a:ea typeface="TT Chocolates"/>
                <a:cs typeface="TT Chocolates"/>
                <a:sym typeface="TT Chocolates"/>
              </a:rPr>
              <a:t>App Customization</a:t>
            </a:r>
          </a:p>
          <a:p>
            <a:pPr algn="just" marL="632785" indent="-316393" lvl="1">
              <a:lnSpc>
                <a:spcPts val="4103"/>
              </a:lnSpc>
              <a:buFont typeface="Arial"/>
              <a:buChar char="•"/>
            </a:pPr>
            <a:r>
              <a:rPr lang="en-US" sz="2930">
                <a:solidFill>
                  <a:srgbClr val="242424"/>
                </a:solidFill>
                <a:latin typeface="TT Chocolates"/>
                <a:ea typeface="TT Chocolates"/>
                <a:cs typeface="TT Chocolates"/>
                <a:sym typeface="TT Chocolates"/>
              </a:rPr>
              <a:t>TTS Implementation</a:t>
            </a:r>
          </a:p>
          <a:p>
            <a:pPr algn="just" marL="632785" indent="-316393" lvl="1">
              <a:lnSpc>
                <a:spcPts val="4103"/>
              </a:lnSpc>
              <a:buFont typeface="Arial"/>
              <a:buChar char="•"/>
            </a:pPr>
            <a:r>
              <a:rPr lang="en-US" sz="2930">
                <a:solidFill>
                  <a:srgbClr val="242424"/>
                </a:solidFill>
                <a:latin typeface="TT Chocolates"/>
                <a:ea typeface="TT Chocolates"/>
                <a:cs typeface="TT Chocolates"/>
                <a:sym typeface="TT Chocolates"/>
              </a:rPr>
              <a:t>Front-back development</a:t>
            </a:r>
          </a:p>
          <a:p>
            <a:pPr algn="just" marL="632785" indent="-316393" lvl="1">
              <a:lnSpc>
                <a:spcPts val="4103"/>
              </a:lnSpc>
              <a:buFont typeface="Arial"/>
              <a:buChar char="•"/>
            </a:pPr>
            <a:r>
              <a:rPr lang="en-US" sz="2930">
                <a:solidFill>
                  <a:srgbClr val="242424"/>
                </a:solidFill>
                <a:latin typeface="TT Chocolates"/>
                <a:ea typeface="TT Chocolates"/>
                <a:cs typeface="TT Chocolates"/>
                <a:sym typeface="TT Chocolates"/>
              </a:rPr>
              <a:t>Project from scratch</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7F7F6"/>
        </a:solidFill>
      </p:bgPr>
    </p:bg>
    <p:spTree>
      <p:nvGrpSpPr>
        <p:cNvPr id="1" name=""/>
        <p:cNvGrpSpPr/>
        <p:nvPr/>
      </p:nvGrpSpPr>
      <p:grpSpPr>
        <a:xfrm>
          <a:off x="0" y="0"/>
          <a:ext cx="0" cy="0"/>
          <a:chOff x="0" y="0"/>
          <a:chExt cx="0" cy="0"/>
        </a:xfrm>
      </p:grpSpPr>
      <p:sp>
        <p:nvSpPr>
          <p:cNvPr name="Freeform 2" id="2"/>
          <p:cNvSpPr/>
          <p:nvPr/>
        </p:nvSpPr>
        <p:spPr>
          <a:xfrm flipH="false" flipV="false" rot="0">
            <a:off x="15165896" y="1028700"/>
            <a:ext cx="2093405" cy="4114800"/>
          </a:xfrm>
          <a:custGeom>
            <a:avLst/>
            <a:gdLst/>
            <a:ahLst/>
            <a:cxnLst/>
            <a:rect r="r" b="b" t="t" l="l"/>
            <a:pathLst>
              <a:path h="4114800" w="2093405">
                <a:moveTo>
                  <a:pt x="0" y="0"/>
                </a:moveTo>
                <a:lnTo>
                  <a:pt x="2093404" y="0"/>
                </a:lnTo>
                <a:lnTo>
                  <a:pt x="209340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5143500"/>
            <a:ext cx="2093405" cy="4114800"/>
          </a:xfrm>
          <a:custGeom>
            <a:avLst/>
            <a:gdLst/>
            <a:ahLst/>
            <a:cxnLst/>
            <a:rect r="r" b="b" t="t" l="l"/>
            <a:pathLst>
              <a:path h="4114800" w="2093405">
                <a:moveTo>
                  <a:pt x="0" y="0"/>
                </a:moveTo>
                <a:lnTo>
                  <a:pt x="2093405" y="0"/>
                </a:lnTo>
                <a:lnTo>
                  <a:pt x="209340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4505919" y="4170168"/>
            <a:ext cx="9276161" cy="1946664"/>
            <a:chOff x="0" y="0"/>
            <a:chExt cx="12368215" cy="2595552"/>
          </a:xfrm>
        </p:grpSpPr>
        <p:sp>
          <p:nvSpPr>
            <p:cNvPr name="TextBox 5" id="5"/>
            <p:cNvSpPr txBox="true"/>
            <p:nvPr/>
          </p:nvSpPr>
          <p:spPr>
            <a:xfrm rot="0">
              <a:off x="0" y="-238125"/>
              <a:ext cx="12368215" cy="1859491"/>
            </a:xfrm>
            <a:prstGeom prst="rect">
              <a:avLst/>
            </a:prstGeom>
          </p:spPr>
          <p:txBody>
            <a:bodyPr anchor="t" rtlCol="false" tIns="0" lIns="0" bIns="0" rIns="0">
              <a:spAutoFit/>
            </a:bodyPr>
            <a:lstStyle/>
            <a:p>
              <a:pPr algn="ctr">
                <a:lnSpc>
                  <a:spcPts val="11200"/>
                </a:lnSpc>
              </a:pPr>
              <a:r>
                <a:rPr lang="en-US" sz="8000">
                  <a:solidFill>
                    <a:srgbClr val="000000"/>
                  </a:solidFill>
                  <a:latin typeface="Poppins"/>
                  <a:ea typeface="Poppins"/>
                  <a:cs typeface="Poppins"/>
                  <a:sym typeface="Poppins"/>
                </a:rPr>
                <a:t>THANK YOU </a:t>
              </a:r>
            </a:p>
          </p:txBody>
        </p:sp>
        <p:sp>
          <p:nvSpPr>
            <p:cNvPr name="TextBox 6" id="6"/>
            <p:cNvSpPr txBox="true"/>
            <p:nvPr/>
          </p:nvSpPr>
          <p:spPr>
            <a:xfrm rot="0">
              <a:off x="0" y="981599"/>
              <a:ext cx="12368215" cy="1613953"/>
            </a:xfrm>
            <a:prstGeom prst="rect">
              <a:avLst/>
            </a:prstGeom>
          </p:spPr>
          <p:txBody>
            <a:bodyPr anchor="t" rtlCol="false" tIns="0" lIns="0" bIns="0" rIns="0">
              <a:spAutoFit/>
            </a:bodyPr>
            <a:lstStyle/>
            <a:p>
              <a:pPr algn="ctr">
                <a:lnSpc>
                  <a:spcPts val="9800"/>
                </a:lnSpc>
              </a:pPr>
              <a:r>
                <a:rPr lang="en-US" sz="7000">
                  <a:solidFill>
                    <a:srgbClr val="000000"/>
                  </a:solidFill>
                  <a:latin typeface="Poppins"/>
                  <a:ea typeface="Poppins"/>
                  <a:cs typeface="Poppins"/>
                  <a:sym typeface="Poppins"/>
                </a:rPr>
                <a:t>FOR YOUR ATTENTION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DAG7mgVzlMc</dc:identifier>
  <dcterms:modified xsi:type="dcterms:W3CDTF">2011-08-01T06:04:30Z</dcterms:modified>
  <cp:revision>1</cp:revision>
  <dc:title>Presentación Final del Proyecto (Inglés)</dc:title>
</cp:coreProperties>
</file>